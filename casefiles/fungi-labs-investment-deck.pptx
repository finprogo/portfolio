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E3B43"/>
                </a:solidFill>
                <a:latin typeface="Arial"/>
              </a:defRPr>
            </a:pPr>
            <a:r>
              <a:rPr sz="1200" b="0" i="0" u="none" strike="noStrike">
                <a:solidFill>
                  <a:srgbClr val="0E3B43"/>
                </a:solidFill>
                <a:latin typeface="Arial"/>
              </a:rPr>
              <a:t>Revenue (Rs Cr, bars) and occupancy (%, line)</a:t>
            </a:r>
          </a:p>
        </c:rich>
      </c:tx>
      <c:layout/>
      <c:overlay val="0"/>
    </c:title>
    <c:autoTitleDeleted val="0"/>
    <c:plotArea>
      <c:layout/>
      <c:barChart>
        <c:barDir val="col"/>
        <c:grouping val="clustered"/>
        <c:varyColors val="0"/>
        <c:ser>
          <c:idx val="0"/>
          <c:order val="0"/>
          <c:tx>
            <c:strRef>
              <c:f>Sheet1!$B$1</c:f>
              <c:strCache>
                <c:ptCount val="1"/>
                <c:pt idx="0">
                  <c:v>Revenue (Rs Cr)</c:v>
                </c:pt>
              </c:strCache>
            </c:strRef>
          </c:tx>
          <c:spPr>
            <a:solidFill>
              <a:srgbClr val="128C8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Y1</c:v>
                  </c:pt>
                  <c:pt idx="1">
                    <c:v>Y2</c:v>
                  </c:pt>
                  <c:pt idx="2">
                    <c:v>Y3</c:v>
                  </c:pt>
                  <c:pt idx="3">
                    <c:v>Y4</c:v>
                  </c:pt>
                  <c:pt idx="4">
                    <c:v>Y5</c:v>
                  </c:pt>
                  <c:pt idx="5">
                    <c:v>Y6</c:v>
                  </c:pt>
                  <c:pt idx="6">
                    <c:v>Y7</c:v>
                  </c:pt>
                  <c:pt idx="7">
                    <c:v>Y8</c:v>
                  </c:pt>
                  <c:pt idx="8">
                    <c:v>Y9</c:v>
                  </c:pt>
                  <c:pt idx="9">
                    <c:v>Y10</c:v>
                  </c:pt>
                </c:lvl>
              </c:multiLvlStrCache>
            </c:multiLvlStrRef>
          </c:cat>
          <c:val>
            <c:numRef>
              <c:f>Sheet1!$B$2:$B$11</c:f>
              <c:numCache>
                <c:formatCode>General</c:formatCode>
                <c:ptCount val="10"/>
                <c:pt idx="0">
                  <c:v>30.1</c:v>
                </c:pt>
                <c:pt idx="1">
                  <c:v>51.1</c:v>
                </c:pt>
                <c:pt idx="2">
                  <c:v>72</c:v>
                </c:pt>
                <c:pt idx="3">
                  <c:v>88.8</c:v>
                </c:pt>
                <c:pt idx="4">
                  <c:v>104.4</c:v>
                </c:pt>
                <c:pt idx="5">
                  <c:v>116.2</c:v>
                </c:pt>
                <c:pt idx="6">
                  <c:v>126</c:v>
                </c:pt>
                <c:pt idx="7">
                  <c:v>135.9</c:v>
                </c:pt>
                <c:pt idx="8">
                  <c:v>146.8</c:v>
                </c:pt>
                <c:pt idx="9">
                  <c:v>158.3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lineChart>
        <c:varyColors val="0"/>
        <c:ser>
          <c:idx val="1"/>
          <c:order val="1"/>
          <c:tx>
            <c:strRef>
              <c:f>Sheet1!$C$1</c:f>
              <c:strCache>
                <c:ptCount val="1"/>
                <c:pt idx="0">
                  <c:v>Occupancy (%)</c:v>
                </c:pt>
              </c:strCache>
            </c:strRef>
          </c:tx>
          <c:spPr>
            <a:solidFill>
              <a:srgbClr val="E8A33D"/>
            </a:solidFill>
            <a:ln w="38100" cap="flat">
              <a:solidFill>
                <a:srgbClr val="E8A33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E8A33D"/>
              </a:solidFill>
              <a:ln w="9525" cap="flat">
                <a:solidFill>
                  <a:srgbClr val="E8A33D"/>
                </a:solidFill>
                <a:prstDash val="solid"/>
                <a:round/>
              </a:ln>
              <a:effectLst/>
            </c:spPr>
          </c:marker>
          <c:cat>
            <c:multiLvlStrRef>
              <c:f>Sheet1!$A$2:$A$11</c:f>
              <c:multiLvlStrCache>
                <c:ptCount val="10"/>
                <c:lvl>
                  <c:pt idx="0">
                    <c:v>Y1</c:v>
                  </c:pt>
                  <c:pt idx="1">
                    <c:v>Y2</c:v>
                  </c:pt>
                  <c:pt idx="2">
                    <c:v>Y3</c:v>
                  </c:pt>
                  <c:pt idx="3">
                    <c:v>Y4</c:v>
                  </c:pt>
                  <c:pt idx="4">
                    <c:v>Y5</c:v>
                  </c:pt>
                  <c:pt idx="5">
                    <c:v>Y6</c:v>
                  </c:pt>
                  <c:pt idx="6">
                    <c:v>Y7</c:v>
                  </c:pt>
                  <c:pt idx="7">
                    <c:v>Y8</c:v>
                  </c:pt>
                  <c:pt idx="8">
                    <c:v>Y9</c:v>
                  </c:pt>
                  <c:pt idx="9">
                    <c:v>Y10</c:v>
                  </c:pt>
                </c:lvl>
              </c:multiLvlStrCache>
            </c:multiLvlStrRef>
          </c:cat>
          <c:val>
            <c:numRef>
              <c:f>Sheet1!$C$2:$C$11</c:f>
              <c:numCache>
                <c:formatCode>General</c:formatCode>
                <c:ptCount val="10"/>
                <c:pt idx="0">
                  <c:v>27</c:v>
                </c:pt>
                <c:pt idx="1">
                  <c:v>43</c:v>
                </c:pt>
                <c:pt idx="2">
                  <c:v>56</c:v>
                </c:pt>
                <c:pt idx="3">
                  <c:v>64</c:v>
                </c:pt>
                <c:pt idx="4">
                  <c:v>70</c:v>
                </c:pt>
                <c:pt idx="5">
                  <c:v>72</c:v>
                </c:pt>
                <c:pt idx="6">
                  <c:v>72</c:v>
                </c:pt>
                <c:pt idx="7">
                  <c:v>72</c:v>
                </c:pt>
                <c:pt idx="8">
                  <c:v>72</c:v>
                </c:pt>
                <c:pt idx="9">
                  <c:v>72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F84"/>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8EE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F84"/>
                </a:solidFill>
                <a:latin typeface="Arial"/>
              </a:defRPr>
            </a:pPr>
            <a:endParaRPr lang="en-US"/>
          </a:p>
        </c:txPr>
        <c:crossAx val="2094734554"/>
        <c:crosses val="autoZero"/>
        <c:crossBetween val="between"/>
      </c:valAx>
      <c:valAx>
        <c:axId val="2094734553"/>
        <c:scaling>
          <c:orientation val="minMax"/>
          <c:max val="80"/>
        </c:scaling>
        <c:delete val="0"/>
        <c:axPos val="r"/>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E8A33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F84"/>
                </a:solidFill>
                <a:latin typeface="Arial"/>
              </a:defRPr>
            </a:pPr>
            <a:endParaRPr lang="en-US"/>
          </a:p>
        </c:txPr>
        <c:crossAx val="2094734553"/>
        <c:crosses val="autoZero"/>
        <c:auto val="1"/>
        <c:lblAlgn val="ctr"/>
        <c:noMultiLvlLbl val="1"/>
      </c:catAx>
      <c:spPr>
        <a:noFill/>
        <a:ln>
          <a:noFill/>
        </a:ln>
        <a:effectLst/>
      </c:spPr>
    </c:plotArea>
    <c:legend>
      <c:legendPos val="b"/>
      <c:overlay val="0"/>
      <c:txPr>
        <a:bodyPr/>
        <a:lstStyle/>
        <a:p>
          <a:pPr>
            <a:defRPr sz="900">
              <a:solidFill>
                <a:srgbClr val="6B7F84"/>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E3B43"/>
                </a:solidFill>
                <a:latin typeface="Arial"/>
              </a:defRPr>
            </a:pPr>
            <a:r>
              <a:rPr sz="1200" b="0" i="0" u="none" strike="noStrike">
                <a:solidFill>
                  <a:srgbClr val="0E3B43"/>
                </a:solidFill>
                <a:latin typeface="Arial"/>
              </a:rPr>
              <a:t>EBITDA (Rs Cr, bars) and EBITDA margin (%, line)</a:t>
            </a:r>
          </a:p>
        </c:rich>
      </c:tx>
      <c:layout/>
      <c:overlay val="0"/>
    </c:title>
    <c:autoTitleDeleted val="0"/>
    <c:plotArea>
      <c:layout/>
      <c:barChart>
        <c:barDir val="col"/>
        <c:grouping val="clustered"/>
        <c:varyColors val="0"/>
        <c:ser>
          <c:idx val="0"/>
          <c:order val="0"/>
          <c:tx>
            <c:strRef>
              <c:f>Sheet1!$B$1</c:f>
              <c:strCache>
                <c:ptCount val="1"/>
                <c:pt idx="0">
                  <c:v>EBITDA (Rs Cr)</c:v>
                </c:pt>
              </c:strCache>
            </c:strRef>
          </c:tx>
          <c:spPr>
            <a:solidFill>
              <a:srgbClr val="128C8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Y1</c:v>
                  </c:pt>
                  <c:pt idx="1">
                    <c:v>Y2</c:v>
                  </c:pt>
                  <c:pt idx="2">
                    <c:v>Y3</c:v>
                  </c:pt>
                  <c:pt idx="3">
                    <c:v>Y4</c:v>
                  </c:pt>
                  <c:pt idx="4">
                    <c:v>Y5</c:v>
                  </c:pt>
                  <c:pt idx="5">
                    <c:v>Y6</c:v>
                  </c:pt>
                  <c:pt idx="6">
                    <c:v>Y7</c:v>
                  </c:pt>
                  <c:pt idx="7">
                    <c:v>Y8</c:v>
                  </c:pt>
                  <c:pt idx="8">
                    <c:v>Y9</c:v>
                  </c:pt>
                  <c:pt idx="9">
                    <c:v>Y10</c:v>
                  </c:pt>
                </c:lvl>
              </c:multiLvlStrCache>
            </c:multiLvlStrRef>
          </c:cat>
          <c:val>
            <c:numRef>
              <c:f>Sheet1!$B$2:$B$11</c:f>
              <c:numCache>
                <c:formatCode>General</c:formatCode>
                <c:ptCount val="10"/>
                <c:pt idx="0">
                  <c:v>-3.9</c:v>
                </c:pt>
                <c:pt idx="1">
                  <c:v>5.2</c:v>
                </c:pt>
                <c:pt idx="2">
                  <c:v>14.1</c:v>
                </c:pt>
                <c:pt idx="3">
                  <c:v>20.3</c:v>
                </c:pt>
                <c:pt idx="4">
                  <c:v>24.8</c:v>
                </c:pt>
                <c:pt idx="5">
                  <c:v>29.2</c:v>
                </c:pt>
                <c:pt idx="6">
                  <c:v>32.3</c:v>
                </c:pt>
                <c:pt idx="7">
                  <c:v>35.1</c:v>
                </c:pt>
                <c:pt idx="8">
                  <c:v>38.6</c:v>
                </c:pt>
                <c:pt idx="9">
                  <c:v>42.1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lineChart>
        <c:varyColors val="0"/>
        <c:ser>
          <c:idx val="1"/>
          <c:order val="1"/>
          <c:tx>
            <c:strRef>
              <c:f>Sheet1!$C$1</c:f>
              <c:strCache>
                <c:ptCount val="1"/>
                <c:pt idx="0">
                  <c:v>EBITDA margin (%)</c:v>
                </c:pt>
              </c:strCache>
            </c:strRef>
          </c:tx>
          <c:spPr>
            <a:solidFill>
              <a:srgbClr val="E8A33D"/>
            </a:solidFill>
            <a:ln w="38100" cap="flat">
              <a:solidFill>
                <a:srgbClr val="E8A33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E8A33D"/>
              </a:solidFill>
              <a:ln w="9525" cap="flat">
                <a:solidFill>
                  <a:srgbClr val="E8A33D"/>
                </a:solidFill>
                <a:prstDash val="solid"/>
                <a:round/>
              </a:ln>
              <a:effectLst/>
            </c:spPr>
          </c:marker>
          <c:cat>
            <c:multiLvlStrRef>
              <c:f>Sheet1!$A$2:$A$11</c:f>
              <c:multiLvlStrCache>
                <c:ptCount val="10"/>
                <c:lvl>
                  <c:pt idx="0">
                    <c:v>Y1</c:v>
                  </c:pt>
                  <c:pt idx="1">
                    <c:v>Y2</c:v>
                  </c:pt>
                  <c:pt idx="2">
                    <c:v>Y3</c:v>
                  </c:pt>
                  <c:pt idx="3">
                    <c:v>Y4</c:v>
                  </c:pt>
                  <c:pt idx="4">
                    <c:v>Y5</c:v>
                  </c:pt>
                  <c:pt idx="5">
                    <c:v>Y6</c:v>
                  </c:pt>
                  <c:pt idx="6">
                    <c:v>Y7</c:v>
                  </c:pt>
                  <c:pt idx="7">
                    <c:v>Y8</c:v>
                  </c:pt>
                  <c:pt idx="8">
                    <c:v>Y9</c:v>
                  </c:pt>
                  <c:pt idx="9">
                    <c:v>Y10</c:v>
                  </c:pt>
                </c:lvl>
              </c:multiLvlStrCache>
            </c:multiLvlStrRef>
          </c:cat>
          <c:val>
            <c:numRef>
              <c:f>Sheet1!$C$2:$C$11</c:f>
              <c:numCache>
                <c:formatCode>General</c:formatCode>
                <c:ptCount val="10"/>
                <c:pt idx="0">
                  <c:v>-13</c:v>
                </c:pt>
                <c:pt idx="1">
                  <c:v>10</c:v>
                </c:pt>
                <c:pt idx="2">
                  <c:v>20</c:v>
                </c:pt>
                <c:pt idx="3">
                  <c:v>23</c:v>
                </c:pt>
                <c:pt idx="4">
                  <c:v>24</c:v>
                </c:pt>
                <c:pt idx="5">
                  <c:v>25</c:v>
                </c:pt>
                <c:pt idx="6">
                  <c:v>26</c:v>
                </c:pt>
                <c:pt idx="7">
                  <c:v>26</c:v>
                </c:pt>
                <c:pt idx="8">
                  <c:v>26</c:v>
                </c:pt>
                <c:pt idx="9">
                  <c:v>27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F84"/>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8EE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F84"/>
                </a:solidFill>
                <a:latin typeface="Arial"/>
              </a:defRPr>
            </a:pPr>
            <a:endParaRPr lang="en-US"/>
          </a:p>
        </c:txPr>
        <c:crossAx val="2094734554"/>
        <c:crosses val="autoZero"/>
        <c:crossBetween val="between"/>
      </c:valAx>
      <c:valAx>
        <c:axId val="2094734553"/>
        <c:scaling>
          <c:orientation val="minMax"/>
        </c:scaling>
        <c:delete val="0"/>
        <c:axPos val="r"/>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E8A33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F84"/>
                </a:solidFill>
                <a:latin typeface="Arial"/>
              </a:defRPr>
            </a:pPr>
            <a:endParaRPr lang="en-US"/>
          </a:p>
        </c:txPr>
        <c:crossAx val="2094734553"/>
        <c:crosses val="autoZero"/>
        <c:auto val="1"/>
        <c:lblAlgn val="ctr"/>
        <c:noMultiLvlLbl val="1"/>
      </c:catAx>
      <c:spPr>
        <a:noFill/>
        <a:ln>
          <a:noFill/>
        </a:ln>
        <a:effectLst/>
      </c:spPr>
    </c:plotArea>
    <c:legend>
      <c:legendPos val="b"/>
      <c:overlay val="0"/>
      <c:txPr>
        <a:bodyPr/>
        <a:lstStyle/>
        <a:p>
          <a:pPr>
            <a:defRPr sz="900">
              <a:solidFill>
                <a:srgbClr val="6B7F84"/>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0E3B43"/>
                </a:solidFill>
                <a:latin typeface="Arial"/>
              </a:defRPr>
            </a:pPr>
            <a:r>
              <a:rPr sz="1150" b="0" i="0" u="none" strike="noStrike">
                <a:solidFill>
                  <a:srgbClr val="0E3B43"/>
                </a:solidFill>
                <a:latin typeface="Arial"/>
              </a:rPr>
              <a:t>Cash available for debt service vs debt service (Rs Cr), and DSCR (x)</a:t>
            </a:r>
          </a:p>
        </c:rich>
      </c:tx>
      <c:layout/>
      <c:overlay val="0"/>
    </c:title>
    <c:autoTitleDeleted val="0"/>
    <c:plotArea>
      <c:layout/>
      <c:barChart>
        <c:barDir val="col"/>
        <c:grouping val="clustered"/>
        <c:varyColors val="0"/>
        <c:ser>
          <c:idx val="0"/>
          <c:order val="0"/>
          <c:tx>
            <c:strRef>
              <c:f>Sheet1!$B$1</c:f>
              <c:strCache>
                <c:ptCount val="1"/>
                <c:pt idx="0">
                  <c:v>CFADS (Rs Cr)</c:v>
                </c:pt>
              </c:strCache>
            </c:strRef>
          </c:tx>
          <c:spPr>
            <a:solidFill>
              <a:srgbClr val="128C8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Y1</c:v>
                  </c:pt>
                  <c:pt idx="1">
                    <c:v>Y2</c:v>
                  </c:pt>
                  <c:pt idx="2">
                    <c:v>Y3</c:v>
                  </c:pt>
                  <c:pt idx="3">
                    <c:v>Y4</c:v>
                  </c:pt>
                  <c:pt idx="4">
                    <c:v>Y5</c:v>
                  </c:pt>
                  <c:pt idx="5">
                    <c:v>Y6</c:v>
                  </c:pt>
                  <c:pt idx="6">
                    <c:v>Y7</c:v>
                  </c:pt>
                  <c:pt idx="7">
                    <c:v>Y8</c:v>
                  </c:pt>
                  <c:pt idx="8">
                    <c:v>Y9</c:v>
                  </c:pt>
                  <c:pt idx="9">
                    <c:v>Y10</c:v>
                  </c:pt>
                </c:lvl>
              </c:multiLvlStrCache>
            </c:multiLvlStrRef>
          </c:cat>
          <c:val>
            <c:numRef>
              <c:f>Sheet1!$B$2:$B$11</c:f>
              <c:numCache>
                <c:formatCode>General</c:formatCode>
                <c:ptCount val="10"/>
                <c:pt idx="0">
                  <c:v>-6.7</c:v>
                </c:pt>
                <c:pt idx="1">
                  <c:v>3.1</c:v>
                </c:pt>
                <c:pt idx="2">
                  <c:v>12</c:v>
                </c:pt>
                <c:pt idx="3">
                  <c:v>18.6</c:v>
                </c:pt>
                <c:pt idx="4">
                  <c:v>23.3</c:v>
                </c:pt>
                <c:pt idx="5">
                  <c:v>28</c:v>
                </c:pt>
                <c:pt idx="6">
                  <c:v>26.2</c:v>
                </c:pt>
                <c:pt idx="7">
                  <c:v>28.1</c:v>
                </c:pt>
                <c:pt idx="8">
                  <c:v>30.3</c:v>
                </c:pt>
                <c:pt idx="9">
                  <c:v>32.5</c:v>
                </c:pt>
              </c:numCache>
            </c:numRef>
          </c:val>
        </c:ser>
        <c:ser>
          <c:idx val="1"/>
          <c:order val="1"/>
          <c:tx>
            <c:strRef>
              <c:f>Sheet1!$C$1</c:f>
              <c:strCache>
                <c:ptCount val="1"/>
                <c:pt idx="0">
                  <c:v>Debt service (Rs Cr)</c:v>
                </c:pt>
              </c:strCache>
            </c:strRef>
          </c:tx>
          <c:spPr>
            <a:solidFill>
              <a:srgbClr val="9CC3C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Y1</c:v>
                  </c:pt>
                  <c:pt idx="1">
                    <c:v>Y2</c:v>
                  </c:pt>
                  <c:pt idx="2">
                    <c:v>Y3</c:v>
                  </c:pt>
                  <c:pt idx="3">
                    <c:v>Y4</c:v>
                  </c:pt>
                  <c:pt idx="4">
                    <c:v>Y5</c:v>
                  </c:pt>
                  <c:pt idx="5">
                    <c:v>Y6</c:v>
                  </c:pt>
                  <c:pt idx="6">
                    <c:v>Y7</c:v>
                  </c:pt>
                  <c:pt idx="7">
                    <c:v>Y8</c:v>
                  </c:pt>
                  <c:pt idx="8">
                    <c:v>Y9</c:v>
                  </c:pt>
                  <c:pt idx="9">
                    <c:v>Y10</c:v>
                  </c:pt>
                </c:lvl>
              </c:multiLvlStrCache>
            </c:multiLvlStrRef>
          </c:cat>
          <c:val>
            <c:numRef>
              <c:f>Sheet1!$C$2:$C$11</c:f>
              <c:numCache>
                <c:formatCode>General</c:formatCode>
                <c:ptCount val="10"/>
                <c:pt idx="0">
                  <c:v>8.3</c:v>
                </c:pt>
                <c:pt idx="1">
                  <c:v>8.3</c:v>
                </c:pt>
                <c:pt idx="2">
                  <c:v>8.3</c:v>
                </c:pt>
                <c:pt idx="3">
                  <c:v>12.7</c:v>
                </c:pt>
                <c:pt idx="4">
                  <c:v>15.2</c:v>
                </c:pt>
                <c:pt idx="5">
                  <c:v>16.5</c:v>
                </c:pt>
                <c:pt idx="6">
                  <c:v>16.9</c:v>
                </c:pt>
                <c:pt idx="7">
                  <c:v>17.1</c:v>
                </c:pt>
                <c:pt idx="8">
                  <c:v>17.2</c:v>
                </c:pt>
                <c:pt idx="9">
                  <c:v>16.3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lineChart>
        <c:varyColors val="0"/>
        <c:ser>
          <c:idx val="2"/>
          <c:order val="2"/>
          <c:tx>
            <c:strRef>
              <c:f>Sheet1!$D$1</c:f>
              <c:strCache>
                <c:ptCount val="1"/>
                <c:pt idx="0">
                  <c:v>DSCR (x)</c:v>
                </c:pt>
              </c:strCache>
            </c:strRef>
          </c:tx>
          <c:spPr>
            <a:solidFill>
              <a:srgbClr val="E8A33D"/>
            </a:solidFill>
            <a:ln w="38100" cap="flat">
              <a:solidFill>
                <a:srgbClr val="E8A33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E8A33D"/>
              </a:solidFill>
              <a:ln w="9525" cap="flat">
                <a:solidFill>
                  <a:srgbClr val="E8A33D"/>
                </a:solidFill>
                <a:prstDash val="solid"/>
                <a:round/>
              </a:ln>
              <a:effectLst/>
            </c:spPr>
          </c:marker>
          <c:cat>
            <c:multiLvlStrRef>
              <c:f>Sheet1!$A$2:$A$11</c:f>
              <c:multiLvlStrCache>
                <c:ptCount val="10"/>
                <c:lvl>
                  <c:pt idx="0">
                    <c:v>Y1</c:v>
                  </c:pt>
                  <c:pt idx="1">
                    <c:v>Y2</c:v>
                  </c:pt>
                  <c:pt idx="2">
                    <c:v>Y3</c:v>
                  </c:pt>
                  <c:pt idx="3">
                    <c:v>Y4</c:v>
                  </c:pt>
                  <c:pt idx="4">
                    <c:v>Y5</c:v>
                  </c:pt>
                  <c:pt idx="5">
                    <c:v>Y6</c:v>
                  </c:pt>
                  <c:pt idx="6">
                    <c:v>Y7</c:v>
                  </c:pt>
                  <c:pt idx="7">
                    <c:v>Y8</c:v>
                  </c:pt>
                  <c:pt idx="8">
                    <c:v>Y9</c:v>
                  </c:pt>
                  <c:pt idx="9">
                    <c:v>Y10</c:v>
                  </c:pt>
                </c:lvl>
              </c:multiLvlStrCache>
            </c:multiLvlStrRef>
          </c:cat>
          <c:val>
            <c:numRef>
              <c:f>Sheet1!$D$2:$D$11</c:f>
              <c:numCache>
                <c:formatCode>General</c:formatCode>
                <c:ptCount val="10"/>
                <c:pt idx="0">
                  <c:v/>
                </c:pt>
                <c:pt idx="1">
                  <c:v/>
                </c:pt>
                <c:pt idx="2">
                  <c:v/>
                </c:pt>
                <c:pt idx="3">
                  <c:v>1.46</c:v>
                </c:pt>
                <c:pt idx="4">
                  <c:v>1.54</c:v>
                </c:pt>
                <c:pt idx="5">
                  <c:v>1.69</c:v>
                </c:pt>
                <c:pt idx="6">
                  <c:v>1.55</c:v>
                </c:pt>
                <c:pt idx="7">
                  <c:v>1.64</c:v>
                </c:pt>
                <c:pt idx="8">
                  <c:v>1.76</c:v>
                </c:pt>
                <c:pt idx="9">
                  <c:v>1.99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F84"/>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8EE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F84"/>
                </a:solidFill>
                <a:latin typeface="Arial"/>
              </a:defRPr>
            </a:pPr>
            <a:endParaRPr lang="en-US"/>
          </a:p>
        </c:txPr>
        <c:crossAx val="2094734554"/>
        <c:crosses val="autoZero"/>
        <c:crossBetween val="between"/>
      </c:valAx>
      <c:valAx>
        <c:axId val="2094734553"/>
        <c:scaling>
          <c:orientation val="minMax"/>
          <c:max val="3"/>
        </c:scaling>
        <c:delete val="0"/>
        <c:axPos val="r"/>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E8A33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F84"/>
                </a:solidFill>
                <a:latin typeface="Arial"/>
              </a:defRPr>
            </a:pPr>
            <a:endParaRPr lang="en-US"/>
          </a:p>
        </c:txPr>
        <c:crossAx val="2094734553"/>
        <c:crosses val="autoZero"/>
        <c:auto val="1"/>
        <c:lblAlgn val="ctr"/>
        <c:noMultiLvlLbl val="1"/>
      </c:catAx>
      <c:spPr>
        <a:noFill/>
        <a:ln>
          <a:noFill/>
        </a:ln>
        <a:effectLst/>
      </c:spPr>
    </c:plotArea>
    <c:legend>
      <c:legendPos val="b"/>
      <c:overlay val="0"/>
      <c:txPr>
        <a:bodyPr/>
        <a:lstStyle/>
        <a:p>
          <a:pPr>
            <a:defRPr sz="900">
              <a:solidFill>
                <a:srgbClr val="6B7F84"/>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E3B43"/>
                </a:solidFill>
                <a:latin typeface="Arial"/>
              </a:defRPr>
            </a:pPr>
            <a:r>
              <a:rPr sz="1200" b="0" i="0" u="none" strike="noStrike">
                <a:solidFill>
                  <a:srgbClr val="0E3B43"/>
                </a:solidFill>
                <a:latin typeface="Arial"/>
              </a:rPr>
              <a:t>Occupancy against break-even occupancy (%)</a:t>
            </a:r>
          </a:p>
        </c:rich>
      </c:tx>
      <c:layout/>
      <c:overlay val="0"/>
    </c:title>
    <c:autoTitleDeleted val="0"/>
    <c:plotArea>
      <c:layout/>
      <c:lineChart>
        <c:varyColors val="0"/>
        <c:ser>
          <c:idx val="0"/>
          <c:order val="0"/>
          <c:tx>
            <c:strRef>
              <c:f>Sheet1!$B$1</c:f>
              <c:strCache>
                <c:ptCount val="1"/>
                <c:pt idx="0">
                  <c:v>Actual occupancy</c:v>
                </c:pt>
              </c:strCache>
            </c:strRef>
          </c:tx>
          <c:spPr>
            <a:solidFill>
              <a:srgbClr val="128C8A"/>
            </a:solidFill>
            <a:ln w="38100" cap="flat">
              <a:solidFill>
                <a:srgbClr val="128C8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28C8A"/>
              </a:solidFill>
              <a:ln w="9525" cap="flat">
                <a:solidFill>
                  <a:srgbClr val="128C8A"/>
                </a:solidFill>
                <a:prstDash val="solid"/>
                <a:round/>
              </a:ln>
              <a:effectLst/>
            </c:spPr>
          </c:marker>
          <c:cat>
            <c:multiLvlStrRef>
              <c:f>Sheet1!$A$2:$A$11</c:f>
              <c:multiLvlStrCache>
                <c:ptCount val="10"/>
                <c:lvl>
                  <c:pt idx="0">
                    <c:v>Y1</c:v>
                  </c:pt>
                  <c:pt idx="1">
                    <c:v>Y2</c:v>
                  </c:pt>
                  <c:pt idx="2">
                    <c:v>Y3</c:v>
                  </c:pt>
                  <c:pt idx="3">
                    <c:v>Y4</c:v>
                  </c:pt>
                  <c:pt idx="4">
                    <c:v>Y5</c:v>
                  </c:pt>
                  <c:pt idx="5">
                    <c:v>Y6</c:v>
                  </c:pt>
                  <c:pt idx="6">
                    <c:v>Y7</c:v>
                  </c:pt>
                  <c:pt idx="7">
                    <c:v>Y8</c:v>
                  </c:pt>
                  <c:pt idx="8">
                    <c:v>Y9</c:v>
                  </c:pt>
                  <c:pt idx="9">
                    <c:v>Y10</c:v>
                  </c:pt>
                </c:lvl>
              </c:multiLvlStrCache>
            </c:multiLvlStrRef>
          </c:cat>
          <c:val>
            <c:numRef>
              <c:f>Sheet1!$B$2:$B$11</c:f>
              <c:numCache>
                <c:formatCode>General</c:formatCode>
                <c:ptCount val="10"/>
                <c:pt idx="0">
                  <c:v>27</c:v>
                </c:pt>
                <c:pt idx="1">
                  <c:v>43</c:v>
                </c:pt>
                <c:pt idx="2">
                  <c:v>56</c:v>
                </c:pt>
                <c:pt idx="3">
                  <c:v>64</c:v>
                </c:pt>
                <c:pt idx="4">
                  <c:v>70</c:v>
                </c:pt>
                <c:pt idx="5">
                  <c:v>72</c:v>
                </c:pt>
                <c:pt idx="6">
                  <c:v>72</c:v>
                </c:pt>
                <c:pt idx="7">
                  <c:v>72</c:v>
                </c:pt>
                <c:pt idx="8">
                  <c:v>72</c:v>
                </c:pt>
                <c:pt idx="9">
                  <c:v>72</c:v>
                </c:pt>
              </c:numCache>
            </c:numRef>
          </c:val>
          <c:smooth val="0"/>
        </c:ser>
        <c:ser>
          <c:idx val="1"/>
          <c:order val="1"/>
          <c:tx>
            <c:strRef>
              <c:f>Sheet1!$C$1</c:f>
              <c:strCache>
                <c:ptCount val="1"/>
                <c:pt idx="0">
                  <c:v>Cash break-even occupancy</c:v>
                </c:pt>
              </c:strCache>
            </c:strRef>
          </c:tx>
          <c:spPr>
            <a:solidFill>
              <a:srgbClr val="C0392B"/>
            </a:solidFill>
            <a:ln w="38100" cap="flat">
              <a:solidFill>
                <a:srgbClr val="C039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0392B"/>
              </a:solidFill>
              <a:ln w="9525" cap="flat">
                <a:solidFill>
                  <a:srgbClr val="C0392B"/>
                </a:solidFill>
                <a:prstDash val="solid"/>
                <a:round/>
              </a:ln>
              <a:effectLst/>
            </c:spPr>
          </c:marker>
          <c:cat>
            <c:multiLvlStrRef>
              <c:f>Sheet1!$A$2:$A$11</c:f>
              <c:multiLvlStrCache>
                <c:ptCount val="10"/>
                <c:lvl>
                  <c:pt idx="0">
                    <c:v>Y1</c:v>
                  </c:pt>
                  <c:pt idx="1">
                    <c:v>Y2</c:v>
                  </c:pt>
                  <c:pt idx="2">
                    <c:v>Y3</c:v>
                  </c:pt>
                  <c:pt idx="3">
                    <c:v>Y4</c:v>
                  </c:pt>
                  <c:pt idx="4">
                    <c:v>Y5</c:v>
                  </c:pt>
                  <c:pt idx="5">
                    <c:v>Y6</c:v>
                  </c:pt>
                  <c:pt idx="6">
                    <c:v>Y7</c:v>
                  </c:pt>
                  <c:pt idx="7">
                    <c:v>Y8</c:v>
                  </c:pt>
                  <c:pt idx="8">
                    <c:v>Y9</c:v>
                  </c:pt>
                  <c:pt idx="9">
                    <c:v>Y10</c:v>
                  </c:pt>
                </c:lvl>
              </c:multiLvlStrCache>
            </c:multiLvlStrRef>
          </c:cat>
          <c:val>
            <c:numRef>
              <c:f>Sheet1!$C$2:$C$11</c:f>
              <c:numCache>
                <c:formatCode>General</c:formatCode>
                <c:ptCount val="10"/>
                <c:pt idx="0">
                  <c:v>44</c:v>
                </c:pt>
                <c:pt idx="1">
                  <c:v>48</c:v>
                </c:pt>
                <c:pt idx="2">
                  <c:v>50</c:v>
                </c:pt>
                <c:pt idx="3">
                  <c:v>57</c:v>
                </c:pt>
                <c:pt idx="4">
                  <c:v>61</c:v>
                </c:pt>
                <c:pt idx="5">
                  <c:v>61</c:v>
                </c:pt>
                <c:pt idx="6">
                  <c:v>60</c:v>
                </c:pt>
                <c:pt idx="7">
                  <c:v>59</c:v>
                </c:pt>
                <c:pt idx="8">
                  <c:v>57</c:v>
                </c:pt>
                <c:pt idx="9">
                  <c:v>55</c:v>
                </c:pt>
              </c:numCache>
            </c:numRef>
          </c:val>
          <c:smooth val="0"/>
        </c:ser>
        <c:ser>
          <c:idx val="2"/>
          <c:order val="2"/>
          <c:tx>
            <c:strRef>
              <c:f>Sheet1!$D$1</c:f>
              <c:strCache>
                <c:ptCount val="1"/>
                <c:pt idx="0">
                  <c:v>Accounting break-even occupancy</c:v>
                </c:pt>
              </c:strCache>
            </c:strRef>
          </c:tx>
          <c:spPr>
            <a:solidFill>
              <a:srgbClr val="E8A33D"/>
            </a:solidFill>
            <a:ln w="38100" cap="flat">
              <a:solidFill>
                <a:srgbClr val="E8A33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E8A33D"/>
              </a:solidFill>
              <a:ln w="9525" cap="flat">
                <a:solidFill>
                  <a:srgbClr val="E8A33D"/>
                </a:solidFill>
                <a:prstDash val="solid"/>
                <a:round/>
              </a:ln>
              <a:effectLst/>
            </c:spPr>
          </c:marker>
          <c:cat>
            <c:multiLvlStrRef>
              <c:f>Sheet1!$A$2:$A$11</c:f>
              <c:multiLvlStrCache>
                <c:ptCount val="10"/>
                <c:lvl>
                  <c:pt idx="0">
                    <c:v>Y1</c:v>
                  </c:pt>
                  <c:pt idx="1">
                    <c:v>Y2</c:v>
                  </c:pt>
                  <c:pt idx="2">
                    <c:v>Y3</c:v>
                  </c:pt>
                  <c:pt idx="3">
                    <c:v>Y4</c:v>
                  </c:pt>
                  <c:pt idx="4">
                    <c:v>Y5</c:v>
                  </c:pt>
                  <c:pt idx="5">
                    <c:v>Y6</c:v>
                  </c:pt>
                  <c:pt idx="6">
                    <c:v>Y7</c:v>
                  </c:pt>
                  <c:pt idx="7">
                    <c:v>Y8</c:v>
                  </c:pt>
                  <c:pt idx="8">
                    <c:v>Y9</c:v>
                  </c:pt>
                  <c:pt idx="9">
                    <c:v>Y10</c:v>
                  </c:pt>
                </c:lvl>
              </c:multiLvlStrCache>
            </c:multiLvlStrRef>
          </c:cat>
          <c:val>
            <c:numRef>
              <c:f>Sheet1!$D$2:$D$11</c:f>
              <c:numCache>
                <c:formatCode>General</c:formatCode>
                <c:ptCount val="10"/>
                <c:pt idx="0">
                  <c:v>33</c:v>
                </c:pt>
                <c:pt idx="1">
                  <c:v>37</c:v>
                </c:pt>
                <c:pt idx="2">
                  <c:v>40</c:v>
                </c:pt>
                <c:pt idx="3">
                  <c:v>42</c:v>
                </c:pt>
                <c:pt idx="4">
                  <c:v>45</c:v>
                </c:pt>
                <c:pt idx="5">
                  <c:v>45</c:v>
                </c:pt>
                <c:pt idx="6">
                  <c:v>45</c:v>
                </c:pt>
                <c:pt idx="7">
                  <c:v>44</c:v>
                </c:pt>
                <c:pt idx="8">
                  <c:v>44</c:v>
                </c:pt>
                <c:pt idx="9">
                  <c:v>44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F84"/>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8EE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F84"/>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6B7F84"/>
              </a:solidFill>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E3B43"/>
                </a:solidFill>
                <a:latin typeface="Arial"/>
              </a:defRPr>
            </a:pPr>
            <a:r>
              <a:rPr sz="1200" b="0" i="0" u="none" strike="noStrike">
                <a:solidFill>
                  <a:srgbClr val="0E3B43"/>
                </a:solidFill>
                <a:latin typeface="Arial"/>
              </a:rPr>
              <a:t>Equity IRR swing by driver (percentage points)</a:t>
            </a:r>
          </a:p>
        </c:rich>
      </c:tx>
      <c:layout/>
      <c:overlay val="0"/>
    </c:title>
    <c:autoTitleDeleted val="0"/>
    <c:plotArea>
      <c:layout/>
      <c:barChart>
        <c:barDir val="bar"/>
        <c:grouping val="clustered"/>
        <c:varyColors val="0"/>
        <c:ser>
          <c:idx val="0"/>
          <c:order val="0"/>
          <c:tx>
            <c:strRef>
              <c:f>Sheet1!$B$1</c:f>
              <c:strCache>
                <c:ptCount val="1"/>
                <c:pt idx="0">
                  <c:v>Equity IRR swing (pp)</c:v>
                </c:pt>
              </c:strCache>
            </c:strRef>
          </c:tx>
          <c:spPr>
            <a:solidFill>
              <a:srgbClr val="128C8A"/>
            </a:solidFill>
            <a:effectLst/>
          </c:spPr>
          <c:invertIfNegative val="0"/>
          <c:dLbls>
            <c:numFmt formatCode="0.0" sourceLinked="0"/>
            <c:txPr>
              <a:bodyPr/>
              <a:lstStyle/>
              <a:p>
                <a:pPr>
                  <a:defRPr b="0" i="0" strike="noStrike" sz="900" u="none">
                    <a:solidFill>
                      <a:srgbClr val="0E3B43"/>
                    </a:solidFill>
                    <a:latin typeface="Arial"/>
                  </a:defRPr>
                </a:pPr>
              </a:p>
            </c:txPr>
            <c:dLblPos val="outEnd"/>
            <c:showLegendKey val="0"/>
            <c:showVal val="1"/>
            <c:showCatName val="0"/>
            <c:showSerName val="0"/>
            <c:showPercent val="0"/>
            <c:showBubbleSize val="0"/>
            <c:showLeaderLines val="0"/>
          </c:dLbls>
          <c:cat>
            <c:multiLvlStrRef>
              <c:f>Sheet1!$A$2:$A$9</c:f>
              <c:multiLvlStrCache>
                <c:ptCount val="8"/>
                <c:lvl>
                  <c:pt idx="0">
                    <c:v>OPD footfall</c:v>
                  </c:pt>
                  <c:pt idx="1">
                    <c:v>Consumables % of revenue</c:v>
                  </c:pt>
                  <c:pt idx="2">
                    <c:v>Salary escalation p.a.</c:v>
                  </c:pt>
                  <c:pt idx="3">
                    <c:v>Exit EV/EBITDA multiple</c:v>
                  </c:pt>
                  <c:pt idx="4">
                    <c:v>Peak occupancy</c:v>
                  </c:pt>
                  <c:pt idx="5">
                    <c:v>ARPOB escalation p.a.</c:v>
                  </c:pt>
                  <c:pt idx="6">
                    <c:v>ARPOB Year 1 (INR/bed-day)</c:v>
                  </c:pt>
                  <c:pt idx="7">
                    <c:v>Occupancy ramp speed</c:v>
                  </c:pt>
                </c:lvl>
              </c:multiLvlStrCache>
            </c:multiLvlStrRef>
          </c:cat>
          <c:val>
            <c:numRef>
              <c:f>Sheet1!$B$2:$B$9</c:f>
              <c:numCache>
                <c:formatCode>General</c:formatCode>
                <c:ptCount val="8"/>
                <c:pt idx="0">
                  <c:v>5.5</c:v>
                </c:pt>
                <c:pt idx="1">
                  <c:v>5.6</c:v>
                </c:pt>
                <c:pt idx="2">
                  <c:v>5.9</c:v>
                </c:pt>
                <c:pt idx="3">
                  <c:v>6.8</c:v>
                </c:pt>
                <c:pt idx="4">
                  <c:v>11.3</c:v>
                </c:pt>
                <c:pt idx="5">
                  <c:v>13.4</c:v>
                </c:pt>
                <c:pt idx="6">
                  <c:v>13.5</c:v>
                </c:pt>
                <c:pt idx="7">
                  <c:v>14.3</c:v>
                </c:pt>
              </c:numCache>
            </c:numRef>
          </c:val>
        </c:ser>
        <c:dLbls>
          <c:numFmt formatCode="0.0" sourceLinked="0"/>
          <c:txPr>
            <a:bodyPr/>
            <a:lstStyle/>
            <a:p>
              <a:pPr>
                <a:defRPr b="0" i="0" strike="noStrike" sz="900" u="none">
                  <a:solidFill>
                    <a:srgbClr val="0E3B43"/>
                  </a:solidFill>
                  <a:latin typeface="Arial"/>
                </a:defRPr>
              </a:pPr>
            </a:p>
          </c:txPr>
          <c:dLblPos val="out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1A2E33"/>
                </a:solidFill>
                <a:latin typeface="Arial"/>
              </a:defRPr>
            </a:pPr>
            <a:endParaRPr lang="en-US"/>
          </a:p>
        </c:txPr>
        <c:crossAx val="2094734552"/>
        <c:crosses val="autoZero"/>
        <c:auto val="1"/>
        <c:lblAlgn val="ctr"/>
        <c:noMultiLvlLbl val="1"/>
      </c:catAx>
      <c:valAx>
        <c:axId val="2094734552"/>
        <c:scaling>
          <c:orientation val="minMax"/>
          <c:max val="18"/>
        </c:scaling>
        <c:delete val="0"/>
        <c:axPos val="b"/>
        <c:majorGridlines>
          <c:spPr>
            <a:ln w="12700" cap="flat">
              <a:solidFill>
                <a:srgbClr val="E8EE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B7F84"/>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this is a sound asset that needs the right financing structure. The whole deck builds to slide 9, which is the structuring finding, and slide 14, which quantifies the residual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both halves. Credibility comes from disclosing the 27% default probability on the opening substantive slide rather than burying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centrepiece of the deck. If the audience remembers one slide, it should be this one. The point is that structure, not price, is what makes this deal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B43"/>
        </a:solidFill>
      </p:bgPr>
    </p:bg>
    <p:spTree>
      <p:nvGrpSpPr>
        <p:cNvPr id="1" name=""/>
        <p:cNvGrpSpPr/>
        <p:nvPr/>
      </p:nvGrpSpPr>
      <p:grpSpPr>
        <a:xfrm>
          <a:off x="0" y="0"/>
          <a:ext cx="0" cy="0"/>
          <a:chOff x="0" y="0"/>
          <a:chExt cx="0" cy="0"/>
        </a:xfrm>
      </p:grpSpPr>
      <p:sp>
        <p:nvSpPr>
          <p:cNvPr id="2" name="Shape 0"/>
          <p:cNvSpPr/>
          <p:nvPr/>
        </p:nvSpPr>
        <p:spPr>
          <a:xfrm>
            <a:off x="9052560" y="-1371600"/>
            <a:ext cx="5120640" cy="5120640"/>
          </a:xfrm>
          <a:prstGeom prst="ellipse">
            <a:avLst/>
          </a:prstGeom>
          <a:solidFill>
            <a:srgbClr val="124A54"/>
          </a:solidFill>
          <a:ln/>
        </p:spPr>
      </p:sp>
      <p:sp>
        <p:nvSpPr>
          <p:cNvPr id="3" name="Shape 1"/>
          <p:cNvSpPr/>
          <p:nvPr/>
        </p:nvSpPr>
        <p:spPr>
          <a:xfrm>
            <a:off x="10332720" y="3931920"/>
            <a:ext cx="3108960" cy="3108960"/>
          </a:xfrm>
          <a:prstGeom prst="ellipse">
            <a:avLst/>
          </a:prstGeom>
          <a:solidFill>
            <a:srgbClr val="0B3138"/>
          </a:solidFill>
          <a:ln/>
        </p:spPr>
      </p:sp>
      <p:sp>
        <p:nvSpPr>
          <p:cNvPr id="4" name="Text 2"/>
          <p:cNvSpPr/>
          <p:nvPr/>
        </p:nvSpPr>
        <p:spPr>
          <a:xfrm>
            <a:off x="566928" y="1371600"/>
            <a:ext cx="8229600" cy="274320"/>
          </a:xfrm>
          <a:prstGeom prst="rect">
            <a:avLst/>
          </a:prstGeom>
          <a:noFill/>
          <a:ln/>
        </p:spPr>
        <p:txBody>
          <a:bodyPr wrap="square" rtlCol="0" anchor="ctr"/>
          <a:lstStyle/>
          <a:p>
            <a:pPr indent="0" marL="0">
              <a:buNone/>
            </a:pPr>
            <a:r>
              <a:rPr lang="en-US" sz="1100" b="1" spc="200" kern="0" dirty="0">
                <a:solidFill>
                  <a:srgbClr val="5FB8B3"/>
                </a:solidFill>
                <a:latin typeface="Arial" pitchFamily="34" charset="0"/>
                <a:ea typeface="Arial" pitchFamily="34" charset="-122"/>
                <a:cs typeface="Arial" pitchFamily="34" charset="-120"/>
              </a:rPr>
              <a:t>INVESTMENT CASE  ·  AUGUST 2026</a:t>
            </a:r>
            <a:endParaRPr lang="en-US" sz="1100" dirty="0"/>
          </a:p>
        </p:txBody>
      </p:sp>
      <p:sp>
        <p:nvSpPr>
          <p:cNvPr id="5" name="Text 3"/>
          <p:cNvSpPr/>
          <p:nvPr/>
        </p:nvSpPr>
        <p:spPr>
          <a:xfrm>
            <a:off x="566928" y="1783080"/>
            <a:ext cx="8229600" cy="1600200"/>
          </a:xfrm>
          <a:prstGeom prst="rect">
            <a:avLst/>
          </a:prstGeom>
          <a:noFill/>
          <a:ln/>
        </p:spPr>
        <p:txBody>
          <a:bodyPr wrap="square" rtlCol="0" anchor="ctr"/>
          <a:lstStyle/>
          <a:p>
            <a:pPr indent="0" marL="0">
              <a:lnSpc>
                <a:spcPct val="95000"/>
              </a:lnSpc>
              <a:buNone/>
            </a:pPr>
            <a:r>
              <a:rPr lang="en-US" sz="4200" b="1" dirty="0">
                <a:solidFill>
                  <a:srgbClr val="FFFFFF"/>
                </a:solidFill>
                <a:latin typeface="Cambria" pitchFamily="34" charset="0"/>
                <a:ea typeface="Cambria" pitchFamily="34" charset="-122"/>
                <a:cs typeface="Cambria" pitchFamily="34" charset="-120"/>
              </a:rPr>
              <a:t>Fungi Labs</a:t>
            </a:r>
            <a:endParaRPr lang="en-US" sz="4200" dirty="0"/>
          </a:p>
          <a:p>
            <a:pPr indent="0" marL="0">
              <a:lnSpc>
                <a:spcPct val="95000"/>
              </a:lnSpc>
              <a:buNone/>
            </a:pPr>
            <a:r>
              <a:rPr lang="en-US" sz="4200" b="1" dirty="0">
                <a:solidFill>
                  <a:srgbClr val="FFFFFF"/>
                </a:solidFill>
                <a:latin typeface="Cambria" pitchFamily="34" charset="0"/>
                <a:ea typeface="Cambria" pitchFamily="34" charset="-122"/>
                <a:cs typeface="Cambria" pitchFamily="34" charset="-120"/>
              </a:rPr>
              <a:t>Multi-Speciality Hospital</a:t>
            </a:r>
            <a:endParaRPr lang="en-US" sz="4200" dirty="0"/>
          </a:p>
        </p:txBody>
      </p:sp>
      <p:sp>
        <p:nvSpPr>
          <p:cNvPr id="6" name="Text 4"/>
          <p:cNvSpPr/>
          <p:nvPr/>
        </p:nvSpPr>
        <p:spPr>
          <a:xfrm>
            <a:off x="566928" y="3429000"/>
            <a:ext cx="8229600" cy="365760"/>
          </a:xfrm>
          <a:prstGeom prst="rect">
            <a:avLst/>
          </a:prstGeom>
          <a:noFill/>
          <a:ln/>
        </p:spPr>
        <p:txBody>
          <a:bodyPr wrap="square" rtlCol="0" anchor="ctr"/>
          <a:lstStyle/>
          <a:p>
            <a:pPr indent="0" marL="0">
              <a:buNone/>
            </a:pPr>
            <a:r>
              <a:rPr lang="en-US" sz="1500" dirty="0">
                <a:solidFill>
                  <a:srgbClr val="5FB8B3"/>
                </a:solidFill>
                <a:latin typeface="Arial" pitchFamily="34" charset="0"/>
                <a:ea typeface="Arial" pitchFamily="34" charset="-122"/>
                <a:cs typeface="Arial" pitchFamily="34" charset="-120"/>
              </a:rPr>
              <a:t>A 100-bed greenfield tertiary-lite facility at Nashik, Maharashtra</a:t>
            </a:r>
            <a:endParaRPr lang="en-US" sz="1500" dirty="0"/>
          </a:p>
        </p:txBody>
      </p:sp>
      <p:sp>
        <p:nvSpPr>
          <p:cNvPr id="7" name="Text 5"/>
          <p:cNvSpPr/>
          <p:nvPr/>
        </p:nvSpPr>
        <p:spPr>
          <a:xfrm>
            <a:off x="566928" y="4041648"/>
            <a:ext cx="2651760" cy="274320"/>
          </a:xfrm>
          <a:prstGeom prst="rect">
            <a:avLst/>
          </a:prstGeom>
          <a:noFill/>
          <a:ln/>
        </p:spPr>
        <p:txBody>
          <a:bodyPr wrap="square" lIns="0" tIns="0" rIns="0" bIns="0" rtlCol="0" anchor="ctr"/>
          <a:lstStyle/>
          <a:p>
            <a:pPr indent="0" marL="0">
              <a:buNone/>
            </a:pPr>
            <a:r>
              <a:rPr lang="en-US" sz="1100" dirty="0">
                <a:solidFill>
                  <a:srgbClr val="5FB8B3"/>
                </a:solidFill>
                <a:latin typeface="Arial" pitchFamily="34" charset="0"/>
                <a:ea typeface="Arial" pitchFamily="34" charset="-122"/>
                <a:cs typeface="Arial" pitchFamily="34" charset="-120"/>
              </a:rPr>
              <a:t>Cost of project</a:t>
            </a:r>
            <a:endParaRPr lang="en-US" sz="1100" dirty="0"/>
          </a:p>
        </p:txBody>
      </p:sp>
      <p:sp>
        <p:nvSpPr>
          <p:cNvPr id="8" name="Text 6"/>
          <p:cNvSpPr/>
          <p:nvPr/>
        </p:nvSpPr>
        <p:spPr>
          <a:xfrm>
            <a:off x="3310128" y="4041648"/>
            <a:ext cx="5120640" cy="27432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Rs 110.78 Cr</a:t>
            </a:r>
            <a:endParaRPr lang="en-US" sz="1150" dirty="0"/>
          </a:p>
        </p:txBody>
      </p:sp>
      <p:sp>
        <p:nvSpPr>
          <p:cNvPr id="9" name="Text 7"/>
          <p:cNvSpPr/>
          <p:nvPr/>
        </p:nvSpPr>
        <p:spPr>
          <a:xfrm>
            <a:off x="566928" y="4370832"/>
            <a:ext cx="2651760" cy="274320"/>
          </a:xfrm>
          <a:prstGeom prst="rect">
            <a:avLst/>
          </a:prstGeom>
          <a:noFill/>
          <a:ln/>
        </p:spPr>
        <p:txBody>
          <a:bodyPr wrap="square" lIns="0" tIns="0" rIns="0" bIns="0" rtlCol="0" anchor="ctr"/>
          <a:lstStyle/>
          <a:p>
            <a:pPr indent="0" marL="0">
              <a:buNone/>
            </a:pPr>
            <a:r>
              <a:rPr lang="en-US" sz="1100" dirty="0">
                <a:solidFill>
                  <a:srgbClr val="5FB8B3"/>
                </a:solidFill>
                <a:latin typeface="Arial" pitchFamily="34" charset="0"/>
                <a:ea typeface="Arial" pitchFamily="34" charset="-122"/>
                <a:cs typeface="Arial" pitchFamily="34" charset="-120"/>
              </a:rPr>
              <a:t>Term loan sought</a:t>
            </a:r>
            <a:endParaRPr lang="en-US" sz="1100" dirty="0"/>
          </a:p>
        </p:txBody>
      </p:sp>
      <p:sp>
        <p:nvSpPr>
          <p:cNvPr id="10" name="Text 8"/>
          <p:cNvSpPr/>
          <p:nvPr/>
        </p:nvSpPr>
        <p:spPr>
          <a:xfrm>
            <a:off x="3310128" y="4370832"/>
            <a:ext cx="5120640" cy="27432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Rs 77.54 Cr  (70% of cost of project)</a:t>
            </a:r>
            <a:endParaRPr lang="en-US" sz="1150" dirty="0"/>
          </a:p>
        </p:txBody>
      </p:sp>
      <p:sp>
        <p:nvSpPr>
          <p:cNvPr id="11" name="Text 9"/>
          <p:cNvSpPr/>
          <p:nvPr/>
        </p:nvSpPr>
        <p:spPr>
          <a:xfrm>
            <a:off x="566928" y="4700016"/>
            <a:ext cx="2651760" cy="274320"/>
          </a:xfrm>
          <a:prstGeom prst="rect">
            <a:avLst/>
          </a:prstGeom>
          <a:noFill/>
          <a:ln/>
        </p:spPr>
        <p:txBody>
          <a:bodyPr wrap="square" lIns="0" tIns="0" rIns="0" bIns="0" rtlCol="0" anchor="ctr"/>
          <a:lstStyle/>
          <a:p>
            <a:pPr indent="0" marL="0">
              <a:buNone/>
            </a:pPr>
            <a:r>
              <a:rPr lang="en-US" sz="1100" dirty="0">
                <a:solidFill>
                  <a:srgbClr val="5FB8B3"/>
                </a:solidFill>
                <a:latin typeface="Arial" pitchFamily="34" charset="0"/>
                <a:ea typeface="Arial" pitchFamily="34" charset="-122"/>
                <a:cs typeface="Arial" pitchFamily="34" charset="-120"/>
              </a:rPr>
              <a:t>Project IRR / Equity IRR</a:t>
            </a:r>
            <a:endParaRPr lang="en-US" sz="1100" dirty="0"/>
          </a:p>
        </p:txBody>
      </p:sp>
      <p:sp>
        <p:nvSpPr>
          <p:cNvPr id="12" name="Text 10"/>
          <p:cNvSpPr/>
          <p:nvPr/>
        </p:nvSpPr>
        <p:spPr>
          <a:xfrm>
            <a:off x="3310128" y="4700016"/>
            <a:ext cx="5120640" cy="27432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22.1%  /  26.9%</a:t>
            </a:r>
            <a:endParaRPr lang="en-US" sz="1150" dirty="0"/>
          </a:p>
        </p:txBody>
      </p:sp>
      <p:sp>
        <p:nvSpPr>
          <p:cNvPr id="13" name="Text 11"/>
          <p:cNvSpPr/>
          <p:nvPr/>
        </p:nvSpPr>
        <p:spPr>
          <a:xfrm>
            <a:off x="566928" y="5029200"/>
            <a:ext cx="2651760" cy="274320"/>
          </a:xfrm>
          <a:prstGeom prst="rect">
            <a:avLst/>
          </a:prstGeom>
          <a:noFill/>
          <a:ln/>
        </p:spPr>
        <p:txBody>
          <a:bodyPr wrap="square" lIns="0" tIns="0" rIns="0" bIns="0" rtlCol="0" anchor="ctr"/>
          <a:lstStyle/>
          <a:p>
            <a:pPr indent="0" marL="0">
              <a:buNone/>
            </a:pPr>
            <a:r>
              <a:rPr lang="en-US" sz="1100" dirty="0">
                <a:solidFill>
                  <a:srgbClr val="5FB8B3"/>
                </a:solidFill>
                <a:latin typeface="Arial" pitchFamily="34" charset="0"/>
                <a:ea typeface="Arial" pitchFamily="34" charset="-122"/>
                <a:cs typeface="Arial" pitchFamily="34" charset="-120"/>
              </a:rPr>
              <a:t>Minimum DSCR</a:t>
            </a:r>
            <a:endParaRPr lang="en-US" sz="1100" dirty="0"/>
          </a:p>
        </p:txBody>
      </p:sp>
      <p:sp>
        <p:nvSpPr>
          <p:cNvPr id="14" name="Text 12"/>
          <p:cNvSpPr/>
          <p:nvPr/>
        </p:nvSpPr>
        <p:spPr>
          <a:xfrm>
            <a:off x="3310128" y="5029200"/>
            <a:ext cx="5120640" cy="27432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1.46x  (no covenant breach)</a:t>
            </a:r>
            <a:endParaRPr lang="en-US" sz="1150" dirty="0"/>
          </a:p>
        </p:txBody>
      </p:sp>
      <p:sp>
        <p:nvSpPr>
          <p:cNvPr id="15" name="Text 13"/>
          <p:cNvSpPr/>
          <p:nvPr/>
        </p:nvSpPr>
        <p:spPr>
          <a:xfrm>
            <a:off x="566928" y="6355080"/>
            <a:ext cx="11027664" cy="274320"/>
          </a:xfrm>
          <a:prstGeom prst="rect">
            <a:avLst/>
          </a:prstGeom>
          <a:noFill/>
          <a:ln/>
        </p:spPr>
        <p:txBody>
          <a:bodyPr wrap="square" rtlCol="0" anchor="ctr"/>
          <a:lstStyle/>
          <a:p>
            <a:pPr indent="0" marL="0">
              <a:buNone/>
            </a:pPr>
            <a:r>
              <a:rPr lang="en-US" sz="900" i="1" dirty="0">
                <a:solidFill>
                  <a:srgbClr val="7FA3A8"/>
                </a:solidFill>
                <a:latin typeface="Arial" pitchFamily="34" charset="0"/>
                <a:ea typeface="Arial" pitchFamily="34" charset="-122"/>
                <a:cs typeface="Arial" pitchFamily="34" charset="-120"/>
              </a:rPr>
              <a:t>Illustrative case study. Fungi Labs is a fictitious entity — not an offer or investment advice.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37744"/>
          </a:xfrm>
          <a:prstGeom prst="rect">
            <a:avLst/>
          </a:prstGeom>
          <a:noFill/>
          <a:ln/>
        </p:spPr>
        <p:txBody>
          <a:bodyPr wrap="square" rtlCol="0" anchor="ctr"/>
          <a:lstStyle/>
          <a:p>
            <a:pPr indent="0" marL="0">
              <a:buNone/>
            </a:pPr>
            <a:r>
              <a:rPr lang="en-US" sz="1050" b="1" spc="140" kern="0" dirty="0">
                <a:solidFill>
                  <a:srgbClr val="128C8A"/>
                </a:solidFill>
                <a:latin typeface="Arial" pitchFamily="34" charset="0"/>
                <a:ea typeface="Arial" pitchFamily="34" charset="-122"/>
                <a:cs typeface="Arial" pitchFamily="34" charset="-120"/>
              </a:rPr>
              <a:t>THE PROPOSITION</a:t>
            </a:r>
            <a:endParaRPr lang="en-US" sz="1050" dirty="0"/>
          </a:p>
        </p:txBody>
      </p:sp>
      <p:sp>
        <p:nvSpPr>
          <p:cNvPr id="3" name="Text 1"/>
          <p:cNvSpPr/>
          <p:nvPr/>
        </p:nvSpPr>
        <p:spPr>
          <a:xfrm>
            <a:off x="566928" y="530352"/>
            <a:ext cx="11027664" cy="566928"/>
          </a:xfrm>
          <a:prstGeom prst="rect">
            <a:avLst/>
          </a:prstGeom>
          <a:noFill/>
          <a:ln/>
        </p:spPr>
        <p:txBody>
          <a:bodyPr wrap="square" rtlCol="0" anchor="ctr"/>
          <a:lstStyle/>
          <a:p>
            <a:pPr indent="0" marL="0">
              <a:buNone/>
            </a:pPr>
            <a:r>
              <a:rPr lang="en-US" sz="2700" b="1" dirty="0">
                <a:solidFill>
                  <a:srgbClr val="0E3B43"/>
                </a:solidFill>
                <a:latin typeface="Cambria" pitchFamily="34" charset="0"/>
                <a:ea typeface="Cambria" pitchFamily="34" charset="-122"/>
                <a:cs typeface="Cambria" pitchFamily="34" charset="-120"/>
              </a:rPr>
              <a:t>A viable asset that must be financed around its ramp</a:t>
            </a:r>
            <a:endParaRPr lang="en-US" sz="2700" dirty="0"/>
          </a:p>
        </p:txBody>
      </p:sp>
      <p:sp>
        <p:nvSpPr>
          <p:cNvPr id="4" name="Shape 2"/>
          <p:cNvSpPr/>
          <p:nvPr/>
        </p:nvSpPr>
        <p:spPr>
          <a:xfrm>
            <a:off x="566928" y="1298448"/>
            <a:ext cx="2651760" cy="1371600"/>
          </a:xfrm>
          <a:prstGeom prst="roundRect">
            <a:avLst>
              <a:gd name="adj" fmla="val 4000"/>
            </a:avLst>
          </a:prstGeom>
          <a:solidFill>
            <a:srgbClr val="F4F7F7"/>
          </a:solidFill>
          <a:ln w="12700">
            <a:solidFill>
              <a:srgbClr val="DDE6E7"/>
            </a:solidFill>
            <a:prstDash val="solid"/>
          </a:ln>
        </p:spPr>
      </p:sp>
      <p:sp>
        <p:nvSpPr>
          <p:cNvPr id="5" name="Text 3"/>
          <p:cNvSpPr/>
          <p:nvPr/>
        </p:nvSpPr>
        <p:spPr>
          <a:xfrm>
            <a:off x="566928" y="1408176"/>
            <a:ext cx="2651760" cy="630936"/>
          </a:xfrm>
          <a:prstGeom prst="rect">
            <a:avLst/>
          </a:prstGeom>
          <a:noFill/>
          <a:ln/>
        </p:spPr>
        <p:txBody>
          <a:bodyPr wrap="square" lIns="0" tIns="0" rIns="0" bIns="0" rtlCol="0" anchor="ctr"/>
          <a:lstStyle/>
          <a:p>
            <a:pPr algn="ctr" indent="0" marL="0">
              <a:buNone/>
            </a:pPr>
            <a:r>
              <a:rPr lang="en-US" sz="3000" b="1" dirty="0">
                <a:solidFill>
                  <a:srgbClr val="0E3B43"/>
                </a:solidFill>
                <a:latin typeface="Cambria" pitchFamily="34" charset="0"/>
                <a:ea typeface="Cambria" pitchFamily="34" charset="-122"/>
                <a:cs typeface="Cambria" pitchFamily="34" charset="-120"/>
              </a:rPr>
              <a:t>Rs 110.78 Cr</a:t>
            </a:r>
            <a:endParaRPr lang="en-US" sz="3000" dirty="0"/>
          </a:p>
        </p:txBody>
      </p:sp>
      <p:sp>
        <p:nvSpPr>
          <p:cNvPr id="6" name="Text 4"/>
          <p:cNvSpPr/>
          <p:nvPr/>
        </p:nvSpPr>
        <p:spPr>
          <a:xfrm>
            <a:off x="640080" y="2011680"/>
            <a:ext cx="2505456" cy="329184"/>
          </a:xfrm>
          <a:prstGeom prst="rect">
            <a:avLst/>
          </a:prstGeom>
          <a:noFill/>
          <a:ln/>
        </p:spPr>
        <p:txBody>
          <a:bodyPr wrap="square" lIns="0" tIns="0" rIns="0" bIns="0" rtlCol="0" anchor="ctr"/>
          <a:lstStyle/>
          <a:p>
            <a:pPr algn="ctr" indent="0" marL="0">
              <a:buNone/>
            </a:pPr>
            <a:r>
              <a:rPr lang="en-US" sz="1050" b="1" dirty="0">
                <a:solidFill>
                  <a:srgbClr val="1A2E33"/>
                </a:solidFill>
                <a:latin typeface="Arial" pitchFamily="34" charset="0"/>
                <a:ea typeface="Arial" pitchFamily="34" charset="-122"/>
                <a:cs typeface="Arial" pitchFamily="34" charset="-120"/>
              </a:rPr>
              <a:t>Cost of project</a:t>
            </a:r>
            <a:endParaRPr lang="en-US" sz="1050" dirty="0"/>
          </a:p>
        </p:txBody>
      </p:sp>
      <p:sp>
        <p:nvSpPr>
          <p:cNvPr id="7" name="Text 5"/>
          <p:cNvSpPr/>
          <p:nvPr/>
        </p:nvSpPr>
        <p:spPr>
          <a:xfrm>
            <a:off x="640080" y="2313432"/>
            <a:ext cx="2505456" cy="301752"/>
          </a:xfrm>
          <a:prstGeom prst="rect">
            <a:avLst/>
          </a:prstGeom>
          <a:noFill/>
          <a:ln/>
        </p:spPr>
        <p:txBody>
          <a:bodyPr wrap="square" lIns="0" tIns="0" rIns="0" bIns="0" rtlCol="0" anchor="ctr"/>
          <a:lstStyle/>
          <a:p>
            <a:pPr algn="ctr" indent="0" marL="0">
              <a:buNone/>
            </a:pPr>
            <a:r>
              <a:rPr lang="en-US" sz="850" dirty="0">
                <a:solidFill>
                  <a:srgbClr val="6B7F84"/>
                </a:solidFill>
                <a:latin typeface="Arial" pitchFamily="34" charset="0"/>
                <a:ea typeface="Arial" pitchFamily="34" charset="-122"/>
                <a:cs typeface="Arial" pitchFamily="34" charset="-120"/>
              </a:rPr>
              <a:t>Rs 1.11 Cr per bed</a:t>
            </a:r>
            <a:endParaRPr lang="en-US" sz="850" dirty="0"/>
          </a:p>
        </p:txBody>
      </p:sp>
      <p:sp>
        <p:nvSpPr>
          <p:cNvPr id="8" name="Shape 6"/>
          <p:cNvSpPr/>
          <p:nvPr/>
        </p:nvSpPr>
        <p:spPr>
          <a:xfrm>
            <a:off x="3355848" y="1298448"/>
            <a:ext cx="2651760" cy="1371600"/>
          </a:xfrm>
          <a:prstGeom prst="roundRect">
            <a:avLst>
              <a:gd name="adj" fmla="val 4000"/>
            </a:avLst>
          </a:prstGeom>
          <a:solidFill>
            <a:srgbClr val="F4F7F7"/>
          </a:solidFill>
          <a:ln w="12700">
            <a:solidFill>
              <a:srgbClr val="DDE6E7"/>
            </a:solidFill>
            <a:prstDash val="solid"/>
          </a:ln>
        </p:spPr>
      </p:sp>
      <p:sp>
        <p:nvSpPr>
          <p:cNvPr id="9" name="Text 7"/>
          <p:cNvSpPr/>
          <p:nvPr/>
        </p:nvSpPr>
        <p:spPr>
          <a:xfrm>
            <a:off x="3355848" y="1408176"/>
            <a:ext cx="2651760" cy="630936"/>
          </a:xfrm>
          <a:prstGeom prst="rect">
            <a:avLst/>
          </a:prstGeom>
          <a:noFill/>
          <a:ln/>
        </p:spPr>
        <p:txBody>
          <a:bodyPr wrap="square" lIns="0" tIns="0" rIns="0" bIns="0" rtlCol="0" anchor="ctr"/>
          <a:lstStyle/>
          <a:p>
            <a:pPr algn="ctr" indent="0" marL="0">
              <a:buNone/>
            </a:pPr>
            <a:r>
              <a:rPr lang="en-US" sz="3000" b="1" dirty="0">
                <a:solidFill>
                  <a:srgbClr val="0E3B43"/>
                </a:solidFill>
                <a:latin typeface="Cambria" pitchFamily="34" charset="0"/>
                <a:ea typeface="Cambria" pitchFamily="34" charset="-122"/>
                <a:cs typeface="Cambria" pitchFamily="34" charset="-120"/>
              </a:rPr>
              <a:t>22.1%</a:t>
            </a:r>
            <a:endParaRPr lang="en-US" sz="3000" dirty="0"/>
          </a:p>
        </p:txBody>
      </p:sp>
      <p:sp>
        <p:nvSpPr>
          <p:cNvPr id="10" name="Text 8"/>
          <p:cNvSpPr/>
          <p:nvPr/>
        </p:nvSpPr>
        <p:spPr>
          <a:xfrm>
            <a:off x="3429000" y="2011680"/>
            <a:ext cx="2505456" cy="329184"/>
          </a:xfrm>
          <a:prstGeom prst="rect">
            <a:avLst/>
          </a:prstGeom>
          <a:noFill/>
          <a:ln/>
        </p:spPr>
        <p:txBody>
          <a:bodyPr wrap="square" lIns="0" tIns="0" rIns="0" bIns="0" rtlCol="0" anchor="ctr"/>
          <a:lstStyle/>
          <a:p>
            <a:pPr algn="ctr" indent="0" marL="0">
              <a:buNone/>
            </a:pPr>
            <a:r>
              <a:rPr lang="en-US" sz="1050" b="1" dirty="0">
                <a:solidFill>
                  <a:srgbClr val="1A2E33"/>
                </a:solidFill>
                <a:latin typeface="Arial" pitchFamily="34" charset="0"/>
                <a:ea typeface="Arial" pitchFamily="34" charset="-122"/>
                <a:cs typeface="Arial" pitchFamily="34" charset="-120"/>
              </a:rPr>
              <a:t>Project IRR</a:t>
            </a:r>
            <a:endParaRPr lang="en-US" sz="1050" dirty="0"/>
          </a:p>
        </p:txBody>
      </p:sp>
      <p:sp>
        <p:nvSpPr>
          <p:cNvPr id="11" name="Text 9"/>
          <p:cNvSpPr/>
          <p:nvPr/>
        </p:nvSpPr>
        <p:spPr>
          <a:xfrm>
            <a:off x="3429000" y="2313432"/>
            <a:ext cx="2505456" cy="301752"/>
          </a:xfrm>
          <a:prstGeom prst="rect">
            <a:avLst/>
          </a:prstGeom>
          <a:noFill/>
          <a:ln/>
        </p:spPr>
        <p:txBody>
          <a:bodyPr wrap="square" lIns="0" tIns="0" rIns="0" bIns="0" rtlCol="0" anchor="ctr"/>
          <a:lstStyle/>
          <a:p>
            <a:pPr algn="ctr" indent="0" marL="0">
              <a:buNone/>
            </a:pPr>
            <a:r>
              <a:rPr lang="en-US" sz="850" dirty="0">
                <a:solidFill>
                  <a:srgbClr val="6B7F84"/>
                </a:solidFill>
                <a:latin typeface="Arial" pitchFamily="34" charset="0"/>
                <a:ea typeface="Arial" pitchFamily="34" charset="-122"/>
                <a:cs typeface="Arial" pitchFamily="34" charset="-120"/>
              </a:rPr>
              <a:t>against a 12.5% WACC</a:t>
            </a:r>
            <a:endParaRPr lang="en-US" sz="850" dirty="0"/>
          </a:p>
        </p:txBody>
      </p:sp>
      <p:sp>
        <p:nvSpPr>
          <p:cNvPr id="12" name="Shape 10"/>
          <p:cNvSpPr/>
          <p:nvPr/>
        </p:nvSpPr>
        <p:spPr>
          <a:xfrm>
            <a:off x="6144768" y="1298448"/>
            <a:ext cx="2651760" cy="1371600"/>
          </a:xfrm>
          <a:prstGeom prst="roundRect">
            <a:avLst>
              <a:gd name="adj" fmla="val 4000"/>
            </a:avLst>
          </a:prstGeom>
          <a:solidFill>
            <a:srgbClr val="F4F7F7"/>
          </a:solidFill>
          <a:ln w="12700">
            <a:solidFill>
              <a:srgbClr val="DDE6E7"/>
            </a:solidFill>
            <a:prstDash val="solid"/>
          </a:ln>
        </p:spPr>
      </p:sp>
      <p:sp>
        <p:nvSpPr>
          <p:cNvPr id="13" name="Text 11"/>
          <p:cNvSpPr/>
          <p:nvPr/>
        </p:nvSpPr>
        <p:spPr>
          <a:xfrm>
            <a:off x="6144768" y="1408176"/>
            <a:ext cx="2651760" cy="630936"/>
          </a:xfrm>
          <a:prstGeom prst="rect">
            <a:avLst/>
          </a:prstGeom>
          <a:noFill/>
          <a:ln/>
        </p:spPr>
        <p:txBody>
          <a:bodyPr wrap="square" lIns="0" tIns="0" rIns="0" bIns="0" rtlCol="0" anchor="ctr"/>
          <a:lstStyle/>
          <a:p>
            <a:pPr algn="ctr" indent="0" marL="0">
              <a:buNone/>
            </a:pPr>
            <a:r>
              <a:rPr lang="en-US" sz="3000" b="1" dirty="0">
                <a:solidFill>
                  <a:srgbClr val="0E3B43"/>
                </a:solidFill>
                <a:latin typeface="Cambria" pitchFamily="34" charset="0"/>
                <a:ea typeface="Cambria" pitchFamily="34" charset="-122"/>
                <a:cs typeface="Cambria" pitchFamily="34" charset="-120"/>
              </a:rPr>
              <a:t>26.9%</a:t>
            </a:r>
            <a:endParaRPr lang="en-US" sz="3000" dirty="0"/>
          </a:p>
        </p:txBody>
      </p:sp>
      <p:sp>
        <p:nvSpPr>
          <p:cNvPr id="14" name="Text 12"/>
          <p:cNvSpPr/>
          <p:nvPr/>
        </p:nvSpPr>
        <p:spPr>
          <a:xfrm>
            <a:off x="6217920" y="2011680"/>
            <a:ext cx="2505456" cy="329184"/>
          </a:xfrm>
          <a:prstGeom prst="rect">
            <a:avLst/>
          </a:prstGeom>
          <a:noFill/>
          <a:ln/>
        </p:spPr>
        <p:txBody>
          <a:bodyPr wrap="square" lIns="0" tIns="0" rIns="0" bIns="0" rtlCol="0" anchor="ctr"/>
          <a:lstStyle/>
          <a:p>
            <a:pPr algn="ctr" indent="0" marL="0">
              <a:buNone/>
            </a:pPr>
            <a:r>
              <a:rPr lang="en-US" sz="1050" b="1" dirty="0">
                <a:solidFill>
                  <a:srgbClr val="1A2E33"/>
                </a:solidFill>
                <a:latin typeface="Arial" pitchFamily="34" charset="0"/>
                <a:ea typeface="Arial" pitchFamily="34" charset="-122"/>
                <a:cs typeface="Arial" pitchFamily="34" charset="-120"/>
              </a:rPr>
              <a:t>Equity IRR</a:t>
            </a:r>
            <a:endParaRPr lang="en-US" sz="1050" dirty="0"/>
          </a:p>
        </p:txBody>
      </p:sp>
      <p:sp>
        <p:nvSpPr>
          <p:cNvPr id="15" name="Text 13"/>
          <p:cNvSpPr/>
          <p:nvPr/>
        </p:nvSpPr>
        <p:spPr>
          <a:xfrm>
            <a:off x="6217920" y="2313432"/>
            <a:ext cx="2505456" cy="301752"/>
          </a:xfrm>
          <a:prstGeom prst="rect">
            <a:avLst/>
          </a:prstGeom>
          <a:noFill/>
          <a:ln/>
        </p:spPr>
        <p:txBody>
          <a:bodyPr wrap="square" lIns="0" tIns="0" rIns="0" bIns="0" rtlCol="0" anchor="ctr"/>
          <a:lstStyle/>
          <a:p>
            <a:pPr algn="ctr" indent="0" marL="0">
              <a:buNone/>
            </a:pPr>
            <a:r>
              <a:rPr lang="en-US" sz="850" dirty="0">
                <a:solidFill>
                  <a:srgbClr val="6B7F84"/>
                </a:solidFill>
                <a:latin typeface="Arial" pitchFamily="34" charset="0"/>
                <a:ea typeface="Arial" pitchFamily="34" charset="-122"/>
                <a:cs typeface="Arial" pitchFamily="34" charset="-120"/>
              </a:rPr>
              <a:t>12.3x money multiple</a:t>
            </a:r>
            <a:endParaRPr lang="en-US" sz="850" dirty="0"/>
          </a:p>
        </p:txBody>
      </p:sp>
      <p:sp>
        <p:nvSpPr>
          <p:cNvPr id="16" name="Shape 14"/>
          <p:cNvSpPr/>
          <p:nvPr/>
        </p:nvSpPr>
        <p:spPr>
          <a:xfrm>
            <a:off x="8933688" y="1298448"/>
            <a:ext cx="2651760" cy="1371600"/>
          </a:xfrm>
          <a:prstGeom prst="roundRect">
            <a:avLst>
              <a:gd name="adj" fmla="val 4000"/>
            </a:avLst>
          </a:prstGeom>
          <a:solidFill>
            <a:srgbClr val="E8F4F2"/>
          </a:solidFill>
          <a:ln w="12700">
            <a:solidFill>
              <a:srgbClr val="5FB8B3"/>
            </a:solidFill>
            <a:prstDash val="solid"/>
          </a:ln>
        </p:spPr>
      </p:sp>
      <p:sp>
        <p:nvSpPr>
          <p:cNvPr id="17" name="Text 15"/>
          <p:cNvSpPr/>
          <p:nvPr/>
        </p:nvSpPr>
        <p:spPr>
          <a:xfrm>
            <a:off x="8933688" y="1408176"/>
            <a:ext cx="2651760" cy="630936"/>
          </a:xfrm>
          <a:prstGeom prst="rect">
            <a:avLst/>
          </a:prstGeom>
          <a:noFill/>
          <a:ln/>
        </p:spPr>
        <p:txBody>
          <a:bodyPr wrap="square" lIns="0" tIns="0" rIns="0" bIns="0" rtlCol="0" anchor="ctr"/>
          <a:lstStyle/>
          <a:p>
            <a:pPr algn="ctr" indent="0" marL="0">
              <a:buNone/>
            </a:pPr>
            <a:r>
              <a:rPr lang="en-US" sz="3000" b="1" dirty="0">
                <a:solidFill>
                  <a:srgbClr val="0E3B43"/>
                </a:solidFill>
                <a:latin typeface="Cambria" pitchFamily="34" charset="0"/>
                <a:ea typeface="Cambria" pitchFamily="34" charset="-122"/>
                <a:cs typeface="Cambria" pitchFamily="34" charset="-120"/>
              </a:rPr>
              <a:t>1.46x</a:t>
            </a:r>
            <a:endParaRPr lang="en-US" sz="3000" dirty="0"/>
          </a:p>
        </p:txBody>
      </p:sp>
      <p:sp>
        <p:nvSpPr>
          <p:cNvPr id="18" name="Text 16"/>
          <p:cNvSpPr/>
          <p:nvPr/>
        </p:nvSpPr>
        <p:spPr>
          <a:xfrm>
            <a:off x="9006840" y="2011680"/>
            <a:ext cx="2505456" cy="329184"/>
          </a:xfrm>
          <a:prstGeom prst="rect">
            <a:avLst/>
          </a:prstGeom>
          <a:noFill/>
          <a:ln/>
        </p:spPr>
        <p:txBody>
          <a:bodyPr wrap="square" lIns="0" tIns="0" rIns="0" bIns="0" rtlCol="0" anchor="ctr"/>
          <a:lstStyle/>
          <a:p>
            <a:pPr algn="ctr" indent="0" marL="0">
              <a:buNone/>
            </a:pPr>
            <a:r>
              <a:rPr lang="en-US" sz="1050" b="1" dirty="0">
                <a:solidFill>
                  <a:srgbClr val="1A2E33"/>
                </a:solidFill>
                <a:latin typeface="Arial" pitchFamily="34" charset="0"/>
                <a:ea typeface="Arial" pitchFamily="34" charset="-122"/>
                <a:cs typeface="Arial" pitchFamily="34" charset="-120"/>
              </a:rPr>
              <a:t>Minimum DSCR</a:t>
            </a:r>
            <a:endParaRPr lang="en-US" sz="1050" dirty="0"/>
          </a:p>
        </p:txBody>
      </p:sp>
      <p:sp>
        <p:nvSpPr>
          <p:cNvPr id="19" name="Text 17"/>
          <p:cNvSpPr/>
          <p:nvPr/>
        </p:nvSpPr>
        <p:spPr>
          <a:xfrm>
            <a:off x="9006840" y="2313432"/>
            <a:ext cx="2505456" cy="301752"/>
          </a:xfrm>
          <a:prstGeom prst="rect">
            <a:avLst/>
          </a:prstGeom>
          <a:noFill/>
          <a:ln/>
        </p:spPr>
        <p:txBody>
          <a:bodyPr wrap="square" lIns="0" tIns="0" rIns="0" bIns="0" rtlCol="0" anchor="ctr"/>
          <a:lstStyle/>
          <a:p>
            <a:pPr algn="ctr" indent="0" marL="0">
              <a:buNone/>
            </a:pPr>
            <a:r>
              <a:rPr lang="en-US" sz="850" dirty="0">
                <a:solidFill>
                  <a:srgbClr val="6B7F84"/>
                </a:solidFill>
                <a:latin typeface="Arial" pitchFamily="34" charset="0"/>
                <a:ea typeface="Arial" pitchFamily="34" charset="-122"/>
                <a:cs typeface="Arial" pitchFamily="34" charset="-120"/>
              </a:rPr>
              <a:t>covenant 1.25x</a:t>
            </a:r>
            <a:endParaRPr lang="en-US" sz="850" dirty="0"/>
          </a:p>
        </p:txBody>
      </p:sp>
      <p:sp>
        <p:nvSpPr>
          <p:cNvPr id="20" name="Text 18"/>
          <p:cNvSpPr/>
          <p:nvPr/>
        </p:nvSpPr>
        <p:spPr>
          <a:xfrm>
            <a:off x="566928" y="2889504"/>
            <a:ext cx="5394960" cy="274320"/>
          </a:xfrm>
          <a:prstGeom prst="rect">
            <a:avLst/>
          </a:prstGeom>
          <a:noFill/>
          <a:ln/>
        </p:spPr>
        <p:txBody>
          <a:bodyPr wrap="square" rtlCol="0" anchor="ctr"/>
          <a:lstStyle/>
          <a:p>
            <a:pPr indent="0" marL="0">
              <a:buNone/>
            </a:pPr>
            <a:r>
              <a:rPr lang="en-US" sz="1300" b="1" dirty="0">
                <a:solidFill>
                  <a:srgbClr val="128C8A"/>
                </a:solidFill>
                <a:latin typeface="Arial" pitchFamily="34" charset="0"/>
                <a:ea typeface="Arial" pitchFamily="34" charset="-122"/>
                <a:cs typeface="Arial" pitchFamily="34" charset="-120"/>
              </a:rPr>
              <a:t>What the numbers say</a:t>
            </a:r>
            <a:endParaRPr lang="en-US" sz="1300" dirty="0"/>
          </a:p>
        </p:txBody>
      </p:sp>
      <p:sp>
        <p:nvSpPr>
          <p:cNvPr id="21" name="Shape 19"/>
          <p:cNvSpPr/>
          <p:nvPr/>
        </p:nvSpPr>
        <p:spPr>
          <a:xfrm>
            <a:off x="566928" y="3246120"/>
            <a:ext cx="384048" cy="384048"/>
          </a:xfrm>
          <a:prstGeom prst="ellipse">
            <a:avLst/>
          </a:prstGeom>
          <a:solidFill>
            <a:srgbClr val="128C8A"/>
          </a:solidFill>
          <a:ln/>
        </p:spPr>
      </p:sp>
      <p:sp>
        <p:nvSpPr>
          <p:cNvPr id="22" name="Text 20"/>
          <p:cNvSpPr/>
          <p:nvPr/>
        </p:nvSpPr>
        <p:spPr>
          <a:xfrm>
            <a:off x="566928" y="32461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23" name="Text 21"/>
          <p:cNvSpPr/>
          <p:nvPr/>
        </p:nvSpPr>
        <p:spPr>
          <a:xfrm>
            <a:off x="1097280" y="3227832"/>
            <a:ext cx="4864608" cy="256032"/>
          </a:xfrm>
          <a:prstGeom prst="rect">
            <a:avLst/>
          </a:prstGeom>
          <a:noFill/>
          <a:ln/>
        </p:spPr>
        <p:txBody>
          <a:bodyPr wrap="square" lIns="0" tIns="0" rIns="0" bIns="0" rtlCol="0" anchor="ctr"/>
          <a:lstStyle/>
          <a:p>
            <a:pPr indent="0" marL="0">
              <a:buNone/>
            </a:pPr>
            <a:r>
              <a:rPr lang="en-US" sz="1300" b="1" dirty="0">
                <a:solidFill>
                  <a:srgbClr val="0E3B43"/>
                </a:solidFill>
                <a:latin typeface="Arial" pitchFamily="34" charset="0"/>
                <a:ea typeface="Arial" pitchFamily="34" charset="-122"/>
                <a:cs typeface="Arial" pitchFamily="34" charset="-120"/>
              </a:rPr>
              <a:t>The asset works</a:t>
            </a:r>
            <a:endParaRPr lang="en-US" sz="1300" dirty="0"/>
          </a:p>
        </p:txBody>
      </p:sp>
      <p:sp>
        <p:nvSpPr>
          <p:cNvPr id="24" name="Text 22"/>
          <p:cNvSpPr/>
          <p:nvPr/>
        </p:nvSpPr>
        <p:spPr>
          <a:xfrm>
            <a:off x="1097280" y="3483864"/>
            <a:ext cx="4864608" cy="566928"/>
          </a:xfrm>
          <a:prstGeom prst="rect">
            <a:avLst/>
          </a:prstGeom>
          <a:noFill/>
          <a:ln/>
        </p:spPr>
        <p:txBody>
          <a:bodyPr wrap="square" lIns="0" tIns="0" rIns="0" bIns="0" rtlCol="0" anchor="ctr"/>
          <a:lstStyle/>
          <a:p>
            <a:pPr indent="0" marL="0">
              <a:lnSpc>
                <a:spcPct val="106000"/>
              </a:lnSpc>
              <a:buNone/>
            </a:pPr>
            <a:r>
              <a:rPr lang="en-US" sz="1050" dirty="0">
                <a:solidFill>
                  <a:srgbClr val="1A2E33"/>
                </a:solidFill>
                <a:latin typeface="Arial" pitchFamily="34" charset="0"/>
                <a:ea typeface="Arial" pitchFamily="34" charset="-122"/>
                <a:cs typeface="Arial" pitchFamily="34" charset="-120"/>
              </a:rPr>
              <a:t>Revenue reaches Rs 104.4 Cr by Year 5 and Rs 158.3 Cr by Year 10, at a 27% EBITDA margin. Value created over cost: Rs 101.3 Cr.</a:t>
            </a:r>
            <a:endParaRPr lang="en-US" sz="1050" dirty="0"/>
          </a:p>
        </p:txBody>
      </p:sp>
      <p:sp>
        <p:nvSpPr>
          <p:cNvPr id="25" name="Shape 23"/>
          <p:cNvSpPr/>
          <p:nvPr/>
        </p:nvSpPr>
        <p:spPr>
          <a:xfrm>
            <a:off x="566928" y="4160520"/>
            <a:ext cx="384048" cy="384048"/>
          </a:xfrm>
          <a:prstGeom prst="ellipse">
            <a:avLst/>
          </a:prstGeom>
          <a:solidFill>
            <a:srgbClr val="128C8A"/>
          </a:solidFill>
          <a:ln/>
        </p:spPr>
      </p:sp>
      <p:sp>
        <p:nvSpPr>
          <p:cNvPr id="26" name="Text 24"/>
          <p:cNvSpPr/>
          <p:nvPr/>
        </p:nvSpPr>
        <p:spPr>
          <a:xfrm>
            <a:off x="566928" y="4160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7" name="Text 25"/>
          <p:cNvSpPr/>
          <p:nvPr/>
        </p:nvSpPr>
        <p:spPr>
          <a:xfrm>
            <a:off x="1097280" y="4142232"/>
            <a:ext cx="4864608" cy="256032"/>
          </a:xfrm>
          <a:prstGeom prst="rect">
            <a:avLst/>
          </a:prstGeom>
          <a:noFill/>
          <a:ln/>
        </p:spPr>
        <p:txBody>
          <a:bodyPr wrap="square" lIns="0" tIns="0" rIns="0" bIns="0" rtlCol="0" anchor="ctr"/>
          <a:lstStyle/>
          <a:p>
            <a:pPr indent="0" marL="0">
              <a:buNone/>
            </a:pPr>
            <a:r>
              <a:rPr lang="en-US" sz="1300" b="1" dirty="0">
                <a:solidFill>
                  <a:srgbClr val="0E3B43"/>
                </a:solidFill>
                <a:latin typeface="Arial" pitchFamily="34" charset="0"/>
                <a:ea typeface="Arial" pitchFamily="34" charset="-122"/>
                <a:cs typeface="Arial" pitchFamily="34" charset="-120"/>
              </a:rPr>
              <a:t>The market share needed is modest</a:t>
            </a:r>
            <a:endParaRPr lang="en-US" sz="1300" dirty="0"/>
          </a:p>
        </p:txBody>
      </p:sp>
      <p:sp>
        <p:nvSpPr>
          <p:cNvPr id="28" name="Text 26"/>
          <p:cNvSpPr/>
          <p:nvPr/>
        </p:nvSpPr>
        <p:spPr>
          <a:xfrm>
            <a:off x="1097280" y="4398264"/>
            <a:ext cx="4864608" cy="566928"/>
          </a:xfrm>
          <a:prstGeom prst="rect">
            <a:avLst/>
          </a:prstGeom>
          <a:noFill/>
          <a:ln/>
        </p:spPr>
        <p:txBody>
          <a:bodyPr wrap="square" lIns="0" tIns="0" rIns="0" bIns="0" rtlCol="0" anchor="ctr"/>
          <a:lstStyle/>
          <a:p>
            <a:pPr indent="0" marL="0">
              <a:lnSpc>
                <a:spcPct val="106000"/>
              </a:lnSpc>
              <a:buNone/>
            </a:pPr>
            <a:r>
              <a:rPr lang="en-US" sz="1050" dirty="0">
                <a:solidFill>
                  <a:srgbClr val="1A2E33"/>
                </a:solidFill>
                <a:latin typeface="Arial" pitchFamily="34" charset="0"/>
                <a:ea typeface="Arial" pitchFamily="34" charset="-122"/>
                <a:cs typeface="Arial" pitchFamily="34" charset="-120"/>
              </a:rPr>
              <a:t>Roughly 20% of the 32,130 annual episodes addressable by organised private care in the catchment, by Year 5.</a:t>
            </a:r>
            <a:endParaRPr lang="en-US" sz="1050" dirty="0"/>
          </a:p>
        </p:txBody>
      </p:sp>
      <p:sp>
        <p:nvSpPr>
          <p:cNvPr id="29" name="Shape 27"/>
          <p:cNvSpPr/>
          <p:nvPr/>
        </p:nvSpPr>
        <p:spPr>
          <a:xfrm>
            <a:off x="566928" y="5074920"/>
            <a:ext cx="384048" cy="384048"/>
          </a:xfrm>
          <a:prstGeom prst="ellipse">
            <a:avLst/>
          </a:prstGeom>
          <a:solidFill>
            <a:srgbClr val="E8A33D"/>
          </a:solidFill>
          <a:ln/>
        </p:spPr>
      </p:sp>
      <p:sp>
        <p:nvSpPr>
          <p:cNvPr id="30" name="Text 28"/>
          <p:cNvSpPr/>
          <p:nvPr/>
        </p:nvSpPr>
        <p:spPr>
          <a:xfrm>
            <a:off x="566928" y="5074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31" name="Text 29"/>
          <p:cNvSpPr/>
          <p:nvPr/>
        </p:nvSpPr>
        <p:spPr>
          <a:xfrm>
            <a:off x="1097280" y="5056632"/>
            <a:ext cx="4864608" cy="256032"/>
          </a:xfrm>
          <a:prstGeom prst="rect">
            <a:avLst/>
          </a:prstGeom>
          <a:noFill/>
          <a:ln/>
        </p:spPr>
        <p:txBody>
          <a:bodyPr wrap="square" lIns="0" tIns="0" rIns="0" bIns="0" rtlCol="0" anchor="ctr"/>
          <a:lstStyle/>
          <a:p>
            <a:pPr indent="0" marL="0">
              <a:buNone/>
            </a:pPr>
            <a:r>
              <a:rPr lang="en-US" sz="1300" b="1" dirty="0">
                <a:solidFill>
                  <a:srgbClr val="0E3B43"/>
                </a:solidFill>
                <a:latin typeface="Arial" pitchFamily="34" charset="0"/>
                <a:ea typeface="Arial" pitchFamily="34" charset="-122"/>
                <a:cs typeface="Arial" pitchFamily="34" charset="-120"/>
              </a:rPr>
              <a:t>The structure is what matters</a:t>
            </a:r>
            <a:endParaRPr lang="en-US" sz="1300" dirty="0"/>
          </a:p>
        </p:txBody>
      </p:sp>
      <p:sp>
        <p:nvSpPr>
          <p:cNvPr id="32" name="Text 30"/>
          <p:cNvSpPr/>
          <p:nvPr/>
        </p:nvSpPr>
        <p:spPr>
          <a:xfrm>
            <a:off x="1097280" y="5312664"/>
            <a:ext cx="4864608" cy="566928"/>
          </a:xfrm>
          <a:prstGeom prst="rect">
            <a:avLst/>
          </a:prstGeom>
          <a:noFill/>
          <a:ln/>
        </p:spPr>
        <p:txBody>
          <a:bodyPr wrap="square" lIns="0" tIns="0" rIns="0" bIns="0" rtlCol="0" anchor="ctr"/>
          <a:lstStyle/>
          <a:p>
            <a:pPr indent="0" marL="0">
              <a:lnSpc>
                <a:spcPct val="106000"/>
              </a:lnSpc>
              <a:buNone/>
            </a:pPr>
            <a:r>
              <a:rPr lang="en-US" sz="1050" dirty="0">
                <a:solidFill>
                  <a:srgbClr val="1A2E33"/>
                </a:solidFill>
                <a:latin typeface="Arial" pitchFamily="34" charset="0"/>
                <a:ea typeface="Arial" pitchFamily="34" charset="-122"/>
                <a:cs typeface="Arial" pitchFamily="34" charset="-120"/>
              </a:rPr>
              <a:t>Deferring the first principal instalment to Year 4 turns an unbankable proposal into a bankable one. Nothing else changes.</a:t>
            </a:r>
            <a:endParaRPr lang="en-US" sz="1050" dirty="0"/>
          </a:p>
        </p:txBody>
      </p:sp>
      <p:sp>
        <p:nvSpPr>
          <p:cNvPr id="33" name="Shape 31"/>
          <p:cNvSpPr/>
          <p:nvPr/>
        </p:nvSpPr>
        <p:spPr>
          <a:xfrm>
            <a:off x="6419088" y="3246120"/>
            <a:ext cx="5175504" cy="2724912"/>
          </a:xfrm>
          <a:prstGeom prst="roundRect">
            <a:avLst>
              <a:gd name="adj" fmla="val 2013"/>
            </a:avLst>
          </a:prstGeom>
          <a:solidFill>
            <a:srgbClr val="0E3B43"/>
          </a:solidFill>
          <a:ln w="12700">
            <a:solidFill>
              <a:srgbClr val="0E3B43"/>
            </a:solidFill>
            <a:prstDash val="solid"/>
          </a:ln>
        </p:spPr>
      </p:sp>
      <p:sp>
        <p:nvSpPr>
          <p:cNvPr id="34" name="Text 32"/>
          <p:cNvSpPr/>
          <p:nvPr/>
        </p:nvSpPr>
        <p:spPr>
          <a:xfrm>
            <a:off x="6711696" y="3429000"/>
            <a:ext cx="4572000" cy="274320"/>
          </a:xfrm>
          <a:prstGeom prst="rect">
            <a:avLst/>
          </a:prstGeom>
          <a:noFill/>
          <a:ln/>
        </p:spPr>
        <p:txBody>
          <a:bodyPr wrap="square" rtlCol="0" anchor="ctr"/>
          <a:lstStyle/>
          <a:p>
            <a:pPr indent="0" marL="0">
              <a:buNone/>
            </a:pPr>
            <a:r>
              <a:rPr lang="en-US" sz="1300" b="1" dirty="0">
                <a:solidFill>
                  <a:srgbClr val="E8A33D"/>
                </a:solidFill>
                <a:latin typeface="Arial" pitchFamily="34" charset="0"/>
                <a:ea typeface="Arial" pitchFamily="34" charset="-122"/>
                <a:cs typeface="Arial" pitchFamily="34" charset="-120"/>
              </a:rPr>
              <a:t>And what they do not say</a:t>
            </a:r>
            <a:endParaRPr lang="en-US" sz="1300" dirty="0"/>
          </a:p>
        </p:txBody>
      </p:sp>
      <p:sp>
        <p:nvSpPr>
          <p:cNvPr id="35" name="Text 33"/>
          <p:cNvSpPr/>
          <p:nvPr/>
        </p:nvSpPr>
        <p:spPr>
          <a:xfrm>
            <a:off x="6711696" y="3794760"/>
            <a:ext cx="4572000" cy="2011680"/>
          </a:xfrm>
          <a:prstGeom prst="rect">
            <a:avLst/>
          </a:prstGeom>
          <a:noFill/>
          <a:ln/>
        </p:spPr>
        <p:txBody>
          <a:bodyPr wrap="square" rtlCol="0" anchor="ctr"/>
          <a:lstStyle/>
          <a:p>
            <a:pPr marL="342900" indent="-342900">
              <a:lnSpc>
                <a:spcPct val="112000"/>
              </a:lnSpc>
              <a:spcAft>
                <a:spcPts val="800"/>
              </a:spcAft>
              <a:buSzPct val="100000"/>
              <a:buChar char="•"/>
            </a:pPr>
            <a:r>
              <a:rPr lang="en-US" sz="1100" dirty="0">
                <a:solidFill>
                  <a:srgbClr val="FFFFFF"/>
                </a:solidFill>
                <a:latin typeface="Arial" pitchFamily="34" charset="0"/>
                <a:ea typeface="Arial" pitchFamily="34" charset="-122"/>
                <a:cs typeface="Arial" pitchFamily="34" charset="-120"/>
              </a:rPr>
              <a:t>91% probability of positive NPV across 10,000 simulated futures.</a:t>
            </a:r>
            <a:endParaRPr lang="en-US" sz="1100" dirty="0"/>
          </a:p>
          <a:p>
            <a:pPr marL="342900" indent="-342900">
              <a:lnSpc>
                <a:spcPct val="112000"/>
              </a:lnSpc>
              <a:spcAft>
                <a:spcPts val="800"/>
              </a:spcAft>
              <a:buSzPct val="100000"/>
              <a:buChar char="•"/>
            </a:pPr>
            <a:r>
              <a:rPr lang="en-US" sz="1100" dirty="0">
                <a:solidFill>
                  <a:srgbClr val="FFFFFF"/>
                </a:solidFill>
                <a:latin typeface="Arial" pitchFamily="34" charset="0"/>
                <a:ea typeface="Arial" pitchFamily="34" charset="-122"/>
                <a:cs typeface="Arial" pitchFamily="34" charset="-120"/>
              </a:rPr>
              <a:t>But the DSCR covenant holds in only 51% of them, and there is a 27% probability of failing to cover debt service in at least one year.</a:t>
            </a:r>
            <a:endParaRPr lang="en-US" sz="1100" dirty="0"/>
          </a:p>
          <a:p>
            <a:pPr marL="342900" indent="-342900">
              <a:lnSpc>
                <a:spcPct val="112000"/>
              </a:lnSpc>
              <a:buSzPct val="100000"/>
              <a:buChar char="•"/>
            </a:pPr>
            <a:r>
              <a:rPr lang="en-US" sz="1100" dirty="0">
                <a:solidFill>
                  <a:srgbClr val="FFFFFF"/>
                </a:solidFill>
                <a:latin typeface="Arial" pitchFamily="34" charset="0"/>
                <a:ea typeface="Arial" pitchFamily="34" charset="-122"/>
                <a:cs typeface="Arial" pitchFamily="34" charset="-120"/>
              </a:rPr>
              <a:t>This is a good asset being financed aggressively. The two are separable problems — and the second one is fixable.</a:t>
            </a:r>
            <a:endParaRPr lang="en-US" sz="1100" dirty="0"/>
          </a:p>
        </p:txBody>
      </p:sp>
      <p:sp>
        <p:nvSpPr>
          <p:cNvPr id="36" name="Text 34"/>
          <p:cNvSpPr/>
          <p:nvPr/>
        </p:nvSpPr>
        <p:spPr>
          <a:xfrm>
            <a:off x="566928" y="6473952"/>
            <a:ext cx="11027664" cy="219456"/>
          </a:xfrm>
          <a:prstGeom prst="rect">
            <a:avLst/>
          </a:prstGeom>
          <a:noFill/>
          <a:ln/>
        </p:spPr>
        <p:txBody>
          <a:bodyPr wrap="square" rtlCol="0" anchor="ctr"/>
          <a:lstStyle/>
          <a:p>
            <a:pPr indent="0" marL="0">
              <a:buNone/>
            </a:pPr>
            <a:r>
              <a:rPr lang="en-US" sz="850" i="1" dirty="0">
                <a:solidFill>
                  <a:srgbClr val="6B7F84"/>
                </a:solidFill>
                <a:latin typeface="Arial" pitchFamily="34" charset="0"/>
                <a:ea typeface="Arial" pitchFamily="34" charset="-122"/>
                <a:cs typeface="Arial" pitchFamily="34" charset="-120"/>
              </a:rPr>
              <a:t>All figures generated from the accompanying financial model. Rs Lakh unless stated; 100 Lakh = 1 Crore.</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37744"/>
          </a:xfrm>
          <a:prstGeom prst="rect">
            <a:avLst/>
          </a:prstGeom>
          <a:noFill/>
          <a:ln/>
        </p:spPr>
        <p:txBody>
          <a:bodyPr wrap="square" rtlCol="0" anchor="ctr"/>
          <a:lstStyle/>
          <a:p>
            <a:pPr indent="0" marL="0">
              <a:buNone/>
            </a:pPr>
            <a:r>
              <a:rPr lang="en-US" sz="1050" b="1" spc="140" kern="0" dirty="0">
                <a:solidFill>
                  <a:srgbClr val="128C8A"/>
                </a:solidFill>
                <a:latin typeface="Arial" pitchFamily="34" charset="0"/>
                <a:ea typeface="Arial" pitchFamily="34" charset="-122"/>
                <a:cs typeface="Arial" pitchFamily="34" charset="-120"/>
              </a:rPr>
              <a:t>MARKET CONTEXT</a:t>
            </a:r>
            <a:endParaRPr lang="en-US" sz="1050" dirty="0"/>
          </a:p>
        </p:txBody>
      </p:sp>
      <p:sp>
        <p:nvSpPr>
          <p:cNvPr id="3" name="Text 1"/>
          <p:cNvSpPr/>
          <p:nvPr/>
        </p:nvSpPr>
        <p:spPr>
          <a:xfrm>
            <a:off x="566928" y="530352"/>
            <a:ext cx="11027664" cy="566928"/>
          </a:xfrm>
          <a:prstGeom prst="rect">
            <a:avLst/>
          </a:prstGeom>
          <a:noFill/>
          <a:ln/>
        </p:spPr>
        <p:txBody>
          <a:bodyPr wrap="square" rtlCol="0" anchor="ctr"/>
          <a:lstStyle/>
          <a:p>
            <a:pPr indent="0" marL="0">
              <a:buNone/>
            </a:pPr>
            <a:r>
              <a:rPr lang="en-US" sz="2700" b="1" dirty="0">
                <a:solidFill>
                  <a:srgbClr val="0E3B43"/>
                </a:solidFill>
                <a:latin typeface="Cambria" pitchFamily="34" charset="0"/>
                <a:ea typeface="Cambria" pitchFamily="34" charset="-122"/>
                <a:cs typeface="Cambria" pitchFamily="34" charset="-120"/>
              </a:rPr>
              <a:t>Why a hospital, and why a tier-2 city</a:t>
            </a:r>
            <a:endParaRPr lang="en-US" sz="2700" dirty="0"/>
          </a:p>
        </p:txBody>
      </p:sp>
      <p:sp>
        <p:nvSpPr>
          <p:cNvPr id="4" name="Shape 2"/>
          <p:cNvSpPr/>
          <p:nvPr/>
        </p:nvSpPr>
        <p:spPr>
          <a:xfrm>
            <a:off x="566928" y="1325880"/>
            <a:ext cx="2514600" cy="1207008"/>
          </a:xfrm>
          <a:prstGeom prst="roundRect">
            <a:avLst>
              <a:gd name="adj" fmla="val 4545"/>
            </a:avLst>
          </a:prstGeom>
          <a:solidFill>
            <a:srgbClr val="E8F4F2"/>
          </a:solidFill>
          <a:ln w="12700">
            <a:solidFill>
              <a:srgbClr val="5FB8B3"/>
            </a:solidFill>
            <a:prstDash val="solid"/>
          </a:ln>
        </p:spPr>
      </p:sp>
      <p:sp>
        <p:nvSpPr>
          <p:cNvPr id="5" name="Text 3"/>
          <p:cNvSpPr/>
          <p:nvPr/>
        </p:nvSpPr>
        <p:spPr>
          <a:xfrm>
            <a:off x="566928" y="1435608"/>
            <a:ext cx="2514600" cy="555224"/>
          </a:xfrm>
          <a:prstGeom prst="rect">
            <a:avLst/>
          </a:prstGeom>
          <a:noFill/>
          <a:ln/>
        </p:spPr>
        <p:txBody>
          <a:bodyPr wrap="square" lIns="0" tIns="0" rIns="0" bIns="0" rtlCol="0" anchor="ctr"/>
          <a:lstStyle/>
          <a:p>
            <a:pPr algn="ctr" indent="0" marL="0">
              <a:buNone/>
            </a:pPr>
            <a:r>
              <a:rPr lang="en-US" sz="3000" b="1" dirty="0">
                <a:solidFill>
                  <a:srgbClr val="0E3B43"/>
                </a:solidFill>
                <a:latin typeface="Cambria" pitchFamily="34" charset="0"/>
                <a:ea typeface="Cambria" pitchFamily="34" charset="-122"/>
                <a:cs typeface="Cambria" pitchFamily="34" charset="-120"/>
              </a:rPr>
              <a:t>62–64%</a:t>
            </a:r>
            <a:endParaRPr lang="en-US" sz="3000" dirty="0"/>
          </a:p>
        </p:txBody>
      </p:sp>
      <p:sp>
        <p:nvSpPr>
          <p:cNvPr id="6" name="Text 4"/>
          <p:cNvSpPr/>
          <p:nvPr/>
        </p:nvSpPr>
        <p:spPr>
          <a:xfrm>
            <a:off x="640080" y="1953524"/>
            <a:ext cx="2368296" cy="289682"/>
          </a:xfrm>
          <a:prstGeom prst="rect">
            <a:avLst/>
          </a:prstGeom>
          <a:noFill/>
          <a:ln/>
        </p:spPr>
        <p:txBody>
          <a:bodyPr wrap="square" lIns="0" tIns="0" rIns="0" bIns="0" rtlCol="0" anchor="ctr"/>
          <a:lstStyle/>
          <a:p>
            <a:pPr algn="ctr" indent="0" marL="0">
              <a:buNone/>
            </a:pPr>
            <a:r>
              <a:rPr lang="en-US" sz="1050" b="1" dirty="0">
                <a:solidFill>
                  <a:srgbClr val="1A2E33"/>
                </a:solidFill>
                <a:latin typeface="Arial" pitchFamily="34" charset="0"/>
                <a:ea typeface="Arial" pitchFamily="34" charset="-122"/>
                <a:cs typeface="Arial" pitchFamily="34" charset="-120"/>
              </a:rPr>
              <a:t>Sector occupancy</a:t>
            </a:r>
            <a:endParaRPr lang="en-US" sz="1050" dirty="0"/>
          </a:p>
        </p:txBody>
      </p:sp>
      <p:sp>
        <p:nvSpPr>
          <p:cNvPr id="7" name="Text 5"/>
          <p:cNvSpPr/>
          <p:nvPr/>
        </p:nvSpPr>
        <p:spPr>
          <a:xfrm>
            <a:off x="640080" y="2219066"/>
            <a:ext cx="2368296" cy="265542"/>
          </a:xfrm>
          <a:prstGeom prst="rect">
            <a:avLst/>
          </a:prstGeom>
          <a:noFill/>
          <a:ln/>
        </p:spPr>
        <p:txBody>
          <a:bodyPr wrap="square" lIns="0" tIns="0" rIns="0" bIns="0" rtlCol="0" anchor="ctr"/>
          <a:lstStyle/>
          <a:p>
            <a:pPr algn="ctr" indent="0" marL="0">
              <a:buNone/>
            </a:pPr>
            <a:r>
              <a:rPr lang="en-US" sz="850" dirty="0">
                <a:solidFill>
                  <a:srgbClr val="6B7F84"/>
                </a:solidFill>
                <a:latin typeface="Arial" pitchFamily="34" charset="0"/>
                <a:ea typeface="Arial" pitchFamily="34" charset="-122"/>
                <a:cs typeface="Arial" pitchFamily="34" charset="-120"/>
              </a:rPr>
              <a:t>ICRA, FY2026</a:t>
            </a:r>
            <a:endParaRPr lang="en-US" sz="850" dirty="0"/>
          </a:p>
        </p:txBody>
      </p:sp>
      <p:sp>
        <p:nvSpPr>
          <p:cNvPr id="8" name="Shape 6"/>
          <p:cNvSpPr/>
          <p:nvPr/>
        </p:nvSpPr>
        <p:spPr>
          <a:xfrm>
            <a:off x="3218688" y="1325880"/>
            <a:ext cx="2514600" cy="1207008"/>
          </a:xfrm>
          <a:prstGeom prst="roundRect">
            <a:avLst>
              <a:gd name="adj" fmla="val 4545"/>
            </a:avLst>
          </a:prstGeom>
          <a:solidFill>
            <a:srgbClr val="E8F4F2"/>
          </a:solidFill>
          <a:ln w="12700">
            <a:solidFill>
              <a:srgbClr val="5FB8B3"/>
            </a:solidFill>
            <a:prstDash val="solid"/>
          </a:ln>
        </p:spPr>
      </p:sp>
      <p:sp>
        <p:nvSpPr>
          <p:cNvPr id="9" name="Text 7"/>
          <p:cNvSpPr/>
          <p:nvPr/>
        </p:nvSpPr>
        <p:spPr>
          <a:xfrm>
            <a:off x="3218688" y="1435608"/>
            <a:ext cx="2514600" cy="555224"/>
          </a:xfrm>
          <a:prstGeom prst="rect">
            <a:avLst/>
          </a:prstGeom>
          <a:noFill/>
          <a:ln/>
        </p:spPr>
        <p:txBody>
          <a:bodyPr wrap="square" lIns="0" tIns="0" rIns="0" bIns="0" rtlCol="0" anchor="ctr"/>
          <a:lstStyle/>
          <a:p>
            <a:pPr algn="ctr" indent="0" marL="0">
              <a:buNone/>
            </a:pPr>
            <a:r>
              <a:rPr lang="en-US" sz="3000" b="1" dirty="0">
                <a:solidFill>
                  <a:srgbClr val="0E3B43"/>
                </a:solidFill>
                <a:latin typeface="Cambria" pitchFamily="34" charset="0"/>
                <a:ea typeface="Cambria" pitchFamily="34" charset="-122"/>
                <a:cs typeface="Cambria" pitchFamily="34" charset="-120"/>
              </a:rPr>
              <a:t>6–8%</a:t>
            </a:r>
            <a:endParaRPr lang="en-US" sz="3000" dirty="0"/>
          </a:p>
        </p:txBody>
      </p:sp>
      <p:sp>
        <p:nvSpPr>
          <p:cNvPr id="10" name="Text 8"/>
          <p:cNvSpPr/>
          <p:nvPr/>
        </p:nvSpPr>
        <p:spPr>
          <a:xfrm>
            <a:off x="3291840" y="1953524"/>
            <a:ext cx="2368296" cy="289682"/>
          </a:xfrm>
          <a:prstGeom prst="rect">
            <a:avLst/>
          </a:prstGeom>
          <a:noFill/>
          <a:ln/>
        </p:spPr>
        <p:txBody>
          <a:bodyPr wrap="square" lIns="0" tIns="0" rIns="0" bIns="0" rtlCol="0" anchor="ctr"/>
          <a:lstStyle/>
          <a:p>
            <a:pPr algn="ctr" indent="0" marL="0">
              <a:buNone/>
            </a:pPr>
            <a:r>
              <a:rPr lang="en-US" sz="1050" b="1" dirty="0">
                <a:solidFill>
                  <a:srgbClr val="1A2E33"/>
                </a:solidFill>
                <a:latin typeface="Arial" pitchFamily="34" charset="0"/>
                <a:ea typeface="Arial" pitchFamily="34" charset="-122"/>
                <a:cs typeface="Arial" pitchFamily="34" charset="-120"/>
              </a:rPr>
              <a:t>ARPOB growth p.a.</a:t>
            </a:r>
            <a:endParaRPr lang="en-US" sz="1050" dirty="0"/>
          </a:p>
        </p:txBody>
      </p:sp>
      <p:sp>
        <p:nvSpPr>
          <p:cNvPr id="11" name="Text 9"/>
          <p:cNvSpPr/>
          <p:nvPr/>
        </p:nvSpPr>
        <p:spPr>
          <a:xfrm>
            <a:off x="3291840" y="2219066"/>
            <a:ext cx="2368296" cy="265542"/>
          </a:xfrm>
          <a:prstGeom prst="rect">
            <a:avLst/>
          </a:prstGeom>
          <a:noFill/>
          <a:ln/>
        </p:spPr>
        <p:txBody>
          <a:bodyPr wrap="square" lIns="0" tIns="0" rIns="0" bIns="0" rtlCol="0" anchor="ctr"/>
          <a:lstStyle/>
          <a:p>
            <a:pPr algn="ctr" indent="0" marL="0">
              <a:buNone/>
            </a:pPr>
            <a:r>
              <a:rPr lang="en-US" sz="850" dirty="0">
                <a:solidFill>
                  <a:srgbClr val="6B7F84"/>
                </a:solidFill>
                <a:latin typeface="Arial" pitchFamily="34" charset="0"/>
                <a:ea typeface="Arial" pitchFamily="34" charset="-122"/>
                <a:cs typeface="Arial" pitchFamily="34" charset="-120"/>
              </a:rPr>
              <a:t>ICRA guidance</a:t>
            </a:r>
            <a:endParaRPr lang="en-US" sz="850" dirty="0"/>
          </a:p>
        </p:txBody>
      </p:sp>
      <p:sp>
        <p:nvSpPr>
          <p:cNvPr id="12" name="Shape 10"/>
          <p:cNvSpPr/>
          <p:nvPr/>
        </p:nvSpPr>
        <p:spPr>
          <a:xfrm>
            <a:off x="5870448" y="1325880"/>
            <a:ext cx="2514600" cy="1207008"/>
          </a:xfrm>
          <a:prstGeom prst="roundRect">
            <a:avLst>
              <a:gd name="adj" fmla="val 4545"/>
            </a:avLst>
          </a:prstGeom>
          <a:solidFill>
            <a:srgbClr val="E8F4F2"/>
          </a:solidFill>
          <a:ln w="12700">
            <a:solidFill>
              <a:srgbClr val="5FB8B3"/>
            </a:solidFill>
            <a:prstDash val="solid"/>
          </a:ln>
        </p:spPr>
      </p:sp>
      <p:sp>
        <p:nvSpPr>
          <p:cNvPr id="13" name="Text 11"/>
          <p:cNvSpPr/>
          <p:nvPr/>
        </p:nvSpPr>
        <p:spPr>
          <a:xfrm>
            <a:off x="5870448" y="1435608"/>
            <a:ext cx="2514600" cy="555224"/>
          </a:xfrm>
          <a:prstGeom prst="rect">
            <a:avLst/>
          </a:prstGeom>
          <a:noFill/>
          <a:ln/>
        </p:spPr>
        <p:txBody>
          <a:bodyPr wrap="square" lIns="0" tIns="0" rIns="0" bIns="0" rtlCol="0" anchor="ctr"/>
          <a:lstStyle/>
          <a:p>
            <a:pPr algn="ctr" indent="0" marL="0">
              <a:buNone/>
            </a:pPr>
            <a:r>
              <a:rPr lang="en-US" sz="3000" b="1" dirty="0">
                <a:solidFill>
                  <a:srgbClr val="0E3B43"/>
                </a:solidFill>
                <a:latin typeface="Cambria" pitchFamily="34" charset="0"/>
                <a:ea typeface="Cambria" pitchFamily="34" charset="-122"/>
                <a:cs typeface="Cambria" pitchFamily="34" charset="-120"/>
              </a:rPr>
              <a:t>22–24%</a:t>
            </a:r>
            <a:endParaRPr lang="en-US" sz="3000" dirty="0"/>
          </a:p>
        </p:txBody>
      </p:sp>
      <p:sp>
        <p:nvSpPr>
          <p:cNvPr id="14" name="Text 12"/>
          <p:cNvSpPr/>
          <p:nvPr/>
        </p:nvSpPr>
        <p:spPr>
          <a:xfrm>
            <a:off x="5943600" y="1953524"/>
            <a:ext cx="2368296" cy="289682"/>
          </a:xfrm>
          <a:prstGeom prst="rect">
            <a:avLst/>
          </a:prstGeom>
          <a:noFill/>
          <a:ln/>
        </p:spPr>
        <p:txBody>
          <a:bodyPr wrap="square" lIns="0" tIns="0" rIns="0" bIns="0" rtlCol="0" anchor="ctr"/>
          <a:lstStyle/>
          <a:p>
            <a:pPr algn="ctr" indent="0" marL="0">
              <a:buNone/>
            </a:pPr>
            <a:r>
              <a:rPr lang="en-US" sz="1050" b="1" dirty="0">
                <a:solidFill>
                  <a:srgbClr val="1A2E33"/>
                </a:solidFill>
                <a:latin typeface="Arial" pitchFamily="34" charset="0"/>
                <a:ea typeface="Arial" pitchFamily="34" charset="-122"/>
                <a:cs typeface="Arial" pitchFamily="34" charset="-120"/>
              </a:rPr>
              <a:t>Sector op. margin</a:t>
            </a:r>
            <a:endParaRPr lang="en-US" sz="1050" dirty="0"/>
          </a:p>
        </p:txBody>
      </p:sp>
      <p:sp>
        <p:nvSpPr>
          <p:cNvPr id="15" name="Text 13"/>
          <p:cNvSpPr/>
          <p:nvPr/>
        </p:nvSpPr>
        <p:spPr>
          <a:xfrm>
            <a:off x="5943600" y="2219066"/>
            <a:ext cx="2368296" cy="265542"/>
          </a:xfrm>
          <a:prstGeom prst="rect">
            <a:avLst/>
          </a:prstGeom>
          <a:noFill/>
          <a:ln/>
        </p:spPr>
        <p:txBody>
          <a:bodyPr wrap="square" lIns="0" tIns="0" rIns="0" bIns="0" rtlCol="0" anchor="ctr"/>
          <a:lstStyle/>
          <a:p>
            <a:pPr algn="ctr" indent="0" marL="0">
              <a:buNone/>
            </a:pPr>
            <a:r>
              <a:rPr lang="en-US" sz="850" dirty="0">
                <a:solidFill>
                  <a:srgbClr val="6B7F84"/>
                </a:solidFill>
                <a:latin typeface="Arial" pitchFamily="34" charset="0"/>
                <a:ea typeface="Arial" pitchFamily="34" charset="-122"/>
                <a:cs typeface="Arial" pitchFamily="34" charset="-120"/>
              </a:rPr>
              <a:t>ICRA, FY2026</a:t>
            </a:r>
            <a:endParaRPr lang="en-US" sz="850" dirty="0"/>
          </a:p>
        </p:txBody>
      </p:sp>
      <p:sp>
        <p:nvSpPr>
          <p:cNvPr id="16" name="Shape 14"/>
          <p:cNvSpPr/>
          <p:nvPr/>
        </p:nvSpPr>
        <p:spPr>
          <a:xfrm>
            <a:off x="8522208" y="1325880"/>
            <a:ext cx="3072384" cy="1207008"/>
          </a:xfrm>
          <a:prstGeom prst="roundRect">
            <a:avLst>
              <a:gd name="adj" fmla="val 4545"/>
            </a:avLst>
          </a:prstGeom>
          <a:solidFill>
            <a:srgbClr val="E8F4F2"/>
          </a:solidFill>
          <a:ln w="12700">
            <a:solidFill>
              <a:srgbClr val="5FB8B3"/>
            </a:solidFill>
            <a:prstDash val="solid"/>
          </a:ln>
        </p:spPr>
      </p:sp>
      <p:sp>
        <p:nvSpPr>
          <p:cNvPr id="17" name="Text 15"/>
          <p:cNvSpPr/>
          <p:nvPr/>
        </p:nvSpPr>
        <p:spPr>
          <a:xfrm>
            <a:off x="8522208" y="1435608"/>
            <a:ext cx="3072384" cy="555224"/>
          </a:xfrm>
          <a:prstGeom prst="rect">
            <a:avLst/>
          </a:prstGeom>
          <a:noFill/>
          <a:ln/>
        </p:spPr>
        <p:txBody>
          <a:bodyPr wrap="square" lIns="0" tIns="0" rIns="0" bIns="0" rtlCol="0" anchor="ctr"/>
          <a:lstStyle/>
          <a:p>
            <a:pPr algn="ctr" indent="0" marL="0">
              <a:buNone/>
            </a:pPr>
            <a:r>
              <a:rPr lang="en-US" sz="3000" b="1" dirty="0">
                <a:solidFill>
                  <a:srgbClr val="0E3B43"/>
                </a:solidFill>
                <a:latin typeface="Cambria" pitchFamily="34" charset="0"/>
                <a:ea typeface="Cambria" pitchFamily="34" charset="-122"/>
                <a:cs typeface="Cambria" pitchFamily="34" charset="-120"/>
              </a:rPr>
              <a:t>Rs 32,000 Cr</a:t>
            </a:r>
            <a:endParaRPr lang="en-US" sz="3000" dirty="0"/>
          </a:p>
        </p:txBody>
      </p:sp>
      <p:sp>
        <p:nvSpPr>
          <p:cNvPr id="18" name="Text 16"/>
          <p:cNvSpPr/>
          <p:nvPr/>
        </p:nvSpPr>
        <p:spPr>
          <a:xfrm>
            <a:off x="8595360" y="1953524"/>
            <a:ext cx="2926080" cy="289682"/>
          </a:xfrm>
          <a:prstGeom prst="rect">
            <a:avLst/>
          </a:prstGeom>
          <a:noFill/>
          <a:ln/>
        </p:spPr>
        <p:txBody>
          <a:bodyPr wrap="square" lIns="0" tIns="0" rIns="0" bIns="0" rtlCol="0" anchor="ctr"/>
          <a:lstStyle/>
          <a:p>
            <a:pPr algn="ctr" indent="0" marL="0">
              <a:buNone/>
            </a:pPr>
            <a:r>
              <a:rPr lang="en-US" sz="1050" b="1" dirty="0">
                <a:solidFill>
                  <a:srgbClr val="1A2E33"/>
                </a:solidFill>
                <a:latin typeface="Arial" pitchFamily="34" charset="0"/>
                <a:ea typeface="Arial" pitchFamily="34" charset="-122"/>
                <a:cs typeface="Arial" pitchFamily="34" charset="-120"/>
              </a:rPr>
              <a:t>Sector capex to FY27</a:t>
            </a:r>
            <a:endParaRPr lang="en-US" sz="1050" dirty="0"/>
          </a:p>
        </p:txBody>
      </p:sp>
      <p:sp>
        <p:nvSpPr>
          <p:cNvPr id="19" name="Text 17"/>
          <p:cNvSpPr/>
          <p:nvPr/>
        </p:nvSpPr>
        <p:spPr>
          <a:xfrm>
            <a:off x="8595360" y="2219066"/>
            <a:ext cx="2926080" cy="265542"/>
          </a:xfrm>
          <a:prstGeom prst="rect">
            <a:avLst/>
          </a:prstGeom>
          <a:noFill/>
          <a:ln/>
        </p:spPr>
        <p:txBody>
          <a:bodyPr wrap="square" lIns="0" tIns="0" rIns="0" bIns="0" rtlCol="0" anchor="ctr"/>
          <a:lstStyle/>
          <a:p>
            <a:pPr algn="ctr" indent="0" marL="0">
              <a:buNone/>
            </a:pPr>
            <a:r>
              <a:rPr lang="en-US" sz="850" dirty="0">
                <a:solidFill>
                  <a:srgbClr val="6B7F84"/>
                </a:solidFill>
                <a:latin typeface="Arial" pitchFamily="34" charset="0"/>
                <a:ea typeface="Arial" pitchFamily="34" charset="-122"/>
                <a:cs typeface="Arial" pitchFamily="34" charset="-120"/>
              </a:rPr>
              <a:t>~14,500 beds being added</a:t>
            </a:r>
            <a:endParaRPr lang="en-US" sz="850" dirty="0"/>
          </a:p>
        </p:txBody>
      </p:sp>
      <p:sp>
        <p:nvSpPr>
          <p:cNvPr id="20" name="Text 18"/>
          <p:cNvSpPr/>
          <p:nvPr/>
        </p:nvSpPr>
        <p:spPr>
          <a:xfrm>
            <a:off x="566928" y="2788920"/>
            <a:ext cx="11027664" cy="274320"/>
          </a:xfrm>
          <a:prstGeom prst="rect">
            <a:avLst/>
          </a:prstGeom>
          <a:noFill/>
          <a:ln/>
        </p:spPr>
        <p:txBody>
          <a:bodyPr wrap="square" rtlCol="0" anchor="ctr"/>
          <a:lstStyle/>
          <a:p>
            <a:pPr indent="0" marL="0">
              <a:buNone/>
            </a:pPr>
            <a:r>
              <a:rPr lang="en-US" sz="1300" b="1" dirty="0">
                <a:solidFill>
                  <a:srgbClr val="128C8A"/>
                </a:solidFill>
                <a:latin typeface="Arial" pitchFamily="34" charset="0"/>
                <a:ea typeface="Arial" pitchFamily="34" charset="-122"/>
                <a:cs typeface="Arial" pitchFamily="34" charset="-120"/>
              </a:rPr>
              <a:t>Three structural forces, all of which favour a tier-2 entrant</a:t>
            </a:r>
            <a:endParaRPr lang="en-US" sz="1300" dirty="0"/>
          </a:p>
        </p:txBody>
      </p:sp>
      <p:sp>
        <p:nvSpPr>
          <p:cNvPr id="21" name="Shape 19"/>
          <p:cNvSpPr/>
          <p:nvPr/>
        </p:nvSpPr>
        <p:spPr>
          <a:xfrm>
            <a:off x="566928" y="3182112"/>
            <a:ext cx="384048" cy="384048"/>
          </a:xfrm>
          <a:prstGeom prst="ellipse">
            <a:avLst/>
          </a:prstGeom>
          <a:solidFill>
            <a:srgbClr val="128C8A"/>
          </a:solidFill>
          <a:ln/>
        </p:spPr>
      </p:sp>
      <p:sp>
        <p:nvSpPr>
          <p:cNvPr id="22" name="Text 20"/>
          <p:cNvSpPr/>
          <p:nvPr/>
        </p:nvSpPr>
        <p:spPr>
          <a:xfrm>
            <a:off x="566928" y="31821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23" name="Text 21"/>
          <p:cNvSpPr/>
          <p:nvPr/>
        </p:nvSpPr>
        <p:spPr>
          <a:xfrm>
            <a:off x="1097280" y="3163824"/>
            <a:ext cx="2990088" cy="256032"/>
          </a:xfrm>
          <a:prstGeom prst="rect">
            <a:avLst/>
          </a:prstGeom>
          <a:noFill/>
          <a:ln/>
        </p:spPr>
        <p:txBody>
          <a:bodyPr wrap="square" lIns="0" tIns="0" rIns="0" bIns="0" rtlCol="0" anchor="ctr"/>
          <a:lstStyle/>
          <a:p>
            <a:pPr indent="0" marL="0">
              <a:buNone/>
            </a:pPr>
            <a:r>
              <a:rPr lang="en-US" sz="1300" b="1" dirty="0">
                <a:solidFill>
                  <a:srgbClr val="0E3B43"/>
                </a:solidFill>
                <a:latin typeface="Arial" pitchFamily="34" charset="0"/>
                <a:ea typeface="Arial" pitchFamily="34" charset="-122"/>
                <a:cs typeface="Arial" pitchFamily="34" charset="-120"/>
              </a:rPr>
              <a:t>Insurance penetration</a:t>
            </a:r>
            <a:endParaRPr lang="en-US" sz="1300" dirty="0"/>
          </a:p>
        </p:txBody>
      </p:sp>
      <p:sp>
        <p:nvSpPr>
          <p:cNvPr id="24" name="Text 22"/>
          <p:cNvSpPr/>
          <p:nvPr/>
        </p:nvSpPr>
        <p:spPr>
          <a:xfrm>
            <a:off x="1097280" y="3419856"/>
            <a:ext cx="2990088" cy="566928"/>
          </a:xfrm>
          <a:prstGeom prst="rect">
            <a:avLst/>
          </a:prstGeom>
          <a:noFill/>
          <a:ln/>
        </p:spPr>
        <p:txBody>
          <a:bodyPr wrap="square" lIns="0" tIns="0" rIns="0" bIns="0" rtlCol="0" anchor="ctr"/>
          <a:lstStyle/>
          <a:p>
            <a:pPr indent="0" marL="0">
              <a:lnSpc>
                <a:spcPct val="106000"/>
              </a:lnSpc>
              <a:buNone/>
            </a:pPr>
            <a:r>
              <a:rPr lang="en-US" sz="1050" dirty="0">
                <a:solidFill>
                  <a:srgbClr val="1A2E33"/>
                </a:solidFill>
                <a:latin typeface="Arial" pitchFamily="34" charset="0"/>
                <a:ea typeface="Arial" pitchFamily="34" charset="-122"/>
                <a:cs typeface="Arial" pitchFamily="34" charset="-120"/>
              </a:rPr>
              <a:t>Widening coverage converts latent demand into paying demand — and the shift is most pronounced outside the metros.</a:t>
            </a:r>
            <a:endParaRPr lang="en-US" sz="1050" dirty="0"/>
          </a:p>
        </p:txBody>
      </p:sp>
      <p:sp>
        <p:nvSpPr>
          <p:cNvPr id="25" name="Shape 23"/>
          <p:cNvSpPr/>
          <p:nvPr/>
        </p:nvSpPr>
        <p:spPr>
          <a:xfrm>
            <a:off x="4315968" y="3182112"/>
            <a:ext cx="384048" cy="384048"/>
          </a:xfrm>
          <a:prstGeom prst="ellipse">
            <a:avLst/>
          </a:prstGeom>
          <a:solidFill>
            <a:srgbClr val="128C8A"/>
          </a:solidFill>
          <a:ln/>
        </p:spPr>
      </p:sp>
      <p:sp>
        <p:nvSpPr>
          <p:cNvPr id="26" name="Text 24"/>
          <p:cNvSpPr/>
          <p:nvPr/>
        </p:nvSpPr>
        <p:spPr>
          <a:xfrm>
            <a:off x="4315968" y="31821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7" name="Text 25"/>
          <p:cNvSpPr/>
          <p:nvPr/>
        </p:nvSpPr>
        <p:spPr>
          <a:xfrm>
            <a:off x="4846320" y="3163824"/>
            <a:ext cx="2990088" cy="256032"/>
          </a:xfrm>
          <a:prstGeom prst="rect">
            <a:avLst/>
          </a:prstGeom>
          <a:noFill/>
          <a:ln/>
        </p:spPr>
        <p:txBody>
          <a:bodyPr wrap="square" lIns="0" tIns="0" rIns="0" bIns="0" rtlCol="0" anchor="ctr"/>
          <a:lstStyle/>
          <a:p>
            <a:pPr indent="0" marL="0">
              <a:buNone/>
            </a:pPr>
            <a:r>
              <a:rPr lang="en-US" sz="1300" b="1" dirty="0">
                <a:solidFill>
                  <a:srgbClr val="0E3B43"/>
                </a:solidFill>
                <a:latin typeface="Arial" pitchFamily="34" charset="0"/>
                <a:ea typeface="Arial" pitchFamily="34" charset="-122"/>
                <a:cs typeface="Arial" pitchFamily="34" charset="-120"/>
              </a:rPr>
              <a:t>Government schemes</a:t>
            </a:r>
            <a:endParaRPr lang="en-US" sz="1300" dirty="0"/>
          </a:p>
        </p:txBody>
      </p:sp>
      <p:sp>
        <p:nvSpPr>
          <p:cNvPr id="28" name="Text 26"/>
          <p:cNvSpPr/>
          <p:nvPr/>
        </p:nvSpPr>
        <p:spPr>
          <a:xfrm>
            <a:off x="4846320" y="3419856"/>
            <a:ext cx="2990088" cy="566928"/>
          </a:xfrm>
          <a:prstGeom prst="rect">
            <a:avLst/>
          </a:prstGeom>
          <a:noFill/>
          <a:ln/>
        </p:spPr>
        <p:txBody>
          <a:bodyPr wrap="square" lIns="0" tIns="0" rIns="0" bIns="0" rtlCol="0" anchor="ctr"/>
          <a:lstStyle/>
          <a:p>
            <a:pPr indent="0" marL="0">
              <a:lnSpc>
                <a:spcPct val="106000"/>
              </a:lnSpc>
              <a:buNone/>
            </a:pPr>
            <a:r>
              <a:rPr lang="en-US" sz="1050" dirty="0">
                <a:solidFill>
                  <a:srgbClr val="1A2E33"/>
                </a:solidFill>
                <a:latin typeface="Arial" pitchFamily="34" charset="0"/>
                <a:ea typeface="Arial" pitchFamily="34" charset="-122"/>
                <a:cs typeface="Arial" pitchFamily="34" charset="-120"/>
              </a:rPr>
              <a:t>PMJAY, CGHS and ESI have made tertiary care accessible to households that previously could not consider it.</a:t>
            </a:r>
            <a:endParaRPr lang="en-US" sz="1050" dirty="0"/>
          </a:p>
        </p:txBody>
      </p:sp>
      <p:sp>
        <p:nvSpPr>
          <p:cNvPr id="29" name="Shape 27"/>
          <p:cNvSpPr/>
          <p:nvPr/>
        </p:nvSpPr>
        <p:spPr>
          <a:xfrm>
            <a:off x="8065008" y="3182112"/>
            <a:ext cx="384048" cy="384048"/>
          </a:xfrm>
          <a:prstGeom prst="ellipse">
            <a:avLst/>
          </a:prstGeom>
          <a:solidFill>
            <a:srgbClr val="128C8A"/>
          </a:solidFill>
          <a:ln/>
        </p:spPr>
      </p:sp>
      <p:sp>
        <p:nvSpPr>
          <p:cNvPr id="30" name="Text 28"/>
          <p:cNvSpPr/>
          <p:nvPr/>
        </p:nvSpPr>
        <p:spPr>
          <a:xfrm>
            <a:off x="8065008" y="31821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31" name="Text 29"/>
          <p:cNvSpPr/>
          <p:nvPr/>
        </p:nvSpPr>
        <p:spPr>
          <a:xfrm>
            <a:off x="8595360" y="3163824"/>
            <a:ext cx="2999232" cy="256032"/>
          </a:xfrm>
          <a:prstGeom prst="rect">
            <a:avLst/>
          </a:prstGeom>
          <a:noFill/>
          <a:ln/>
        </p:spPr>
        <p:txBody>
          <a:bodyPr wrap="square" lIns="0" tIns="0" rIns="0" bIns="0" rtlCol="0" anchor="ctr"/>
          <a:lstStyle/>
          <a:p>
            <a:pPr indent="0" marL="0">
              <a:buNone/>
            </a:pPr>
            <a:r>
              <a:rPr lang="en-US" sz="1300" b="1" dirty="0">
                <a:solidFill>
                  <a:srgbClr val="0E3B43"/>
                </a:solidFill>
                <a:latin typeface="Arial" pitchFamily="34" charset="0"/>
                <a:ea typeface="Arial" pitchFamily="34" charset="-122"/>
                <a:cs typeface="Arial" pitchFamily="34" charset="-120"/>
              </a:rPr>
              <a:t>Supply still skewed to metros</a:t>
            </a:r>
            <a:endParaRPr lang="en-US" sz="1300" dirty="0"/>
          </a:p>
        </p:txBody>
      </p:sp>
      <p:sp>
        <p:nvSpPr>
          <p:cNvPr id="32" name="Text 30"/>
          <p:cNvSpPr/>
          <p:nvPr/>
        </p:nvSpPr>
        <p:spPr>
          <a:xfrm>
            <a:off x="8595360" y="3419856"/>
            <a:ext cx="2999232" cy="566928"/>
          </a:xfrm>
          <a:prstGeom prst="rect">
            <a:avLst/>
          </a:prstGeom>
          <a:noFill/>
          <a:ln/>
        </p:spPr>
        <p:txBody>
          <a:bodyPr wrap="square" lIns="0" tIns="0" rIns="0" bIns="0" rtlCol="0" anchor="ctr"/>
          <a:lstStyle/>
          <a:p>
            <a:pPr indent="0" marL="0">
              <a:lnSpc>
                <a:spcPct val="106000"/>
              </a:lnSpc>
              <a:buNone/>
            </a:pPr>
            <a:r>
              <a:rPr lang="en-US" sz="1050" dirty="0">
                <a:solidFill>
                  <a:srgbClr val="1A2E33"/>
                </a:solidFill>
                <a:latin typeface="Arial" pitchFamily="34" charset="0"/>
                <a:ea typeface="Arial" pitchFamily="34" charset="-122"/>
                <a:cs typeface="Arial" pitchFamily="34" charset="-120"/>
              </a:rPr>
              <a:t>Patients from Nashik travel to Mumbai and Pune for anything beyond secondary care. Every journey is addressable demand.</a:t>
            </a:r>
            <a:endParaRPr lang="en-US" sz="1050" dirty="0"/>
          </a:p>
        </p:txBody>
      </p:sp>
      <p:sp>
        <p:nvSpPr>
          <p:cNvPr id="33" name="Shape 31"/>
          <p:cNvSpPr/>
          <p:nvPr/>
        </p:nvSpPr>
        <p:spPr>
          <a:xfrm>
            <a:off x="566928" y="4526280"/>
            <a:ext cx="11027664" cy="1417320"/>
          </a:xfrm>
          <a:prstGeom prst="roundRect">
            <a:avLst>
              <a:gd name="adj" fmla="val 3871"/>
            </a:avLst>
          </a:prstGeom>
          <a:solidFill>
            <a:srgbClr val="F4F7F7"/>
          </a:solidFill>
          <a:ln w="12700">
            <a:solidFill>
              <a:srgbClr val="DDE6E7"/>
            </a:solidFill>
            <a:prstDash val="solid"/>
          </a:ln>
        </p:spPr>
      </p:sp>
      <p:sp>
        <p:nvSpPr>
          <p:cNvPr id="34" name="Text 32"/>
          <p:cNvSpPr/>
          <p:nvPr/>
        </p:nvSpPr>
        <p:spPr>
          <a:xfrm>
            <a:off x="841248" y="4681728"/>
            <a:ext cx="10479024" cy="256032"/>
          </a:xfrm>
          <a:prstGeom prst="rect">
            <a:avLst/>
          </a:prstGeom>
          <a:noFill/>
          <a:ln/>
        </p:spPr>
        <p:txBody>
          <a:bodyPr wrap="square" rtlCol="0" anchor="ctr"/>
          <a:lstStyle/>
          <a:p>
            <a:pPr indent="0" marL="0">
              <a:buNone/>
            </a:pPr>
            <a:r>
              <a:rPr lang="en-US" sz="1250" b="1" dirty="0">
                <a:solidFill>
                  <a:srgbClr val="0E3B43"/>
                </a:solidFill>
                <a:latin typeface="Arial" pitchFamily="34" charset="0"/>
                <a:ea typeface="Arial" pitchFamily="34" charset="-122"/>
                <a:cs typeface="Arial" pitchFamily="34" charset="-120"/>
              </a:rPr>
              <a:t>The competitive strategy is deliberately narrow</a:t>
            </a:r>
            <a:endParaRPr lang="en-US" sz="1250" dirty="0"/>
          </a:p>
        </p:txBody>
      </p:sp>
      <p:sp>
        <p:nvSpPr>
          <p:cNvPr id="35" name="Text 33"/>
          <p:cNvSpPr/>
          <p:nvPr/>
        </p:nvSpPr>
        <p:spPr>
          <a:xfrm>
            <a:off x="841248" y="4974336"/>
            <a:ext cx="10479024" cy="868680"/>
          </a:xfrm>
          <a:prstGeom prst="rect">
            <a:avLst/>
          </a:prstGeom>
          <a:noFill/>
          <a:ln/>
        </p:spPr>
        <p:txBody>
          <a:bodyPr wrap="square" rtlCol="0" anchor="ctr"/>
          <a:lstStyle/>
          <a:p>
            <a:pPr indent="0" marL="0">
              <a:lnSpc>
                <a:spcPct val="110000"/>
              </a:lnSpc>
              <a:buNone/>
            </a:pPr>
            <a:r>
              <a:rPr lang="en-US" sz="1100" dirty="0">
                <a:solidFill>
                  <a:srgbClr val="1A2E33"/>
                </a:solidFill>
                <a:latin typeface="Arial" pitchFamily="34" charset="0"/>
                <a:ea typeface="Arial" pitchFamily="34" charset="-122"/>
                <a:cs typeface="Arial" pitchFamily="34" charset="-120"/>
              </a:rPr>
              <a:t>Do not out-compete incumbents on general medicine and routine surgery, where they hold referral incumbency and a lower cost base. Compete where organised capacity is genuinely absent in the catchment: interventional cardiology, joint replacement, Level-III neonatal care and critical care. The cath lab is what allows this facility to be tertiary-lite rather than another nursing home — and without it the ARPOB assumptions in this plan are not defensible.</a:t>
            </a:r>
            <a:endParaRPr lang="en-US" sz="1100" dirty="0"/>
          </a:p>
        </p:txBody>
      </p:sp>
      <p:sp>
        <p:nvSpPr>
          <p:cNvPr id="36" name="Text 34"/>
          <p:cNvSpPr/>
          <p:nvPr/>
        </p:nvSpPr>
        <p:spPr>
          <a:xfrm>
            <a:off x="566928" y="6473952"/>
            <a:ext cx="11027664" cy="219456"/>
          </a:xfrm>
          <a:prstGeom prst="rect">
            <a:avLst/>
          </a:prstGeom>
          <a:noFill/>
          <a:ln/>
        </p:spPr>
        <p:txBody>
          <a:bodyPr wrap="square" rtlCol="0" anchor="ctr"/>
          <a:lstStyle/>
          <a:p>
            <a:pPr indent="0" marL="0">
              <a:buNone/>
            </a:pPr>
            <a:r>
              <a:rPr lang="en-US" sz="850" i="1" dirty="0">
                <a:solidFill>
                  <a:srgbClr val="6B7F84"/>
                </a:solidFill>
                <a:latin typeface="Arial" pitchFamily="34" charset="0"/>
                <a:ea typeface="Arial" pitchFamily="34" charset="-122"/>
                <a:cs typeface="Arial" pitchFamily="34" charset="-120"/>
              </a:rPr>
              <a:t>Source: ICRA Indian Hospital Industry research, FY2026 and FY2027 outlook. Catchment and competitor assessment are constructed estimates for this case study.</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37744"/>
          </a:xfrm>
          <a:prstGeom prst="rect">
            <a:avLst/>
          </a:prstGeom>
          <a:noFill/>
          <a:ln/>
        </p:spPr>
        <p:txBody>
          <a:bodyPr wrap="square" rtlCol="0" anchor="ctr"/>
          <a:lstStyle/>
          <a:p>
            <a:pPr indent="0" marL="0">
              <a:buNone/>
            </a:pPr>
            <a:r>
              <a:rPr lang="en-US" sz="1050" b="1" spc="140" kern="0" dirty="0">
                <a:solidFill>
                  <a:srgbClr val="128C8A"/>
                </a:solidFill>
                <a:latin typeface="Arial" pitchFamily="34" charset="0"/>
                <a:ea typeface="Arial" pitchFamily="34" charset="-122"/>
                <a:cs typeface="Arial" pitchFamily="34" charset="-120"/>
              </a:rPr>
              <a:t>THE FACILITY</a:t>
            </a:r>
            <a:endParaRPr lang="en-US" sz="1050" dirty="0"/>
          </a:p>
        </p:txBody>
      </p:sp>
      <p:sp>
        <p:nvSpPr>
          <p:cNvPr id="3" name="Text 1"/>
          <p:cNvSpPr/>
          <p:nvPr/>
        </p:nvSpPr>
        <p:spPr>
          <a:xfrm>
            <a:off x="566928" y="530352"/>
            <a:ext cx="11027664" cy="566928"/>
          </a:xfrm>
          <a:prstGeom prst="rect">
            <a:avLst/>
          </a:prstGeom>
          <a:noFill/>
          <a:ln/>
        </p:spPr>
        <p:txBody>
          <a:bodyPr wrap="square" rtlCol="0" anchor="ctr"/>
          <a:lstStyle/>
          <a:p>
            <a:pPr indent="0" marL="0">
              <a:buNone/>
            </a:pPr>
            <a:r>
              <a:rPr lang="en-US" sz="2700" b="1" dirty="0">
                <a:solidFill>
                  <a:srgbClr val="0E3B43"/>
                </a:solidFill>
                <a:latin typeface="Cambria" pitchFamily="34" charset="0"/>
                <a:ea typeface="Cambria" pitchFamily="34" charset="-122"/>
                <a:cs typeface="Cambria" pitchFamily="34" charset="-120"/>
              </a:rPr>
              <a:t>100 beds, weighted deliberately to higher acuity</a:t>
            </a:r>
            <a:endParaRPr lang="en-US" sz="2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4709160" cy="914400"/>
        </p:xfrm>
        <a:graphic>
          <a:graphicData uri="http://schemas.openxmlformats.org/drawingml/2006/table">
            <a:tbl>
              <a:tblPr/>
              <a:tblGrid>
                <a:gridCol w="3017520"/>
                <a:gridCol w="777240"/>
                <a:gridCol w="914400"/>
              </a:tblGrid>
              <a:tr h="265176">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Bed category</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Beds</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 of total</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r>
              <a:tr h="265176">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General ward (multi-bedded)</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34</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34%</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265176">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Semi-private (twin sharing)</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18</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18%</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r h="265176">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Private / deluxe room</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12</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12%</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265176">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ICU - medical &amp; surgical</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14</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14%</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r h="265176">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CCU - coronary care</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6</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6%</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265176">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NICU / PICU</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8</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8%</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r h="265176">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HDU / step-down</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5</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5%</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265176">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Isolation / negative pressure</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3</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3%</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r h="265176">
                <a:tc>
                  <a:txBody>
                    <a:bodyPr/>
                    <a:lstStyle/>
                    <a:p>
                      <a:pPr algn="l" indent="0" marL="0">
                        <a:buNone/>
                      </a:pPr>
                      <a:r>
                        <a:rPr lang="en-US" sz="1000" b="1" dirty="0">
                          <a:solidFill>
                            <a:srgbClr val="1A2E33"/>
                          </a:solidFill>
                          <a:latin typeface="Arial" pitchFamily="34" charset="0"/>
                          <a:ea typeface="Arial" pitchFamily="34" charset="-122"/>
                          <a:cs typeface="Arial" pitchFamily="34" charset="-120"/>
                        </a:rPr>
                        <a:t>Total</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A2E33"/>
                          </a:solidFill>
                          <a:latin typeface="Arial" pitchFamily="34" charset="0"/>
                          <a:ea typeface="Arial" pitchFamily="34" charset="-122"/>
                          <a:cs typeface="Arial" pitchFamily="34" charset="-120"/>
                        </a:rPr>
                        <a:t>100</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A2E33"/>
                          </a:solidFill>
                          <a:latin typeface="Arial" pitchFamily="34" charset="0"/>
                          <a:ea typeface="Arial" pitchFamily="34" charset="-122"/>
                          <a:cs typeface="Arial" pitchFamily="34" charset="-120"/>
                        </a:rPr>
                        <a:t>100%</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bl>
          </a:graphicData>
        </a:graphic>
      </p:graphicFrame>
      <p:sp>
        <p:nvSpPr>
          <p:cNvPr id="5" name="Text 2"/>
          <p:cNvSpPr/>
          <p:nvPr/>
        </p:nvSpPr>
        <p:spPr>
          <a:xfrm>
            <a:off x="5687568" y="1325880"/>
            <a:ext cx="5852160" cy="274320"/>
          </a:xfrm>
          <a:prstGeom prst="rect">
            <a:avLst/>
          </a:prstGeom>
          <a:noFill/>
          <a:ln/>
        </p:spPr>
        <p:txBody>
          <a:bodyPr wrap="square" rtlCol="0" anchor="ctr"/>
          <a:lstStyle/>
          <a:p>
            <a:pPr indent="0" marL="0">
              <a:buNone/>
            </a:pPr>
            <a:r>
              <a:rPr lang="en-US" sz="1400" b="1" dirty="0">
                <a:solidFill>
                  <a:srgbClr val="128C8A"/>
                </a:solidFill>
                <a:latin typeface="Arial" pitchFamily="34" charset="0"/>
                <a:ea typeface="Arial" pitchFamily="34" charset="-122"/>
                <a:cs typeface="Arial" pitchFamily="34" charset="-120"/>
              </a:rPr>
              <a:t>33 of 100 beds are critical care</a:t>
            </a:r>
            <a:endParaRPr lang="en-US" sz="1400" dirty="0"/>
          </a:p>
        </p:txBody>
      </p:sp>
      <p:sp>
        <p:nvSpPr>
          <p:cNvPr id="6" name="Text 3"/>
          <p:cNvSpPr/>
          <p:nvPr/>
        </p:nvSpPr>
        <p:spPr>
          <a:xfrm>
            <a:off x="5687568" y="1691640"/>
            <a:ext cx="5852160" cy="2011680"/>
          </a:xfrm>
          <a:prstGeom prst="rect">
            <a:avLst/>
          </a:prstGeom>
          <a:noFill/>
          <a:ln/>
        </p:spPr>
        <p:txBody>
          <a:bodyPr wrap="square" rtlCol="0" anchor="ctr"/>
          <a:lstStyle/>
          <a:p>
            <a:pPr indent="0" marL="0">
              <a:lnSpc>
                <a:spcPct val="112000"/>
              </a:lnSpc>
              <a:spcAft>
                <a:spcPts val="1000"/>
              </a:spcAft>
              <a:buNone/>
            </a:pPr>
            <a:r>
              <a:rPr lang="en-US" sz="1100" dirty="0">
                <a:solidFill>
                  <a:srgbClr val="1A2E33"/>
                </a:solidFill>
                <a:latin typeface="Arial" pitchFamily="34" charset="0"/>
                <a:ea typeface="Arial" pitchFamily="34" charset="-122"/>
                <a:cs typeface="Arial" pitchFamily="34" charset="-120"/>
              </a:rPr>
              <a:t>That share is high for a 100-bed facility and it drives cost in three directions at once — equipment intensity, medical-gas and HVAC engineering, and nursing ratios.</a:t>
            </a:r>
            <a:endParaRPr lang="en-US" sz="1100" dirty="0"/>
          </a:p>
          <a:p>
            <a:pPr indent="0" marL="0">
              <a:lnSpc>
                <a:spcPct val="112000"/>
              </a:lnSpc>
              <a:spcAft>
                <a:spcPts val="1000"/>
              </a:spcAft>
              <a:buNone/>
            </a:pPr>
            <a:r>
              <a:rPr lang="en-US" sz="1100" dirty="0">
                <a:solidFill>
                  <a:srgbClr val="1A2E33"/>
                </a:solidFill>
                <a:latin typeface="Arial" pitchFamily="34" charset="0"/>
                <a:ea typeface="Arial" pitchFamily="34" charset="-122"/>
                <a:cs typeface="Arial" pitchFamily="34" charset="-120"/>
              </a:rPr>
              <a:t>It is justified on two grounds. Critical-care capacity is the scarcest resource in the catchment, and it is what makes the cardiac and neonatal programmes credible. A facility built to minimise capital cost would carry 15% critical care and earn a materially lower ARPOB.</a:t>
            </a:r>
            <a:endParaRPr lang="en-US" sz="1100" dirty="0"/>
          </a:p>
          <a:p>
            <a:pPr indent="0" marL="0">
              <a:lnSpc>
                <a:spcPct val="112000"/>
              </a:lnSpc>
              <a:buNone/>
            </a:pPr>
            <a:r>
              <a:rPr lang="en-US" sz="1100" dirty="0">
                <a:solidFill>
                  <a:srgbClr val="1A2E33"/>
                </a:solidFill>
                <a:latin typeface="Arial" pitchFamily="34" charset="0"/>
                <a:ea typeface="Arial" pitchFamily="34" charset="-122"/>
                <a:cs typeface="Arial" pitchFamily="34" charset="-120"/>
              </a:rPr>
              <a:t>It is also the single largest contributor to the Year-1 operating loss, because a licensed unit with 33 critical-care beds must be staffed to run them from the day it opens — occupied or not.</a:t>
            </a:r>
            <a:endParaRPr lang="en-US" sz="110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5687568" y="3886200"/>
          <a:ext cx="5852160" cy="914400"/>
        </p:xfrm>
        <a:graphic>
          <a:graphicData uri="http://schemas.openxmlformats.org/drawingml/2006/table">
            <a:tbl>
              <a:tblPr/>
              <a:tblGrid>
                <a:gridCol w="1828800"/>
                <a:gridCol w="4023360"/>
              </a:tblGrid>
              <a:tr h="27432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Component</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Specification</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r>
              <a:tr h="274320">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Built-up area</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1,05,000 sq ft  (1050 sq ft per bed)</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274320">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Land</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2 acres freehold, with FSI headroom for Phase 2</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r h="274320">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Operation theatres</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4 — three major modular, one minor / emergency</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274320">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Cath lab</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1 single-plane, with a 6-bed coronary care unit alongside</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r h="274320">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Imaging</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128-slice CT, DR, C-arm, ultrasound. MRI deferred to Year 3</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274320">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Dialysis</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10 stations, three shifts a day</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bl>
          </a:graphicData>
        </a:graphic>
      </p:graphicFrame>
      <p:sp>
        <p:nvSpPr>
          <p:cNvPr id="8" name="Text 4"/>
          <p:cNvSpPr/>
          <p:nvPr/>
        </p:nvSpPr>
        <p:spPr>
          <a:xfrm>
            <a:off x="566928" y="6473952"/>
            <a:ext cx="11027664" cy="219456"/>
          </a:xfrm>
          <a:prstGeom prst="rect">
            <a:avLst/>
          </a:prstGeom>
          <a:noFill/>
          <a:ln/>
        </p:spPr>
        <p:txBody>
          <a:bodyPr wrap="square" rtlCol="0" anchor="ctr"/>
          <a:lstStyle/>
          <a:p>
            <a:pPr indent="0" marL="0">
              <a:buNone/>
            </a:pPr>
            <a:r>
              <a:rPr lang="en-US" sz="850" i="1" dirty="0">
                <a:solidFill>
                  <a:srgbClr val="6B7F84"/>
                </a:solidFill>
                <a:latin typeface="Arial" pitchFamily="34" charset="0"/>
                <a:ea typeface="Arial" pitchFamily="34" charset="-122"/>
                <a:cs typeface="Arial" pitchFamily="34" charset="-120"/>
              </a:rPr>
              <a:t>Deferring the MRI to Year 3 removes Rs 5.5 Cr from the amount borrowed — a deliberate capital-discipline decision, not an omission.</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37744"/>
          </a:xfrm>
          <a:prstGeom prst="rect">
            <a:avLst/>
          </a:prstGeom>
          <a:noFill/>
          <a:ln/>
        </p:spPr>
        <p:txBody>
          <a:bodyPr wrap="square" rtlCol="0" anchor="ctr"/>
          <a:lstStyle/>
          <a:p>
            <a:pPr indent="0" marL="0">
              <a:buNone/>
            </a:pPr>
            <a:r>
              <a:rPr lang="en-US" sz="1050" b="1" spc="140" kern="0" dirty="0">
                <a:solidFill>
                  <a:srgbClr val="128C8A"/>
                </a:solidFill>
                <a:latin typeface="Arial" pitchFamily="34" charset="0"/>
                <a:ea typeface="Arial" pitchFamily="34" charset="-122"/>
                <a:cs typeface="Arial" pitchFamily="34" charset="-120"/>
              </a:rPr>
              <a:t>DEMAND</a:t>
            </a:r>
            <a:endParaRPr lang="en-US" sz="1050" dirty="0"/>
          </a:p>
        </p:txBody>
      </p:sp>
      <p:sp>
        <p:nvSpPr>
          <p:cNvPr id="3" name="Text 1"/>
          <p:cNvSpPr/>
          <p:nvPr/>
        </p:nvSpPr>
        <p:spPr>
          <a:xfrm>
            <a:off x="566928" y="530352"/>
            <a:ext cx="11027664" cy="566928"/>
          </a:xfrm>
          <a:prstGeom prst="rect">
            <a:avLst/>
          </a:prstGeom>
          <a:noFill/>
          <a:ln/>
        </p:spPr>
        <p:txBody>
          <a:bodyPr wrap="square" rtlCol="0" anchor="ctr"/>
          <a:lstStyle/>
          <a:p>
            <a:pPr indent="0" marL="0">
              <a:buNone/>
            </a:pPr>
            <a:r>
              <a:rPr lang="en-US" sz="2700" b="1" dirty="0">
                <a:solidFill>
                  <a:srgbClr val="0E3B43"/>
                </a:solidFill>
                <a:latin typeface="Cambria" pitchFamily="34" charset="0"/>
                <a:ea typeface="Cambria" pitchFamily="34" charset="-122"/>
                <a:cs typeface="Cambria" pitchFamily="34" charset="-120"/>
              </a:rPr>
              <a:t>The hospital needs a modest share of its market</a:t>
            </a:r>
            <a:endParaRPr lang="en-US" sz="27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8595360" cy="914400"/>
        </p:xfrm>
        <a:graphic>
          <a:graphicData uri="http://schemas.openxmlformats.org/drawingml/2006/table">
            <a:tbl>
              <a:tblPr/>
              <a:tblGrid>
                <a:gridCol w="3840480"/>
                <a:gridCol w="3291840"/>
                <a:gridCol w="1463040"/>
              </a:tblGrid>
              <a:tr h="292608">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Step</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Basis</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Estimate</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r>
              <a:tr h="292608">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Primary catchment population</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Nashik city and peri-urban belt</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21,00,000</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292608">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Annual hospitalisation episodes</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At approx. 3.4% of population</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71,400</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r h="292608">
                <a:tc>
                  <a:txBody>
                    <a:bodyPr/>
                    <a:lstStyle/>
                    <a:p>
                      <a:pPr algn="l" indent="0" marL="0">
                        <a:buNone/>
                      </a:pPr>
                      <a:r>
                        <a:rPr lang="en-US" sz="1000" b="1" dirty="0">
                          <a:solidFill>
                            <a:srgbClr val="1A2E33"/>
                          </a:solidFill>
                          <a:latin typeface="Arial" pitchFamily="34" charset="0"/>
                          <a:ea typeface="Arial" pitchFamily="34" charset="-122"/>
                          <a:cs typeface="Arial" pitchFamily="34" charset="-120"/>
                        </a:rPr>
                        <a:t>Addressable by organised private care</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Approx. 45%</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A2E33"/>
                          </a:solidFill>
                          <a:latin typeface="Arial" pitchFamily="34" charset="0"/>
                          <a:ea typeface="Arial" pitchFamily="34" charset="-122"/>
                          <a:cs typeface="Arial" pitchFamily="34" charset="-120"/>
                        </a:rPr>
                        <a:t>32,130</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292608">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    of which higher-acuity</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Approx. 55% of that pool</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17,672</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r h="292608">
                <a:tc>
                  <a:txBody>
                    <a:bodyPr/>
                    <a:lstStyle/>
                    <a:p>
                      <a:pPr algn="l" indent="0" marL="0">
                        <a:buNone/>
                      </a:pPr>
                      <a:r>
                        <a:rPr lang="en-US" sz="1000" b="1" dirty="0">
                          <a:solidFill>
                            <a:srgbClr val="1A2E33"/>
                          </a:solidFill>
                          <a:latin typeface="Arial" pitchFamily="34" charset="0"/>
                          <a:ea typeface="Arial" pitchFamily="34" charset="-122"/>
                          <a:cs typeface="Arial" pitchFamily="34" charset="-120"/>
                        </a:rPr>
                        <a:t>Admissions needed in Year 5</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E8F4F2"/>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Bed-days / ALOS 3.9</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E8F4F2"/>
                    </a:solidFill>
                  </a:tcPr>
                </a:tc>
                <a:tc>
                  <a:txBody>
                    <a:bodyPr/>
                    <a:lstStyle/>
                    <a:p>
                      <a:pPr algn="ctr" indent="0" marL="0">
                        <a:buNone/>
                      </a:pPr>
                      <a:r>
                        <a:rPr lang="en-US" sz="1000" b="1" dirty="0">
                          <a:solidFill>
                            <a:srgbClr val="1A2E33"/>
                          </a:solidFill>
                          <a:latin typeface="Arial" pitchFamily="34" charset="0"/>
                          <a:ea typeface="Arial" pitchFamily="34" charset="-122"/>
                          <a:cs typeface="Arial" pitchFamily="34" charset="-120"/>
                        </a:rPr>
                        <a:t>6,536</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E8F4F2"/>
                    </a:solidFill>
                  </a:tcPr>
                </a:tc>
              </a:tr>
              <a:tr h="292608">
                <a:tc>
                  <a:txBody>
                    <a:bodyPr/>
                    <a:lstStyle/>
                    <a:p>
                      <a:pPr algn="l" indent="0" marL="0">
                        <a:buNone/>
                      </a:pPr>
                      <a:r>
                        <a:rPr lang="en-US" sz="1000" b="1" dirty="0">
                          <a:solidFill>
                            <a:srgbClr val="1A2E33"/>
                          </a:solidFill>
                          <a:latin typeface="Arial" pitchFamily="34" charset="0"/>
                          <a:ea typeface="Arial" pitchFamily="34" charset="-122"/>
                          <a:cs typeface="Arial" pitchFamily="34" charset="-120"/>
                        </a:rPr>
                        <a:t>Required share of addressable pool</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E8F4F2"/>
                    </a:solidFill>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E8F4F2"/>
                    </a:solidFill>
                  </a:tcPr>
                </a:tc>
                <a:tc>
                  <a:txBody>
                    <a:bodyPr/>
                    <a:lstStyle/>
                    <a:p>
                      <a:pPr algn="ctr" indent="0" marL="0">
                        <a:buNone/>
                      </a:pPr>
                      <a:r>
                        <a:rPr lang="en-US" sz="1000" b="1" dirty="0">
                          <a:solidFill>
                            <a:srgbClr val="1A2E33"/>
                          </a:solidFill>
                          <a:latin typeface="Arial" pitchFamily="34" charset="0"/>
                          <a:ea typeface="Arial" pitchFamily="34" charset="-122"/>
                          <a:cs typeface="Arial" pitchFamily="34" charset="-120"/>
                        </a:rPr>
                        <a:t>20.3%</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E8F4F2"/>
                    </a:solidFill>
                  </a:tcPr>
                </a:tc>
              </a:tr>
            </a:tbl>
          </a:graphicData>
        </a:graphic>
      </p:graphicFrame>
      <p:sp>
        <p:nvSpPr>
          <p:cNvPr id="5" name="Shape 2"/>
          <p:cNvSpPr/>
          <p:nvPr/>
        </p:nvSpPr>
        <p:spPr>
          <a:xfrm>
            <a:off x="9345168" y="1325880"/>
            <a:ext cx="2249424" cy="2011680"/>
          </a:xfrm>
          <a:prstGeom prst="roundRect">
            <a:avLst>
              <a:gd name="adj" fmla="val 2727"/>
            </a:avLst>
          </a:prstGeom>
          <a:solidFill>
            <a:srgbClr val="0E3B43"/>
          </a:solidFill>
          <a:ln/>
        </p:spPr>
      </p:sp>
      <p:sp>
        <p:nvSpPr>
          <p:cNvPr id="6" name="Text 3"/>
          <p:cNvSpPr/>
          <p:nvPr/>
        </p:nvSpPr>
        <p:spPr>
          <a:xfrm>
            <a:off x="9345168" y="1572768"/>
            <a:ext cx="2249424" cy="777240"/>
          </a:xfrm>
          <a:prstGeom prst="rect">
            <a:avLst/>
          </a:prstGeom>
          <a:noFill/>
          <a:ln/>
        </p:spPr>
        <p:txBody>
          <a:bodyPr wrap="square" lIns="0" tIns="0" rIns="0" bIns="0" rtlCol="0" anchor="ctr"/>
          <a:lstStyle/>
          <a:p>
            <a:pPr algn="ctr" indent="0" marL="0">
              <a:buNone/>
            </a:pPr>
            <a:r>
              <a:rPr lang="en-US" sz="4000" b="1" dirty="0">
                <a:solidFill>
                  <a:srgbClr val="E8A33D"/>
                </a:solidFill>
                <a:latin typeface="Cambria" pitchFamily="34" charset="0"/>
                <a:ea typeface="Cambria" pitchFamily="34" charset="-122"/>
                <a:cs typeface="Cambria" pitchFamily="34" charset="-120"/>
              </a:rPr>
              <a:t>20%</a:t>
            </a:r>
            <a:endParaRPr lang="en-US" sz="4000" dirty="0"/>
          </a:p>
        </p:txBody>
      </p:sp>
      <p:sp>
        <p:nvSpPr>
          <p:cNvPr id="7" name="Text 4"/>
          <p:cNvSpPr/>
          <p:nvPr/>
        </p:nvSpPr>
        <p:spPr>
          <a:xfrm>
            <a:off x="9436608" y="2395728"/>
            <a:ext cx="2066544" cy="731520"/>
          </a:xfrm>
          <a:prstGeom prst="rect">
            <a:avLst/>
          </a:prstGeom>
          <a:noFill/>
          <a:ln/>
        </p:spPr>
        <p:txBody>
          <a:bodyPr wrap="square" lIns="0" tIns="0" rIns="0" bIns="0"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market share</a:t>
            </a:r>
            <a:endParaRPr lang="en-US" sz="1100" dirty="0"/>
          </a:p>
          <a:p>
            <a:pPr algn="ctr" indent="0" marL="0">
              <a:buNone/>
            </a:pPr>
            <a:r>
              <a:rPr lang="en-US" sz="1100" dirty="0">
                <a:solidFill>
                  <a:srgbClr val="FFFFFF"/>
                </a:solidFill>
                <a:latin typeface="Arial" pitchFamily="34" charset="0"/>
                <a:ea typeface="Arial" pitchFamily="34" charset="-122"/>
                <a:cs typeface="Arial" pitchFamily="34" charset="-120"/>
              </a:rPr>
              <a:t>required by Year 5</a:t>
            </a:r>
            <a:endParaRPr lang="en-US" sz="1100" dirty="0"/>
          </a:p>
        </p:txBody>
      </p:sp>
      <p:sp>
        <p:nvSpPr>
          <p:cNvPr id="8" name="Text 5"/>
          <p:cNvSpPr/>
          <p:nvPr/>
        </p:nvSpPr>
        <p:spPr>
          <a:xfrm>
            <a:off x="566928" y="3611880"/>
            <a:ext cx="5394960" cy="274320"/>
          </a:xfrm>
          <a:prstGeom prst="rect">
            <a:avLst/>
          </a:prstGeom>
          <a:noFill/>
          <a:ln/>
        </p:spPr>
        <p:txBody>
          <a:bodyPr wrap="square" rtlCol="0" anchor="ctr"/>
          <a:lstStyle/>
          <a:p>
            <a:pPr indent="0" marL="0">
              <a:buNone/>
            </a:pPr>
            <a:r>
              <a:rPr lang="en-US" sz="1300" b="1" dirty="0">
                <a:solidFill>
                  <a:srgbClr val="128C8A"/>
                </a:solidFill>
                <a:latin typeface="Arial" pitchFamily="34" charset="0"/>
                <a:ea typeface="Arial" pitchFamily="34" charset="-122"/>
                <a:cs typeface="Arial" pitchFamily="34" charset="-120"/>
              </a:rPr>
              <a:t>Why the demand test passes</a:t>
            </a:r>
            <a:endParaRPr lang="en-US" sz="1300" dirty="0"/>
          </a:p>
        </p:txBody>
      </p:sp>
      <p:sp>
        <p:nvSpPr>
          <p:cNvPr id="9" name="Text 6"/>
          <p:cNvSpPr/>
          <p:nvPr/>
        </p:nvSpPr>
        <p:spPr>
          <a:xfrm>
            <a:off x="566928" y="3977640"/>
            <a:ext cx="5394960" cy="1188720"/>
          </a:xfrm>
          <a:prstGeom prst="rect">
            <a:avLst/>
          </a:prstGeom>
          <a:noFill/>
          <a:ln/>
        </p:spPr>
        <p:txBody>
          <a:bodyPr wrap="square" rtlCol="0" anchor="ctr"/>
          <a:lstStyle/>
          <a:p>
            <a:pPr marL="342900" indent="-342900">
              <a:lnSpc>
                <a:spcPct val="112000"/>
              </a:lnSpc>
              <a:spcAft>
                <a:spcPts val="800"/>
              </a:spcAft>
              <a:buSzPct val="100000"/>
              <a:buChar char="•"/>
            </a:pPr>
            <a:r>
              <a:rPr lang="en-US" sz="1100" dirty="0">
                <a:solidFill>
                  <a:srgbClr val="1A2E33"/>
                </a:solidFill>
                <a:latin typeface="Arial" pitchFamily="34" charset="0"/>
                <a:ea typeface="Arial" pitchFamily="34" charset="-122"/>
                <a:cs typeface="Arial" pitchFamily="34" charset="-120"/>
              </a:rPr>
              <a:t>A required share of roughly a fifth of organised private admissions, built over five years, is achievable for a credible facility with credible clinicians. A requirement of 40% would not be, and no financial engineering would fix it.</a:t>
            </a:r>
            <a:endParaRPr lang="en-US" sz="1100" dirty="0"/>
          </a:p>
          <a:p>
            <a:pPr marL="342900" indent="-342900">
              <a:lnSpc>
                <a:spcPct val="112000"/>
              </a:lnSpc>
              <a:buSzPct val="100000"/>
              <a:buChar char="•"/>
            </a:pPr>
            <a:r>
              <a:rPr lang="en-US" sz="1100" dirty="0">
                <a:solidFill>
                  <a:srgbClr val="1A2E33"/>
                </a:solidFill>
                <a:latin typeface="Arial" pitchFamily="34" charset="0"/>
                <a:ea typeface="Arial" pitchFamily="34" charset="-122"/>
                <a:cs typeface="Arial" pitchFamily="34" charset="-120"/>
              </a:rPr>
              <a:t>The figure excludes district referral volume and the patients currently travelling to Mumbai and Pune — both of which are genuine upside to this estimate.</a:t>
            </a:r>
            <a:endParaRPr lang="en-US" sz="1100" dirty="0"/>
          </a:p>
        </p:txBody>
      </p:sp>
      <p:sp>
        <p:nvSpPr>
          <p:cNvPr id="10" name="Shape 7"/>
          <p:cNvSpPr/>
          <p:nvPr/>
        </p:nvSpPr>
        <p:spPr>
          <a:xfrm>
            <a:off x="6327648" y="3611880"/>
            <a:ext cx="5266944" cy="1783080"/>
          </a:xfrm>
          <a:prstGeom prst="roundRect">
            <a:avLst>
              <a:gd name="adj" fmla="val 3077"/>
            </a:avLst>
          </a:prstGeom>
          <a:solidFill>
            <a:srgbClr val="FDF3E3"/>
          </a:solidFill>
          <a:ln w="12700">
            <a:solidFill>
              <a:srgbClr val="E8A33D"/>
            </a:solidFill>
            <a:prstDash val="solid"/>
          </a:ln>
        </p:spPr>
      </p:sp>
      <p:sp>
        <p:nvSpPr>
          <p:cNvPr id="11" name="Text 8"/>
          <p:cNvSpPr/>
          <p:nvPr/>
        </p:nvSpPr>
        <p:spPr>
          <a:xfrm>
            <a:off x="6601968" y="3767328"/>
            <a:ext cx="4754880" cy="256032"/>
          </a:xfrm>
          <a:prstGeom prst="rect">
            <a:avLst/>
          </a:prstGeom>
          <a:noFill/>
          <a:ln/>
        </p:spPr>
        <p:txBody>
          <a:bodyPr wrap="square" rtlCol="0" anchor="ctr"/>
          <a:lstStyle/>
          <a:p>
            <a:pPr indent="0" marL="0">
              <a:buNone/>
            </a:pPr>
            <a:r>
              <a:rPr lang="en-US" sz="1250" b="1" dirty="0">
                <a:solidFill>
                  <a:srgbClr val="8A5A12"/>
                </a:solidFill>
                <a:latin typeface="Arial" pitchFamily="34" charset="0"/>
                <a:ea typeface="Arial" pitchFamily="34" charset="-122"/>
                <a:cs typeface="Arial" pitchFamily="34" charset="-120"/>
              </a:rPr>
              <a:t>The condition attached to this</a:t>
            </a:r>
            <a:endParaRPr lang="en-US" sz="1250" dirty="0"/>
          </a:p>
        </p:txBody>
      </p:sp>
      <p:sp>
        <p:nvSpPr>
          <p:cNvPr id="12" name="Text 9"/>
          <p:cNvSpPr/>
          <p:nvPr/>
        </p:nvSpPr>
        <p:spPr>
          <a:xfrm>
            <a:off x="6601968" y="4059936"/>
            <a:ext cx="4754880" cy="1188720"/>
          </a:xfrm>
          <a:prstGeom prst="rect">
            <a:avLst/>
          </a:prstGeom>
          <a:noFill/>
          <a:ln/>
        </p:spPr>
        <p:txBody>
          <a:bodyPr wrap="square" rtlCol="0" anchor="ctr"/>
          <a:lstStyle/>
          <a:p>
            <a:pPr indent="0" marL="0">
              <a:lnSpc>
                <a:spcPct val="110000"/>
              </a:lnSpc>
              <a:buNone/>
            </a:pPr>
            <a:r>
              <a:rPr lang="en-US" sz="1050" dirty="0">
                <a:solidFill>
                  <a:srgbClr val="6B4A10"/>
                </a:solidFill>
                <a:latin typeface="Arial" pitchFamily="34" charset="0"/>
                <a:ea typeface="Arial" pitchFamily="34" charset="-122"/>
                <a:cs typeface="Arial" pitchFamily="34" charset="-120"/>
              </a:rPr>
              <a:t>The funnel rests on assumed hospitalisation and addressability rates, not on primary research. If the true addressable pool is half this size, the required share rises to about 41% and the conclusion would not survive. Commissioning independent market research before committing capital is the first recommendation of this appraisal.</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37744"/>
          </a:xfrm>
          <a:prstGeom prst="rect">
            <a:avLst/>
          </a:prstGeom>
          <a:noFill/>
          <a:ln/>
        </p:spPr>
        <p:txBody>
          <a:bodyPr wrap="square" rtlCol="0" anchor="ctr"/>
          <a:lstStyle/>
          <a:p>
            <a:pPr indent="0" marL="0">
              <a:buNone/>
            </a:pPr>
            <a:r>
              <a:rPr lang="en-US" sz="1050" b="1" spc="140" kern="0" dirty="0">
                <a:solidFill>
                  <a:srgbClr val="128C8A"/>
                </a:solidFill>
                <a:latin typeface="Arial" pitchFamily="34" charset="0"/>
                <a:ea typeface="Arial" pitchFamily="34" charset="-122"/>
                <a:cs typeface="Arial" pitchFamily="34" charset="-120"/>
              </a:rPr>
              <a:t>REVENUE BUILD</a:t>
            </a:r>
            <a:endParaRPr lang="en-US" sz="1050" dirty="0"/>
          </a:p>
        </p:txBody>
      </p:sp>
      <p:sp>
        <p:nvSpPr>
          <p:cNvPr id="3" name="Text 1"/>
          <p:cNvSpPr/>
          <p:nvPr/>
        </p:nvSpPr>
        <p:spPr>
          <a:xfrm>
            <a:off x="566928" y="530352"/>
            <a:ext cx="11027664" cy="566928"/>
          </a:xfrm>
          <a:prstGeom prst="rect">
            <a:avLst/>
          </a:prstGeom>
          <a:noFill/>
          <a:ln/>
        </p:spPr>
        <p:txBody>
          <a:bodyPr wrap="square" rtlCol="0" anchor="ctr"/>
          <a:lstStyle/>
          <a:p>
            <a:pPr indent="0" marL="0">
              <a:buNone/>
            </a:pPr>
            <a:r>
              <a:rPr lang="en-US" sz="2700" b="1" dirty="0">
                <a:solidFill>
                  <a:srgbClr val="0E3B43"/>
                </a:solidFill>
                <a:latin typeface="Cambria" pitchFamily="34" charset="0"/>
                <a:ea typeface="Cambria" pitchFamily="34" charset="-122"/>
                <a:cs typeface="Cambria" pitchFamily="34" charset="-120"/>
              </a:rPr>
              <a:t>The ramp is the business plan</a:t>
            </a:r>
            <a:endParaRPr lang="en-US" sz="2700" dirty="0"/>
          </a:p>
        </p:txBody>
      </p:sp>
      <p:graphicFrame>
        <p:nvGraphicFramePr>
          <p:cNvPr id="4" name="Chart 0" descr=""/>
          <p:cNvGraphicFramePr/>
          <p:nvPr/>
        </p:nvGraphicFramePr>
        <p:xfrm>
          <a:off x="566928" y="1280160"/>
          <a:ext cx="6858000" cy="306324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653528" y="1417320"/>
          <a:ext cx="4416552" cy="914400"/>
        </p:xfrm>
        <a:graphic>
          <a:graphicData uri="http://schemas.openxmlformats.org/drawingml/2006/table">
            <a:tbl>
              <a:tblPr/>
              <a:tblGrid>
                <a:gridCol w="1783080"/>
                <a:gridCol w="658368"/>
                <a:gridCol w="658368"/>
                <a:gridCol w="658368"/>
                <a:gridCol w="658368"/>
              </a:tblGrid>
              <a:tr h="274320">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Driver</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Y1</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Y3</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Y5</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Y10</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r>
              <a:tr h="274320">
                <a:tc>
                  <a:txBody>
                    <a:bodyPr/>
                    <a:lstStyle/>
                    <a:p>
                      <a:pPr algn="l" indent="0" marL="0">
                        <a:buNone/>
                      </a:pPr>
                      <a:r>
                        <a:rPr lang="en-US" sz="950" dirty="0">
                          <a:solidFill>
                            <a:srgbClr val="1A2E33"/>
                          </a:solidFill>
                          <a:latin typeface="Arial" pitchFamily="34" charset="0"/>
                          <a:ea typeface="Arial" pitchFamily="34" charset="-122"/>
                          <a:cs typeface="Arial" pitchFamily="34" charset="-120"/>
                        </a:rPr>
                        <a:t>Occupancy</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27.0%</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56.0%</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70.0%</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72.0%</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1A2E33"/>
                          </a:solidFill>
                          <a:latin typeface="Arial" pitchFamily="34" charset="0"/>
                          <a:ea typeface="Arial" pitchFamily="34" charset="-122"/>
                          <a:cs typeface="Arial" pitchFamily="34" charset="-120"/>
                        </a:rPr>
                        <a:t>Net ARPOB (Rs/bed-day)</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24,088</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27,837</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32,169</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46,183</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r h="274320">
                <a:tc>
                  <a:txBody>
                    <a:bodyPr/>
                    <a:lstStyle/>
                    <a:p>
                      <a:pPr algn="l" indent="0" marL="0">
                        <a:buNone/>
                      </a:pPr>
                      <a:r>
                        <a:rPr lang="en-US" sz="950" dirty="0">
                          <a:solidFill>
                            <a:srgbClr val="1A2E33"/>
                          </a:solidFill>
                          <a:latin typeface="Arial" pitchFamily="34" charset="0"/>
                          <a:ea typeface="Arial" pitchFamily="34" charset="-122"/>
                          <a:cs typeface="Arial" pitchFamily="34" charset="-120"/>
                        </a:rPr>
                        <a:t>Admissions</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2,560</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5,256</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6,536</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6,738</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1A2E33"/>
                          </a:solidFill>
                          <a:latin typeface="Arial" pitchFamily="34" charset="0"/>
                          <a:ea typeface="Arial" pitchFamily="34" charset="-122"/>
                          <a:cs typeface="Arial" pitchFamily="34" charset="-120"/>
                        </a:rPr>
                        <a:t>OPD footfall per day</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100</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220</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290</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355</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r h="274320">
                <a:tc>
                  <a:txBody>
                    <a:bodyPr/>
                    <a:lstStyle/>
                    <a:p>
                      <a:pPr algn="l" indent="0" marL="0">
                        <a:buNone/>
                      </a:pPr>
                      <a:r>
                        <a:rPr lang="en-US" sz="950" b="1" dirty="0">
                          <a:solidFill>
                            <a:srgbClr val="1A2E33"/>
                          </a:solidFill>
                          <a:latin typeface="Arial" pitchFamily="34" charset="0"/>
                          <a:ea typeface="Arial" pitchFamily="34" charset="-122"/>
                          <a:cs typeface="Arial" pitchFamily="34" charset="-120"/>
                        </a:rPr>
                        <a:t>Revenue (Rs Cr)</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A2E33"/>
                          </a:solidFill>
                          <a:latin typeface="Arial" pitchFamily="34" charset="0"/>
                          <a:ea typeface="Arial" pitchFamily="34" charset="-122"/>
                          <a:cs typeface="Arial" pitchFamily="34" charset="-120"/>
                        </a:rPr>
                        <a:t>30.1</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A2E33"/>
                          </a:solidFill>
                          <a:latin typeface="Arial" pitchFamily="34" charset="0"/>
                          <a:ea typeface="Arial" pitchFamily="34" charset="-122"/>
                          <a:cs typeface="Arial" pitchFamily="34" charset="-120"/>
                        </a:rPr>
                        <a:t>72.0</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A2E33"/>
                          </a:solidFill>
                          <a:latin typeface="Arial" pitchFamily="34" charset="0"/>
                          <a:ea typeface="Arial" pitchFamily="34" charset="-122"/>
                          <a:cs typeface="Arial" pitchFamily="34" charset="-120"/>
                        </a:rPr>
                        <a:t>104.4</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A2E33"/>
                          </a:solidFill>
                          <a:latin typeface="Arial" pitchFamily="34" charset="0"/>
                          <a:ea typeface="Arial" pitchFamily="34" charset="-122"/>
                          <a:cs typeface="Arial" pitchFamily="34" charset="-120"/>
                        </a:rPr>
                        <a:t>158.3</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bl>
          </a:graphicData>
        </a:graphic>
      </p:graphicFrame>
      <p:sp>
        <p:nvSpPr>
          <p:cNvPr id="6" name="Text 2"/>
          <p:cNvSpPr/>
          <p:nvPr/>
        </p:nvSpPr>
        <p:spPr>
          <a:xfrm>
            <a:off x="7653528" y="3246120"/>
            <a:ext cx="4416552" cy="274320"/>
          </a:xfrm>
          <a:prstGeom prst="rect">
            <a:avLst/>
          </a:prstGeom>
          <a:noFill/>
          <a:ln/>
        </p:spPr>
        <p:txBody>
          <a:bodyPr wrap="square" rtlCol="0" anchor="ctr"/>
          <a:lstStyle/>
          <a:p>
            <a:pPr indent="0" marL="0">
              <a:buNone/>
            </a:pPr>
            <a:r>
              <a:rPr lang="en-US" sz="1200" b="1" dirty="0">
                <a:solidFill>
                  <a:srgbClr val="128C8A"/>
                </a:solidFill>
                <a:latin typeface="Arial" pitchFamily="34" charset="0"/>
                <a:ea typeface="Arial" pitchFamily="34" charset="-122"/>
                <a:cs typeface="Arial" pitchFamily="34" charset="-120"/>
              </a:rPr>
              <a:t>Revenue is built from drivers, never from a growth rate</a:t>
            </a:r>
            <a:endParaRPr lang="en-US" sz="1200" dirty="0"/>
          </a:p>
        </p:txBody>
      </p:sp>
      <p:sp>
        <p:nvSpPr>
          <p:cNvPr id="7" name="Text 3"/>
          <p:cNvSpPr/>
          <p:nvPr/>
        </p:nvSpPr>
        <p:spPr>
          <a:xfrm>
            <a:off x="7653528" y="3584448"/>
            <a:ext cx="4416552" cy="822960"/>
          </a:xfrm>
          <a:prstGeom prst="rect">
            <a:avLst/>
          </a:prstGeom>
          <a:noFill/>
          <a:ln/>
        </p:spPr>
        <p:txBody>
          <a:bodyPr wrap="square" rtlCol="0" anchor="ctr"/>
          <a:lstStyle/>
          <a:p>
            <a:pPr indent="0" marL="0">
              <a:lnSpc>
                <a:spcPct val="110000"/>
              </a:lnSpc>
              <a:buNone/>
            </a:pPr>
            <a:r>
              <a:rPr lang="en-US" sz="1050" dirty="0">
                <a:solidFill>
                  <a:srgbClr val="1A2E33"/>
                </a:solidFill>
                <a:latin typeface="Arial" pitchFamily="34" charset="0"/>
                <a:ea typeface="Arial" pitchFamily="34" charset="-122"/>
                <a:cs typeface="Arial" pitchFamily="34" charset="-120"/>
              </a:rPr>
              <a:t>Inpatient revenue = beds × 365 × occupancy × net ARPOB. Every term is separately visible and separately testable — which is what makes the sensitivity analysis on slide 13 possible at all.</a:t>
            </a:r>
            <a:endParaRPr lang="en-US" sz="1050" dirty="0"/>
          </a:p>
        </p:txBody>
      </p:sp>
      <p:sp>
        <p:nvSpPr>
          <p:cNvPr id="8" name="Shape 4"/>
          <p:cNvSpPr/>
          <p:nvPr/>
        </p:nvSpPr>
        <p:spPr>
          <a:xfrm>
            <a:off x="566928" y="4572000"/>
            <a:ext cx="11027664" cy="1298448"/>
          </a:xfrm>
          <a:prstGeom prst="roundRect">
            <a:avLst>
              <a:gd name="adj" fmla="val 4225"/>
            </a:avLst>
          </a:prstGeom>
          <a:solidFill>
            <a:srgbClr val="F4F7F7"/>
          </a:solidFill>
          <a:ln w="12700">
            <a:solidFill>
              <a:srgbClr val="DDE6E7"/>
            </a:solidFill>
            <a:prstDash val="solid"/>
          </a:ln>
        </p:spPr>
      </p:sp>
      <p:sp>
        <p:nvSpPr>
          <p:cNvPr id="9" name="Text 5"/>
          <p:cNvSpPr/>
          <p:nvPr/>
        </p:nvSpPr>
        <p:spPr>
          <a:xfrm>
            <a:off x="841248" y="4718304"/>
            <a:ext cx="10479024" cy="256032"/>
          </a:xfrm>
          <a:prstGeom prst="rect">
            <a:avLst/>
          </a:prstGeom>
          <a:noFill/>
          <a:ln/>
        </p:spPr>
        <p:txBody>
          <a:bodyPr wrap="square" rtlCol="0" anchor="ctr"/>
          <a:lstStyle/>
          <a:p>
            <a:pPr indent="0" marL="0">
              <a:buNone/>
            </a:pPr>
            <a:r>
              <a:rPr lang="en-US" sz="1200" b="1" dirty="0">
                <a:solidFill>
                  <a:srgbClr val="0E3B43"/>
                </a:solidFill>
                <a:latin typeface="Arial" pitchFamily="34" charset="0"/>
                <a:ea typeface="Arial" pitchFamily="34" charset="-122"/>
                <a:cs typeface="Arial" pitchFamily="34" charset="-120"/>
              </a:rPr>
              <a:t>Occupancy does not ramp linearly, and the shape matters as much as the destination.</a:t>
            </a:r>
            <a:endParaRPr lang="en-US" sz="1200" dirty="0"/>
          </a:p>
        </p:txBody>
      </p:sp>
      <p:sp>
        <p:nvSpPr>
          <p:cNvPr id="10" name="Text 6"/>
          <p:cNvSpPr/>
          <p:nvPr/>
        </p:nvSpPr>
        <p:spPr>
          <a:xfrm>
            <a:off x="841248" y="4992624"/>
            <a:ext cx="10479024" cy="777240"/>
          </a:xfrm>
          <a:prstGeom prst="rect">
            <a:avLst/>
          </a:prstGeom>
          <a:noFill/>
          <a:ln/>
        </p:spPr>
        <p:txBody>
          <a:bodyPr wrap="square" rtlCol="0" anchor="ctr"/>
          <a:lstStyle/>
          <a:p>
            <a:pPr indent="0" marL="0">
              <a:lnSpc>
                <a:spcPct val="108000"/>
              </a:lnSpc>
              <a:buNone/>
            </a:pPr>
            <a:r>
              <a:rPr lang="en-US" sz="1050" dirty="0">
                <a:solidFill>
                  <a:srgbClr val="1A2E33"/>
                </a:solidFill>
                <a:latin typeface="Arial" pitchFamily="34" charset="0"/>
                <a:ea typeface="Arial" pitchFamily="34" charset="-122"/>
                <a:cs typeface="Arial" pitchFamily="34" charset="-120"/>
              </a:rPr>
              <a:t>Year 1 is spent building referral relationships and empanelling with insurers and government schemes. Volume accelerates sharply in Years 2 and 3 as those channels mature. The final approach to stabilised occupancy is slow, because it depends on winning complex cases from established competitors. Peak occupancy of 72% sits above the ICRA sector range of 62–64% but within the 65–75% band that well-run tier-2 facilities achieve.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37744"/>
          </a:xfrm>
          <a:prstGeom prst="rect">
            <a:avLst/>
          </a:prstGeom>
          <a:noFill/>
          <a:ln/>
        </p:spPr>
        <p:txBody>
          <a:bodyPr wrap="square" rtlCol="0" anchor="ctr"/>
          <a:lstStyle/>
          <a:p>
            <a:pPr indent="0" marL="0">
              <a:buNone/>
            </a:pPr>
            <a:r>
              <a:rPr lang="en-US" sz="1050" b="1" spc="140" kern="0" dirty="0">
                <a:solidFill>
                  <a:srgbClr val="128C8A"/>
                </a:solidFill>
                <a:latin typeface="Arial" pitchFamily="34" charset="0"/>
                <a:ea typeface="Arial" pitchFamily="34" charset="-122"/>
                <a:cs typeface="Arial" pitchFamily="34" charset="-120"/>
              </a:rPr>
              <a:t>PROFITABILITY</a:t>
            </a:r>
            <a:endParaRPr lang="en-US" sz="1050" dirty="0"/>
          </a:p>
        </p:txBody>
      </p:sp>
      <p:sp>
        <p:nvSpPr>
          <p:cNvPr id="3" name="Text 1"/>
          <p:cNvSpPr/>
          <p:nvPr/>
        </p:nvSpPr>
        <p:spPr>
          <a:xfrm>
            <a:off x="566928" y="530352"/>
            <a:ext cx="11027664" cy="566928"/>
          </a:xfrm>
          <a:prstGeom prst="rect">
            <a:avLst/>
          </a:prstGeom>
          <a:noFill/>
          <a:ln/>
        </p:spPr>
        <p:txBody>
          <a:bodyPr wrap="square" rtlCol="0" anchor="ctr"/>
          <a:lstStyle/>
          <a:p>
            <a:pPr indent="0" marL="0">
              <a:buNone/>
            </a:pPr>
            <a:r>
              <a:rPr lang="en-US" sz="2700" b="1" dirty="0">
                <a:solidFill>
                  <a:srgbClr val="0E3B43"/>
                </a:solidFill>
                <a:latin typeface="Cambria" pitchFamily="34" charset="0"/>
                <a:ea typeface="Cambria" pitchFamily="34" charset="-122"/>
                <a:cs typeface="Cambria" pitchFamily="34" charset="-120"/>
              </a:rPr>
              <a:t>Operating leverage is the engine — and the risk</a:t>
            </a:r>
            <a:endParaRPr lang="en-US" sz="2700" dirty="0"/>
          </a:p>
        </p:txBody>
      </p:sp>
      <p:graphicFrame>
        <p:nvGraphicFramePr>
          <p:cNvPr id="4" name="Chart 0" descr=""/>
          <p:cNvGraphicFramePr/>
          <p:nvPr/>
        </p:nvGraphicFramePr>
        <p:xfrm>
          <a:off x="566928" y="1280160"/>
          <a:ext cx="6858000" cy="3200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53528" y="1298448"/>
            <a:ext cx="2121408" cy="1097280"/>
          </a:xfrm>
          <a:prstGeom prst="roundRect">
            <a:avLst>
              <a:gd name="adj" fmla="val 5000"/>
            </a:avLst>
          </a:prstGeom>
          <a:solidFill>
            <a:srgbClr val="F4F7F7"/>
          </a:solidFill>
          <a:ln w="12700">
            <a:solidFill>
              <a:srgbClr val="DDE6E7"/>
            </a:solidFill>
            <a:prstDash val="solid"/>
          </a:ln>
        </p:spPr>
      </p:sp>
      <p:sp>
        <p:nvSpPr>
          <p:cNvPr id="6" name="Text 3"/>
          <p:cNvSpPr/>
          <p:nvPr/>
        </p:nvSpPr>
        <p:spPr>
          <a:xfrm>
            <a:off x="7653528" y="1408176"/>
            <a:ext cx="2121408" cy="504749"/>
          </a:xfrm>
          <a:prstGeom prst="rect">
            <a:avLst/>
          </a:prstGeom>
          <a:noFill/>
          <a:ln/>
        </p:spPr>
        <p:txBody>
          <a:bodyPr wrap="square" lIns="0" tIns="0" rIns="0" bIns="0" rtlCol="0" anchor="ctr"/>
          <a:lstStyle/>
          <a:p>
            <a:pPr algn="ctr" indent="0" marL="0">
              <a:buNone/>
            </a:pPr>
            <a:r>
              <a:rPr lang="en-US" sz="2400" b="1" dirty="0">
                <a:solidFill>
                  <a:srgbClr val="0E3B43"/>
                </a:solidFill>
                <a:latin typeface="Cambria" pitchFamily="34" charset="0"/>
                <a:ea typeface="Cambria" pitchFamily="34" charset="-122"/>
                <a:cs typeface="Cambria" pitchFamily="34" charset="-120"/>
              </a:rPr>
              <a:t>67%</a:t>
            </a:r>
            <a:endParaRPr lang="en-US" sz="2400" dirty="0"/>
          </a:p>
        </p:txBody>
      </p:sp>
      <p:sp>
        <p:nvSpPr>
          <p:cNvPr id="7" name="Text 4"/>
          <p:cNvSpPr/>
          <p:nvPr/>
        </p:nvSpPr>
        <p:spPr>
          <a:xfrm>
            <a:off x="7726680" y="1869034"/>
            <a:ext cx="1975104" cy="263347"/>
          </a:xfrm>
          <a:prstGeom prst="rect">
            <a:avLst/>
          </a:prstGeom>
          <a:noFill/>
          <a:ln/>
        </p:spPr>
        <p:txBody>
          <a:bodyPr wrap="square" lIns="0" tIns="0" rIns="0" bIns="0" rtlCol="0" anchor="ctr"/>
          <a:lstStyle/>
          <a:p>
            <a:pPr algn="ctr" indent="0" marL="0">
              <a:buNone/>
            </a:pPr>
            <a:r>
              <a:rPr lang="en-US" sz="1050" b="1" dirty="0">
                <a:solidFill>
                  <a:srgbClr val="1A2E33"/>
                </a:solidFill>
                <a:latin typeface="Arial" pitchFamily="34" charset="0"/>
                <a:ea typeface="Arial" pitchFamily="34" charset="-122"/>
                <a:cs typeface="Arial" pitchFamily="34" charset="-120"/>
              </a:rPr>
              <a:t>Contribution margin</a:t>
            </a:r>
            <a:endParaRPr lang="en-US" sz="1050" dirty="0"/>
          </a:p>
        </p:txBody>
      </p:sp>
      <p:sp>
        <p:nvSpPr>
          <p:cNvPr id="8" name="Text 5"/>
          <p:cNvSpPr/>
          <p:nvPr/>
        </p:nvSpPr>
        <p:spPr>
          <a:xfrm>
            <a:off x="7726680" y="2110435"/>
            <a:ext cx="1975104" cy="241402"/>
          </a:xfrm>
          <a:prstGeom prst="rect">
            <a:avLst/>
          </a:prstGeom>
          <a:noFill/>
          <a:ln/>
        </p:spPr>
        <p:txBody>
          <a:bodyPr wrap="square" lIns="0" tIns="0" rIns="0" bIns="0" rtlCol="0" anchor="ctr"/>
          <a:lstStyle/>
          <a:p>
            <a:pPr algn="ctr" indent="0" marL="0">
              <a:buNone/>
            </a:pPr>
            <a:r>
              <a:rPr lang="en-US" sz="850" dirty="0">
                <a:solidFill>
                  <a:srgbClr val="6B7F84"/>
                </a:solidFill>
                <a:latin typeface="Arial" pitchFamily="34" charset="0"/>
                <a:ea typeface="Arial" pitchFamily="34" charset="-122"/>
                <a:cs typeface="Arial" pitchFamily="34" charset="-120"/>
              </a:rPr>
              <a:t>per extra rupee</a:t>
            </a:r>
            <a:endParaRPr lang="en-US" sz="850" dirty="0"/>
          </a:p>
        </p:txBody>
      </p:sp>
      <p:sp>
        <p:nvSpPr>
          <p:cNvPr id="9" name="Shape 6"/>
          <p:cNvSpPr/>
          <p:nvPr/>
        </p:nvSpPr>
        <p:spPr>
          <a:xfrm>
            <a:off x="9948672" y="1298448"/>
            <a:ext cx="2121408" cy="1097280"/>
          </a:xfrm>
          <a:prstGeom prst="roundRect">
            <a:avLst>
              <a:gd name="adj" fmla="val 5000"/>
            </a:avLst>
          </a:prstGeom>
          <a:solidFill>
            <a:srgbClr val="F4F7F7"/>
          </a:solidFill>
          <a:ln w="12700">
            <a:solidFill>
              <a:srgbClr val="DDE6E7"/>
            </a:solidFill>
            <a:prstDash val="solid"/>
          </a:ln>
        </p:spPr>
      </p:sp>
      <p:sp>
        <p:nvSpPr>
          <p:cNvPr id="10" name="Text 7"/>
          <p:cNvSpPr/>
          <p:nvPr/>
        </p:nvSpPr>
        <p:spPr>
          <a:xfrm>
            <a:off x="9948672" y="1408176"/>
            <a:ext cx="2121408" cy="504749"/>
          </a:xfrm>
          <a:prstGeom prst="rect">
            <a:avLst/>
          </a:prstGeom>
          <a:noFill/>
          <a:ln/>
        </p:spPr>
        <p:txBody>
          <a:bodyPr wrap="square" lIns="0" tIns="0" rIns="0" bIns="0" rtlCol="0" anchor="ctr"/>
          <a:lstStyle/>
          <a:p>
            <a:pPr algn="ctr" indent="0" marL="0">
              <a:buNone/>
            </a:pPr>
            <a:r>
              <a:rPr lang="en-US" sz="2400" b="1" dirty="0">
                <a:solidFill>
                  <a:srgbClr val="0E3B43"/>
                </a:solidFill>
                <a:latin typeface="Cambria" pitchFamily="34" charset="0"/>
                <a:ea typeface="Cambria" pitchFamily="34" charset="-122"/>
                <a:cs typeface="Cambria" pitchFamily="34" charset="-120"/>
              </a:rPr>
              <a:t>Year 2</a:t>
            </a:r>
            <a:endParaRPr lang="en-US" sz="2400" dirty="0"/>
          </a:p>
        </p:txBody>
      </p:sp>
      <p:sp>
        <p:nvSpPr>
          <p:cNvPr id="11" name="Text 8"/>
          <p:cNvSpPr/>
          <p:nvPr/>
        </p:nvSpPr>
        <p:spPr>
          <a:xfrm>
            <a:off x="10021824" y="1869034"/>
            <a:ext cx="1975104" cy="263347"/>
          </a:xfrm>
          <a:prstGeom prst="rect">
            <a:avLst/>
          </a:prstGeom>
          <a:noFill/>
          <a:ln/>
        </p:spPr>
        <p:txBody>
          <a:bodyPr wrap="square" lIns="0" tIns="0" rIns="0" bIns="0" rtlCol="0" anchor="ctr"/>
          <a:lstStyle/>
          <a:p>
            <a:pPr algn="ctr" indent="0" marL="0">
              <a:buNone/>
            </a:pPr>
            <a:r>
              <a:rPr lang="en-US" sz="1050" b="1" dirty="0">
                <a:solidFill>
                  <a:srgbClr val="1A2E33"/>
                </a:solidFill>
                <a:latin typeface="Arial" pitchFamily="34" charset="0"/>
                <a:ea typeface="Arial" pitchFamily="34" charset="-122"/>
                <a:cs typeface="Arial" pitchFamily="34" charset="-120"/>
              </a:rPr>
              <a:t>EBITDA positive</a:t>
            </a:r>
            <a:endParaRPr lang="en-US" sz="1050" dirty="0"/>
          </a:p>
        </p:txBody>
      </p:sp>
      <p:sp>
        <p:nvSpPr>
          <p:cNvPr id="12" name="Text 9"/>
          <p:cNvSpPr/>
          <p:nvPr/>
        </p:nvSpPr>
        <p:spPr>
          <a:xfrm>
            <a:off x="10021824" y="2110435"/>
            <a:ext cx="1975104" cy="241402"/>
          </a:xfrm>
          <a:prstGeom prst="rect">
            <a:avLst/>
          </a:prstGeom>
          <a:noFill/>
          <a:ln/>
        </p:spPr>
        <p:txBody>
          <a:bodyPr wrap="square" lIns="0" tIns="0" rIns="0" bIns="0" rtlCol="0" anchor="ctr"/>
          <a:lstStyle/>
          <a:p>
            <a:pPr algn="ctr" indent="0" marL="0">
              <a:buNone/>
            </a:pPr>
            <a:r>
              <a:rPr lang="en-US" sz="850" dirty="0">
                <a:solidFill>
                  <a:srgbClr val="6B7F84"/>
                </a:solidFill>
                <a:latin typeface="Arial" pitchFamily="34" charset="0"/>
                <a:ea typeface="Arial" pitchFamily="34" charset="-122"/>
                <a:cs typeface="Arial" pitchFamily="34" charset="-120"/>
              </a:rPr>
              <a:t>PAT positive Year 4</a:t>
            </a:r>
            <a:endParaRPr lang="en-US" sz="850" dirty="0"/>
          </a:p>
        </p:txBody>
      </p:sp>
      <p:sp>
        <p:nvSpPr>
          <p:cNvPr id="13" name="Text 10"/>
          <p:cNvSpPr/>
          <p:nvPr/>
        </p:nvSpPr>
        <p:spPr>
          <a:xfrm>
            <a:off x="7653528" y="2606040"/>
            <a:ext cx="4416552" cy="274320"/>
          </a:xfrm>
          <a:prstGeom prst="rect">
            <a:avLst/>
          </a:prstGeom>
          <a:noFill/>
          <a:ln/>
        </p:spPr>
        <p:txBody>
          <a:bodyPr wrap="square" rtlCol="0" anchor="ctr"/>
          <a:lstStyle/>
          <a:p>
            <a:pPr indent="0" marL="0">
              <a:buNone/>
            </a:pPr>
            <a:r>
              <a:rPr lang="en-US" sz="1250" b="1" dirty="0">
                <a:solidFill>
                  <a:srgbClr val="128C8A"/>
                </a:solidFill>
                <a:latin typeface="Arial" pitchFamily="34" charset="0"/>
                <a:ea typeface="Arial" pitchFamily="34" charset="-122"/>
                <a:cs typeface="Arial" pitchFamily="34" charset="-120"/>
              </a:rPr>
              <a:t>Why the downside is so severe</a:t>
            </a:r>
            <a:endParaRPr lang="en-US" sz="1250" dirty="0"/>
          </a:p>
        </p:txBody>
      </p:sp>
      <p:sp>
        <p:nvSpPr>
          <p:cNvPr id="14" name="Text 11"/>
          <p:cNvSpPr/>
          <p:nvPr/>
        </p:nvSpPr>
        <p:spPr>
          <a:xfrm>
            <a:off x="7653528" y="2944368"/>
            <a:ext cx="4416552" cy="1737360"/>
          </a:xfrm>
          <a:prstGeom prst="rect">
            <a:avLst/>
          </a:prstGeom>
          <a:noFill/>
          <a:ln/>
        </p:spPr>
        <p:txBody>
          <a:bodyPr wrap="square" rtlCol="0" anchor="ctr"/>
          <a:lstStyle/>
          <a:p>
            <a:pPr marL="342900" indent="-342900">
              <a:lnSpc>
                <a:spcPct val="112000"/>
              </a:lnSpc>
              <a:spcAft>
                <a:spcPts val="800"/>
              </a:spcAft>
              <a:buSzPct val="100000"/>
              <a:buChar char="•"/>
            </a:pPr>
            <a:r>
              <a:rPr lang="en-US" sz="1050" dirty="0">
                <a:solidFill>
                  <a:srgbClr val="1A2E33"/>
                </a:solidFill>
                <a:latin typeface="Arial" pitchFamily="34" charset="0"/>
                <a:ea typeface="Arial" pitchFamily="34" charset="-122"/>
                <a:cs typeface="Arial" pitchFamily="34" charset="-120"/>
              </a:rPr>
              <a:t>Roughly 60% of the cost base does not vary with occupancy. Once fixed costs are covered, about 67% of every additional rupee reaches EBITDA.</a:t>
            </a:r>
            <a:endParaRPr lang="en-US" sz="1050" dirty="0"/>
          </a:p>
          <a:p>
            <a:pPr marL="342900" indent="-342900">
              <a:lnSpc>
                <a:spcPct val="112000"/>
              </a:lnSpc>
              <a:spcAft>
                <a:spcPts val="800"/>
              </a:spcAft>
              <a:buSzPct val="100000"/>
              <a:buChar char="•"/>
            </a:pPr>
            <a:r>
              <a:rPr lang="en-US" sz="1050" dirty="0">
                <a:solidFill>
                  <a:srgbClr val="1A2E33"/>
                </a:solidFill>
                <a:latin typeface="Arial" pitchFamily="34" charset="0"/>
                <a:ea typeface="Arial" pitchFamily="34" charset="-122"/>
                <a:cs typeface="Arial" pitchFamily="34" charset="-120"/>
              </a:rPr>
              <a:t>The identical ratio applies in reverse. A 20% shortfall in revenue removes far more than 20% of EBITDA, because fixed costs, depreciation and interest do not fall with volume.</a:t>
            </a:r>
            <a:endParaRPr lang="en-US" sz="1050" dirty="0"/>
          </a:p>
          <a:p>
            <a:pPr marL="342900" indent="-342900">
              <a:lnSpc>
                <a:spcPct val="112000"/>
              </a:lnSpc>
              <a:buSzPct val="100000"/>
              <a:buChar char="•"/>
            </a:pPr>
            <a:r>
              <a:rPr lang="en-US" sz="1050" dirty="0">
                <a:solidFill>
                  <a:srgbClr val="1A2E33"/>
                </a:solidFill>
                <a:latin typeface="Arial" pitchFamily="34" charset="0"/>
                <a:ea typeface="Arial" pitchFamily="34" charset="-122"/>
                <a:cs typeface="Arial" pitchFamily="34" charset="-120"/>
              </a:rPr>
              <a:t>A hospital at 45% occupancy is not a slightly less profitable hospital. It is an insolvent one.</a:t>
            </a:r>
            <a:endParaRPr lang="en-US" sz="10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4663440"/>
          <a:ext cx="11027664" cy="914400"/>
        </p:xfrm>
        <a:graphic>
          <a:graphicData uri="http://schemas.openxmlformats.org/drawingml/2006/table">
            <a:tbl>
              <a:tblPr/>
              <a:tblGrid>
                <a:gridCol w="1572768"/>
                <a:gridCol w="941832"/>
                <a:gridCol w="941832"/>
                <a:gridCol w="941832"/>
                <a:gridCol w="941832"/>
                <a:gridCol w="941832"/>
                <a:gridCol w="941832"/>
                <a:gridCol w="941832"/>
                <a:gridCol w="941832"/>
                <a:gridCol w="941832"/>
                <a:gridCol w="941832"/>
              </a:tblGrid>
              <a:tr h="256032">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Rs Cr</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Y1</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Y2</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Y3</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Y4</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Y5</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Y6</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Y7</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Y8</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Y9</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Y10</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r>
              <a:tr h="256032">
                <a:tc>
                  <a:txBody>
                    <a:bodyPr/>
                    <a:lstStyle/>
                    <a:p>
                      <a:pPr algn="l" indent="0" marL="0">
                        <a:buNone/>
                      </a:pPr>
                      <a:r>
                        <a:rPr lang="en-US" sz="900" dirty="0">
                          <a:solidFill>
                            <a:srgbClr val="1A2E33"/>
                          </a:solidFill>
                          <a:latin typeface="Arial" pitchFamily="34" charset="0"/>
                          <a:ea typeface="Arial" pitchFamily="34" charset="-122"/>
                          <a:cs typeface="Arial" pitchFamily="34" charset="-120"/>
                        </a:rPr>
                        <a:t>Revenue</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30.1</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51.1</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72.0</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88.8</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104.4</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116.2</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126.0</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135.9</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146.8</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158.3</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256032">
                <a:tc>
                  <a:txBody>
                    <a:bodyPr/>
                    <a:lstStyle/>
                    <a:p>
                      <a:pPr algn="l" indent="0" marL="0">
                        <a:buNone/>
                      </a:pPr>
                      <a:r>
                        <a:rPr lang="en-US" sz="900" dirty="0">
                          <a:solidFill>
                            <a:srgbClr val="1A2E33"/>
                          </a:solidFill>
                          <a:latin typeface="Arial" pitchFamily="34" charset="0"/>
                          <a:ea typeface="Arial" pitchFamily="34" charset="-122"/>
                          <a:cs typeface="Arial" pitchFamily="34" charset="-120"/>
                        </a:rPr>
                        <a:t>EBITDA</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-3.9</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5.2</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14.1</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20.3</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24.8</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29.2</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32.3</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35.2</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38.6</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42.1</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r h="256032">
                <a:tc>
                  <a:txBody>
                    <a:bodyPr/>
                    <a:lstStyle/>
                    <a:p>
                      <a:pPr algn="l" indent="0" marL="0">
                        <a:buNone/>
                      </a:pPr>
                      <a:r>
                        <a:rPr lang="en-US" sz="900" b="1" dirty="0">
                          <a:solidFill>
                            <a:srgbClr val="1A2E33"/>
                          </a:solidFill>
                          <a:latin typeface="Arial" pitchFamily="34" charset="0"/>
                          <a:ea typeface="Arial" pitchFamily="34" charset="-122"/>
                          <a:cs typeface="Arial" pitchFamily="34" charset="-120"/>
                        </a:rPr>
                        <a:t>EBITDA margin</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2E33"/>
                          </a:solidFill>
                          <a:latin typeface="Arial" pitchFamily="34" charset="0"/>
                          <a:ea typeface="Arial" pitchFamily="34" charset="-122"/>
                          <a:cs typeface="Arial" pitchFamily="34" charset="-120"/>
                        </a:rPr>
                        <a:t>-13.0%</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2E33"/>
                          </a:solidFill>
                          <a:latin typeface="Arial" pitchFamily="34" charset="0"/>
                          <a:ea typeface="Arial" pitchFamily="34" charset="-122"/>
                          <a:cs typeface="Arial" pitchFamily="34" charset="-120"/>
                        </a:rPr>
                        <a:t>10.0%</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2E33"/>
                          </a:solidFill>
                          <a:latin typeface="Arial" pitchFamily="34" charset="0"/>
                          <a:ea typeface="Arial" pitchFamily="34" charset="-122"/>
                          <a:cs typeface="Arial" pitchFamily="34" charset="-120"/>
                        </a:rPr>
                        <a:t>20.0%</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2E33"/>
                          </a:solidFill>
                          <a:latin typeface="Arial" pitchFamily="34" charset="0"/>
                          <a:ea typeface="Arial" pitchFamily="34" charset="-122"/>
                          <a:cs typeface="Arial" pitchFamily="34" charset="-120"/>
                        </a:rPr>
                        <a:t>23.0%</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2E33"/>
                          </a:solidFill>
                          <a:latin typeface="Arial" pitchFamily="34" charset="0"/>
                          <a:ea typeface="Arial" pitchFamily="34" charset="-122"/>
                          <a:cs typeface="Arial" pitchFamily="34" charset="-120"/>
                        </a:rPr>
                        <a:t>24.0%</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2E33"/>
                          </a:solidFill>
                          <a:latin typeface="Arial" pitchFamily="34" charset="0"/>
                          <a:ea typeface="Arial" pitchFamily="34" charset="-122"/>
                          <a:cs typeface="Arial" pitchFamily="34" charset="-120"/>
                        </a:rPr>
                        <a:t>25.0%</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2E33"/>
                          </a:solidFill>
                          <a:latin typeface="Arial" pitchFamily="34" charset="0"/>
                          <a:ea typeface="Arial" pitchFamily="34" charset="-122"/>
                          <a:cs typeface="Arial" pitchFamily="34" charset="-120"/>
                        </a:rPr>
                        <a:t>26.0%</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2E33"/>
                          </a:solidFill>
                          <a:latin typeface="Arial" pitchFamily="34" charset="0"/>
                          <a:ea typeface="Arial" pitchFamily="34" charset="-122"/>
                          <a:cs typeface="Arial" pitchFamily="34" charset="-120"/>
                        </a:rPr>
                        <a:t>26.0%</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2E33"/>
                          </a:solidFill>
                          <a:latin typeface="Arial" pitchFamily="34" charset="0"/>
                          <a:ea typeface="Arial" pitchFamily="34" charset="-122"/>
                          <a:cs typeface="Arial" pitchFamily="34" charset="-120"/>
                        </a:rPr>
                        <a:t>26.0%</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2E33"/>
                          </a:solidFill>
                          <a:latin typeface="Arial" pitchFamily="34" charset="0"/>
                          <a:ea typeface="Arial" pitchFamily="34" charset="-122"/>
                          <a:cs typeface="Arial" pitchFamily="34" charset="-120"/>
                        </a:rPr>
                        <a:t>27.0%</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256032">
                <a:tc>
                  <a:txBody>
                    <a:bodyPr/>
                    <a:lstStyle/>
                    <a:p>
                      <a:pPr algn="l" indent="0" marL="0">
                        <a:buNone/>
                      </a:pPr>
                      <a:r>
                        <a:rPr lang="en-US" sz="900" dirty="0">
                          <a:solidFill>
                            <a:srgbClr val="1A2E33"/>
                          </a:solidFill>
                          <a:latin typeface="Arial" pitchFamily="34" charset="0"/>
                          <a:ea typeface="Arial" pitchFamily="34" charset="-122"/>
                          <a:cs typeface="Arial" pitchFamily="34" charset="-120"/>
                        </a:rPr>
                        <a:t>PAT</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-18.7</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-9.9</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-1.5</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4.7</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9.7</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15.7</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15.0</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18.0</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21.5</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25.1</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37744"/>
          </a:xfrm>
          <a:prstGeom prst="rect">
            <a:avLst/>
          </a:prstGeom>
          <a:noFill/>
          <a:ln/>
        </p:spPr>
        <p:txBody>
          <a:bodyPr wrap="square" rtlCol="0" anchor="ctr"/>
          <a:lstStyle/>
          <a:p>
            <a:pPr indent="0" marL="0">
              <a:buNone/>
            </a:pPr>
            <a:r>
              <a:rPr lang="en-US" sz="1050" b="1" spc="140" kern="0" dirty="0">
                <a:solidFill>
                  <a:srgbClr val="128C8A"/>
                </a:solidFill>
                <a:latin typeface="Arial" pitchFamily="34" charset="0"/>
                <a:ea typeface="Arial" pitchFamily="34" charset="-122"/>
                <a:cs typeface="Arial" pitchFamily="34" charset="-120"/>
              </a:rPr>
              <a:t>COST &amp; FUNDING</a:t>
            </a:r>
            <a:endParaRPr lang="en-US" sz="1050" dirty="0"/>
          </a:p>
        </p:txBody>
      </p:sp>
      <p:sp>
        <p:nvSpPr>
          <p:cNvPr id="3" name="Text 1"/>
          <p:cNvSpPr/>
          <p:nvPr/>
        </p:nvSpPr>
        <p:spPr>
          <a:xfrm>
            <a:off x="566928" y="530352"/>
            <a:ext cx="11027664" cy="566928"/>
          </a:xfrm>
          <a:prstGeom prst="rect">
            <a:avLst/>
          </a:prstGeom>
          <a:noFill/>
          <a:ln/>
        </p:spPr>
        <p:txBody>
          <a:bodyPr wrap="square" rtlCol="0" anchor="ctr"/>
          <a:lstStyle/>
          <a:p>
            <a:pPr indent="0" marL="0">
              <a:buNone/>
            </a:pPr>
            <a:r>
              <a:rPr lang="en-US" sz="2700" b="1" dirty="0">
                <a:solidFill>
                  <a:srgbClr val="0E3B43"/>
                </a:solidFill>
                <a:latin typeface="Cambria" pitchFamily="34" charset="0"/>
                <a:ea typeface="Cambria" pitchFamily="34" charset="-122"/>
                <a:cs typeface="Cambria" pitchFamily="34" charset="-120"/>
              </a:rPr>
              <a:t>Rs 110.78 Cr of project cost, and one line the bank will not fund</a:t>
            </a:r>
            <a:endParaRPr lang="en-US" sz="27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5074920" cy="914400"/>
        </p:xfrm>
        <a:graphic>
          <a:graphicData uri="http://schemas.openxmlformats.org/drawingml/2006/table">
            <a:tbl>
              <a:tblPr/>
              <a:tblGrid>
                <a:gridCol w="3063240"/>
                <a:gridCol w="960120"/>
                <a:gridCol w="1051560"/>
              </a:tblGrid>
              <a:tr h="260604">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Cost head</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Rs Cr</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 of total</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r>
              <a:tr h="260604">
                <a:tc>
                  <a:txBody>
                    <a:bodyPr/>
                    <a:lstStyle/>
                    <a:p>
                      <a:pPr algn="l" indent="0" marL="0">
                        <a:buNone/>
                      </a:pPr>
                      <a:r>
                        <a:rPr lang="en-US" sz="950" dirty="0">
                          <a:solidFill>
                            <a:srgbClr val="1A2E33"/>
                          </a:solidFill>
                          <a:latin typeface="Arial" pitchFamily="34" charset="0"/>
                          <a:ea typeface="Arial" pitchFamily="34" charset="-122"/>
                          <a:cs typeface="Arial" pitchFamily="34" charset="-120"/>
                        </a:rPr>
                        <a:t>Civil construction</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28.35</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25.6%</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260604">
                <a:tc>
                  <a:txBody>
                    <a:bodyPr/>
                    <a:lstStyle/>
                    <a:p>
                      <a:pPr algn="l" indent="0" marL="0">
                        <a:buNone/>
                      </a:pPr>
                      <a:r>
                        <a:rPr lang="en-US" sz="950" dirty="0">
                          <a:solidFill>
                            <a:srgbClr val="1A2E33"/>
                          </a:solidFill>
                          <a:latin typeface="Arial" pitchFamily="34" charset="0"/>
                          <a:ea typeface="Arial" pitchFamily="34" charset="-122"/>
                          <a:cs typeface="Arial" pitchFamily="34" charset="-120"/>
                        </a:rPr>
                        <a:t>Medical equipment</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26.50</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23.9%</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r h="260604">
                <a:tc>
                  <a:txBody>
                    <a:bodyPr/>
                    <a:lstStyle/>
                    <a:p>
                      <a:pPr algn="l" indent="0" marL="0">
                        <a:buNone/>
                      </a:pPr>
                      <a:r>
                        <a:rPr lang="en-US" sz="950" dirty="0">
                          <a:solidFill>
                            <a:srgbClr val="1A2E33"/>
                          </a:solidFill>
                          <a:latin typeface="Arial" pitchFamily="34" charset="0"/>
                          <a:ea typeface="Arial" pitchFamily="34" charset="-122"/>
                          <a:cs typeface="Arial" pitchFamily="34" charset="-120"/>
                        </a:rPr>
                        <a:t>Land (freehold)</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11.00</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9.9%</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260604">
                <a:tc>
                  <a:txBody>
                    <a:bodyPr/>
                    <a:lstStyle/>
                    <a:p>
                      <a:pPr algn="l" indent="0" marL="0">
                        <a:buNone/>
                      </a:pPr>
                      <a:r>
                        <a:rPr lang="en-US" sz="950" dirty="0">
                          <a:solidFill>
                            <a:srgbClr val="1A2E33"/>
                          </a:solidFill>
                          <a:latin typeface="Arial" pitchFamily="34" charset="0"/>
                          <a:ea typeface="Arial" pitchFamily="34" charset="-122"/>
                          <a:cs typeface="Arial" pitchFamily="34" charset="-120"/>
                        </a:rPr>
                        <a:t>MEP &amp; building services</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9.98</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9.0%</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r h="260604">
                <a:tc>
                  <a:txBody>
                    <a:bodyPr/>
                    <a:lstStyle/>
                    <a:p>
                      <a:pPr algn="l" indent="0" marL="0">
                        <a:buNone/>
                      </a:pPr>
                      <a:r>
                        <a:rPr lang="en-US" sz="950" dirty="0">
                          <a:solidFill>
                            <a:srgbClr val="1A2E33"/>
                          </a:solidFill>
                          <a:latin typeface="Arial" pitchFamily="34" charset="0"/>
                          <a:ea typeface="Arial" pitchFamily="34" charset="-122"/>
                          <a:cs typeface="Arial" pitchFamily="34" charset="-120"/>
                        </a:rPr>
                        <a:t>Non-medical equipment &amp; utilities</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6.20</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5.6%</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260604">
                <a:tc>
                  <a:txBody>
                    <a:bodyPr/>
                    <a:lstStyle/>
                    <a:p>
                      <a:pPr algn="l" indent="0" marL="0">
                        <a:buNone/>
                      </a:pPr>
                      <a:r>
                        <a:rPr lang="en-US" sz="950" dirty="0">
                          <a:solidFill>
                            <a:srgbClr val="1A2E33"/>
                          </a:solidFill>
                          <a:latin typeface="Arial" pitchFamily="34" charset="0"/>
                          <a:ea typeface="Arial" pitchFamily="34" charset="-122"/>
                          <a:cs typeface="Arial" pitchFamily="34" charset="-120"/>
                        </a:rPr>
                        <a:t>Interest during construction (IDC)</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5.63</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5.1%</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r h="260604">
                <a:tc>
                  <a:txBody>
                    <a:bodyPr/>
                    <a:lstStyle/>
                    <a:p>
                      <a:pPr algn="l" indent="0" marL="0">
                        <a:buNone/>
                      </a:pPr>
                      <a:r>
                        <a:rPr lang="en-US" sz="950" dirty="0">
                          <a:solidFill>
                            <a:srgbClr val="1A2E33"/>
                          </a:solidFill>
                          <a:latin typeface="Arial" pitchFamily="34" charset="0"/>
                          <a:ea typeface="Arial" pitchFamily="34" charset="-122"/>
                          <a:cs typeface="Arial" pitchFamily="34" charset="-120"/>
                        </a:rPr>
                        <a:t>Interiors &amp; finishes</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5.46</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4.9%</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260604">
                <a:tc>
                  <a:txBody>
                    <a:bodyPr/>
                    <a:lstStyle/>
                    <a:p>
                      <a:pPr algn="l" indent="0" marL="0">
                        <a:buNone/>
                      </a:pPr>
                      <a:r>
                        <a:rPr lang="en-US" sz="950" dirty="0">
                          <a:solidFill>
                            <a:srgbClr val="1A2E33"/>
                          </a:solidFill>
                          <a:latin typeface="Arial" pitchFamily="34" charset="0"/>
                          <a:ea typeface="Arial" pitchFamily="34" charset="-122"/>
                          <a:cs typeface="Arial" pitchFamily="34" charset="-120"/>
                        </a:rPr>
                        <a:t>Pre-operative expenses</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4.50</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4.1%</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r h="260604">
                <a:tc>
                  <a:txBody>
                    <a:bodyPr/>
                    <a:lstStyle/>
                    <a:p>
                      <a:pPr algn="l" indent="0" marL="0">
                        <a:buNone/>
                      </a:pPr>
                      <a:r>
                        <a:rPr lang="en-US" sz="950" dirty="0">
                          <a:solidFill>
                            <a:srgbClr val="1A2E33"/>
                          </a:solidFill>
                          <a:latin typeface="Arial" pitchFamily="34" charset="0"/>
                          <a:ea typeface="Arial" pitchFamily="34" charset="-122"/>
                          <a:cs typeface="Arial" pitchFamily="34" charset="-120"/>
                        </a:rPr>
                        <a:t>Other heads</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18.79</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17.0%</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260604">
                <a:tc>
                  <a:txBody>
                    <a:bodyPr/>
                    <a:lstStyle/>
                    <a:p>
                      <a:pPr algn="l" indent="0" marL="0">
                        <a:buNone/>
                      </a:pPr>
                      <a:r>
                        <a:rPr lang="en-US" sz="950" b="1" dirty="0">
                          <a:solidFill>
                            <a:srgbClr val="1A2E33"/>
                          </a:solidFill>
                          <a:latin typeface="Arial" pitchFamily="34" charset="0"/>
                          <a:ea typeface="Arial" pitchFamily="34" charset="-122"/>
                          <a:cs typeface="Arial" pitchFamily="34" charset="-120"/>
                        </a:rPr>
                        <a:t>Total cost of project</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b="1" dirty="0">
                          <a:solidFill>
                            <a:srgbClr val="1A2E33"/>
                          </a:solidFill>
                          <a:latin typeface="Arial" pitchFamily="34" charset="0"/>
                          <a:ea typeface="Arial" pitchFamily="34" charset="-122"/>
                          <a:cs typeface="Arial" pitchFamily="34" charset="-120"/>
                        </a:rPr>
                        <a:t>110.78</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b="1" dirty="0">
                          <a:solidFill>
                            <a:srgbClr val="1A2E33"/>
                          </a:solidFill>
                          <a:latin typeface="Arial" pitchFamily="34" charset="0"/>
                          <a:ea typeface="Arial" pitchFamily="34" charset="-122"/>
                          <a:cs typeface="Arial" pitchFamily="34" charset="-120"/>
                        </a:rPr>
                        <a:t>100.0%</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bl>
          </a:graphicData>
        </a:graphic>
      </p:graphicFrame>
      <p:sp>
        <p:nvSpPr>
          <p:cNvPr id="5" name="Text 2"/>
          <p:cNvSpPr/>
          <p:nvPr/>
        </p:nvSpPr>
        <p:spPr>
          <a:xfrm>
            <a:off x="6053328" y="1325880"/>
            <a:ext cx="5541264" cy="274320"/>
          </a:xfrm>
          <a:prstGeom prst="rect">
            <a:avLst/>
          </a:prstGeom>
          <a:noFill/>
          <a:ln/>
        </p:spPr>
        <p:txBody>
          <a:bodyPr wrap="square" rtlCol="0" anchor="ctr"/>
          <a:lstStyle/>
          <a:p>
            <a:pPr indent="0" marL="0">
              <a:buNone/>
            </a:pPr>
            <a:r>
              <a:rPr lang="en-US" sz="1300" b="1" dirty="0">
                <a:solidFill>
                  <a:srgbClr val="128C8A"/>
                </a:solidFill>
                <a:latin typeface="Arial" pitchFamily="34" charset="0"/>
                <a:ea typeface="Arial" pitchFamily="34" charset="-122"/>
                <a:cs typeface="Arial" pitchFamily="34" charset="-120"/>
              </a:rPr>
              <a:t>Means of finance</a:t>
            </a:r>
            <a:endParaRPr lang="en-US" sz="13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053328" y="1691640"/>
          <a:ext cx="5541264" cy="914400"/>
        </p:xfrm>
        <a:graphic>
          <a:graphicData uri="http://schemas.openxmlformats.org/drawingml/2006/table">
            <a:tbl>
              <a:tblPr/>
              <a:tblGrid>
                <a:gridCol w="3108960"/>
                <a:gridCol w="1097280"/>
                <a:gridCol w="1335024"/>
              </a:tblGrid>
              <a:tr h="274320">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Source</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Rs Cr</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 of total funding</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r>
              <a:tr h="274320">
                <a:tc>
                  <a:txBody>
                    <a:bodyPr/>
                    <a:lstStyle/>
                    <a:p>
                      <a:pPr algn="l" indent="0" marL="0">
                        <a:buNone/>
                      </a:pPr>
                      <a:r>
                        <a:rPr lang="en-US" sz="950" dirty="0">
                          <a:solidFill>
                            <a:srgbClr val="1A2E33"/>
                          </a:solidFill>
                          <a:latin typeface="Arial" pitchFamily="34" charset="0"/>
                          <a:ea typeface="Arial" pitchFamily="34" charset="-122"/>
                          <a:cs typeface="Arial" pitchFamily="34" charset="-120"/>
                        </a:rPr>
                        <a:t>Term loan (70% of cost of project)</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77.54</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60.3%</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1A2E33"/>
                          </a:solidFill>
                          <a:latin typeface="Arial" pitchFamily="34" charset="0"/>
                          <a:ea typeface="Arial" pitchFamily="34" charset="-122"/>
                          <a:cs typeface="Arial" pitchFamily="34" charset="-120"/>
                        </a:rPr>
                        <a:t>Promoter equity — cash</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22.23</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17.3%</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r h="274320">
                <a:tc>
                  <a:txBody>
                    <a:bodyPr/>
                    <a:lstStyle/>
                    <a:p>
                      <a:pPr algn="l" indent="0" marL="0">
                        <a:buNone/>
                      </a:pPr>
                      <a:r>
                        <a:rPr lang="en-US" sz="950" dirty="0">
                          <a:solidFill>
                            <a:srgbClr val="1A2E33"/>
                          </a:solidFill>
                          <a:latin typeface="Arial" pitchFamily="34" charset="0"/>
                          <a:ea typeface="Arial" pitchFamily="34" charset="-122"/>
                          <a:cs typeface="Arial" pitchFamily="34" charset="-120"/>
                        </a:rPr>
                        <a:t>Promoter equity — land in kind</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11.00</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8.6%</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1A2E33"/>
                          </a:solidFill>
                          <a:latin typeface="Arial" pitchFamily="34" charset="0"/>
                          <a:ea typeface="Arial" pitchFamily="34" charset="-122"/>
                          <a:cs typeface="Arial" pitchFamily="34" charset="-120"/>
                        </a:rPr>
                        <a:t>Promoter cash-flow support</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DF3E3"/>
                    </a:solidFill>
                  </a:tcPr>
                </a:tc>
                <a:tc>
                  <a:txBody>
                    <a:bodyPr/>
                    <a:lstStyle/>
                    <a:p>
                      <a:pPr algn="ctr" indent="0" marL="0">
                        <a:buNone/>
                      </a:pPr>
                      <a:r>
                        <a:rPr lang="en-US" sz="950" b="1" dirty="0">
                          <a:solidFill>
                            <a:srgbClr val="1A2E33"/>
                          </a:solidFill>
                          <a:latin typeface="Arial" pitchFamily="34" charset="0"/>
                          <a:ea typeface="Arial" pitchFamily="34" charset="-122"/>
                          <a:cs typeface="Arial" pitchFamily="34" charset="-120"/>
                        </a:rPr>
                        <a:t>17.80</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DF3E3"/>
                    </a:solidFill>
                  </a:tcPr>
                </a:tc>
                <a:tc>
                  <a:txBody>
                    <a:bodyPr/>
                    <a:lstStyle/>
                    <a:p>
                      <a:pPr algn="ctr" indent="0" marL="0">
                        <a:buNone/>
                      </a:pPr>
                      <a:r>
                        <a:rPr lang="en-US" sz="950" b="1" dirty="0">
                          <a:solidFill>
                            <a:srgbClr val="1A2E33"/>
                          </a:solidFill>
                          <a:latin typeface="Arial" pitchFamily="34" charset="0"/>
                          <a:ea typeface="Arial" pitchFamily="34" charset="-122"/>
                          <a:cs typeface="Arial" pitchFamily="34" charset="-120"/>
                        </a:rPr>
                        <a:t>13.8%</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DF3E3"/>
                    </a:solidFill>
                  </a:tcPr>
                </a:tc>
              </a:tr>
              <a:tr h="274320">
                <a:tc>
                  <a:txBody>
                    <a:bodyPr/>
                    <a:lstStyle/>
                    <a:p>
                      <a:pPr algn="l" indent="0" marL="0">
                        <a:buNone/>
                      </a:pPr>
                      <a:r>
                        <a:rPr lang="en-US" sz="950" b="1" dirty="0">
                          <a:solidFill>
                            <a:srgbClr val="1A2E33"/>
                          </a:solidFill>
                          <a:latin typeface="Arial" pitchFamily="34" charset="0"/>
                          <a:ea typeface="Arial" pitchFamily="34" charset="-122"/>
                          <a:cs typeface="Arial" pitchFamily="34" charset="-120"/>
                        </a:rPr>
                        <a:t>Total funding requirement</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A2E33"/>
                          </a:solidFill>
                          <a:latin typeface="Arial" pitchFamily="34" charset="0"/>
                          <a:ea typeface="Arial" pitchFamily="34" charset="-122"/>
                          <a:cs typeface="Arial" pitchFamily="34" charset="-120"/>
                        </a:rPr>
                        <a:t>128.58</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A2E33"/>
                          </a:solidFill>
                          <a:latin typeface="Arial" pitchFamily="34" charset="0"/>
                          <a:ea typeface="Arial" pitchFamily="34" charset="-122"/>
                          <a:cs typeface="Arial" pitchFamily="34" charset="-120"/>
                        </a:rPr>
                        <a:t>100.0%</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bl>
          </a:graphicData>
        </a:graphic>
      </p:graphicFrame>
      <p:sp>
        <p:nvSpPr>
          <p:cNvPr id="7" name="Shape 3"/>
          <p:cNvSpPr/>
          <p:nvPr/>
        </p:nvSpPr>
        <p:spPr>
          <a:xfrm>
            <a:off x="6053328" y="3520440"/>
            <a:ext cx="5541264" cy="2331720"/>
          </a:xfrm>
          <a:prstGeom prst="roundRect">
            <a:avLst>
              <a:gd name="adj" fmla="val 2353"/>
            </a:avLst>
          </a:prstGeom>
          <a:solidFill>
            <a:srgbClr val="0E3B43"/>
          </a:solidFill>
          <a:ln/>
        </p:spPr>
      </p:sp>
      <p:sp>
        <p:nvSpPr>
          <p:cNvPr id="8" name="Text 4"/>
          <p:cNvSpPr/>
          <p:nvPr/>
        </p:nvSpPr>
        <p:spPr>
          <a:xfrm>
            <a:off x="6327648" y="3675888"/>
            <a:ext cx="5029200" cy="274320"/>
          </a:xfrm>
          <a:prstGeom prst="rect">
            <a:avLst/>
          </a:prstGeom>
          <a:noFill/>
          <a:ln/>
        </p:spPr>
        <p:txBody>
          <a:bodyPr wrap="square" rtlCol="0" anchor="ctr"/>
          <a:lstStyle/>
          <a:p>
            <a:pPr indent="0" marL="0">
              <a:buNone/>
            </a:pPr>
            <a:r>
              <a:rPr lang="en-US" sz="1300" b="1" dirty="0">
                <a:solidFill>
                  <a:srgbClr val="E8A33D"/>
                </a:solidFill>
                <a:latin typeface="Arial" pitchFamily="34" charset="0"/>
                <a:ea typeface="Arial" pitchFamily="34" charset="-122"/>
                <a:cs typeface="Arial" pitchFamily="34" charset="-120"/>
              </a:rPr>
              <a:t>The line the bank will not fund</a:t>
            </a:r>
            <a:endParaRPr lang="en-US" sz="1300" dirty="0"/>
          </a:p>
        </p:txBody>
      </p:sp>
      <p:sp>
        <p:nvSpPr>
          <p:cNvPr id="9" name="Text 5"/>
          <p:cNvSpPr/>
          <p:nvPr/>
        </p:nvSpPr>
        <p:spPr>
          <a:xfrm>
            <a:off x="6327648" y="4005072"/>
            <a:ext cx="5029200" cy="1737360"/>
          </a:xfrm>
          <a:prstGeom prst="rect">
            <a:avLst/>
          </a:prstGeom>
          <a:noFill/>
          <a:ln/>
        </p:spPr>
        <p:txBody>
          <a:bodyPr wrap="square" rtlCol="0" anchor="ctr"/>
          <a:lstStyle/>
          <a:p>
            <a:pPr indent="0" marL="0">
              <a:lnSpc>
                <a:spcPct val="112000"/>
              </a:lnSpc>
              <a:spcAft>
                <a:spcPts val="900"/>
              </a:spcAft>
              <a:buNone/>
            </a:pPr>
            <a:r>
              <a:rPr lang="en-US" sz="1050" dirty="0">
                <a:solidFill>
                  <a:srgbClr val="FFFFFF"/>
                </a:solidFill>
                <a:latin typeface="Arial" pitchFamily="34" charset="0"/>
                <a:ea typeface="Arial" pitchFamily="34" charset="-122"/>
                <a:cs typeface="Arial" pitchFamily="34" charset="-120"/>
              </a:rPr>
              <a:t>A greenfield hospital loses money for roughly two years. This one records an EBITDA loss of Rs 3.9 Cr in Year 1 and cumulative losses of about Rs 30.1 Cr over three years.</a:t>
            </a:r>
            <a:endParaRPr lang="en-US" sz="1050" dirty="0"/>
          </a:p>
          <a:p>
            <a:pPr indent="0" marL="0">
              <a:lnSpc>
                <a:spcPct val="112000"/>
              </a:lnSpc>
              <a:spcAft>
                <a:spcPts val="900"/>
              </a:spcAft>
              <a:buNone/>
            </a:pPr>
            <a:r>
              <a:rPr lang="en-US" sz="1050" dirty="0">
                <a:solidFill>
                  <a:srgbClr val="FFFFFF"/>
                </a:solidFill>
                <a:latin typeface="Arial" pitchFamily="34" charset="0"/>
                <a:ea typeface="Arial" pitchFamily="34" charset="-122"/>
                <a:cs typeface="Arial" pitchFamily="34" charset="-120"/>
              </a:rPr>
              <a:t>Banks do not lend against operating losses, and should not. The promoter must therefore commit Rs 17.80 Cr separately — as a subordinated, non-withdrawable facility that counts as quasi-equity.</a:t>
            </a:r>
            <a:endParaRPr lang="en-US" sz="1050" dirty="0"/>
          </a:p>
          <a:p>
            <a:pPr indent="0" marL="0">
              <a:lnSpc>
                <a:spcPct val="112000"/>
              </a:lnSpc>
              <a:buNone/>
            </a:pPr>
            <a:r>
              <a:rPr lang="en-US" sz="1050" dirty="0">
                <a:solidFill>
                  <a:srgbClr val="FFFFFF"/>
                </a:solidFill>
                <a:latin typeface="Arial" pitchFamily="34" charset="0"/>
                <a:ea typeface="Arial" pitchFamily="34" charset="-122"/>
                <a:cs typeface="Arial" pitchFamily="34" charset="-120"/>
              </a:rPr>
              <a:t>Both views of gearing matter: 70:30 on the cost of project is what the sanction letter records. 60%:40% on total funding is the promoter's real exposure.</a:t>
            </a:r>
            <a:endParaRPr lang="en-US" sz="1050" dirty="0"/>
          </a:p>
        </p:txBody>
      </p:sp>
      <p:sp>
        <p:nvSpPr>
          <p:cNvPr id="10" name="Text 6"/>
          <p:cNvSpPr/>
          <p:nvPr/>
        </p:nvSpPr>
        <p:spPr>
          <a:xfrm>
            <a:off x="566928" y="5074920"/>
            <a:ext cx="5074920" cy="777240"/>
          </a:xfrm>
          <a:prstGeom prst="rect">
            <a:avLst/>
          </a:prstGeom>
          <a:noFill/>
          <a:ln/>
        </p:spPr>
        <p:txBody>
          <a:bodyPr wrap="square" rtlCol="0" anchor="ctr"/>
          <a:lstStyle/>
          <a:p>
            <a:pPr indent="0" marL="0">
              <a:lnSpc>
                <a:spcPct val="110000"/>
              </a:lnSpc>
              <a:buNone/>
            </a:pPr>
            <a:r>
              <a:rPr lang="en-US" sz="1000" i="1" dirty="0">
                <a:solidFill>
                  <a:srgbClr val="6B7F84"/>
                </a:solidFill>
                <a:latin typeface="Arial" pitchFamily="34" charset="0"/>
                <a:ea typeface="Arial" pitchFamily="34" charset="-122"/>
                <a:cs typeface="Arial" pitchFamily="34" charset="-120"/>
              </a:rPr>
              <a:t>Interest during construction of Rs 5.63 Cr is solved in closed form — IDC = k × HardCost ÷ (1 − k) — rather than by iteration, which avoids a circular reference and keeps the calculation auditable.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3B43"/>
        </a:solidFill>
      </p:bgPr>
    </p:bg>
    <p:spTree>
      <p:nvGrpSpPr>
        <p:cNvPr id="1" name=""/>
        <p:cNvGrpSpPr/>
        <p:nvPr/>
      </p:nvGrpSpPr>
      <p:grpSpPr>
        <a:xfrm>
          <a:off x="0" y="0"/>
          <a:ext cx="0" cy="0"/>
          <a:chOff x="0" y="0"/>
          <a:chExt cx="0" cy="0"/>
        </a:xfrm>
      </p:grpSpPr>
      <p:sp>
        <p:nvSpPr>
          <p:cNvPr id="2" name="Text 0"/>
          <p:cNvSpPr/>
          <p:nvPr/>
        </p:nvSpPr>
        <p:spPr>
          <a:xfrm>
            <a:off x="566928" y="658368"/>
            <a:ext cx="11027664" cy="274320"/>
          </a:xfrm>
          <a:prstGeom prst="rect">
            <a:avLst/>
          </a:prstGeom>
          <a:noFill/>
          <a:ln/>
        </p:spPr>
        <p:txBody>
          <a:bodyPr wrap="square" rtlCol="0" anchor="ctr"/>
          <a:lstStyle/>
          <a:p>
            <a:pPr indent="0" marL="0">
              <a:buNone/>
            </a:pPr>
            <a:r>
              <a:rPr lang="en-US" sz="1100" b="1" spc="200" kern="0" dirty="0">
                <a:solidFill>
                  <a:srgbClr val="E8A33D"/>
                </a:solidFill>
                <a:latin typeface="Arial" pitchFamily="34" charset="0"/>
                <a:ea typeface="Arial" pitchFamily="34" charset="-122"/>
                <a:cs typeface="Arial" pitchFamily="34" charset="-120"/>
              </a:rPr>
              <a:t>THE STRUCTURING FINDING</a:t>
            </a:r>
            <a:endParaRPr lang="en-US" sz="1100" dirty="0"/>
          </a:p>
        </p:txBody>
      </p:sp>
      <p:sp>
        <p:nvSpPr>
          <p:cNvPr id="3" name="Text 1"/>
          <p:cNvSpPr/>
          <p:nvPr/>
        </p:nvSpPr>
        <p:spPr>
          <a:xfrm>
            <a:off x="566928" y="987552"/>
            <a:ext cx="11027664" cy="603504"/>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It was never the leverage. It was the timing.</a:t>
            </a:r>
            <a:endParaRPr lang="en-US" sz="3200" dirty="0"/>
          </a:p>
        </p:txBody>
      </p:sp>
      <p:sp>
        <p:nvSpPr>
          <p:cNvPr id="4" name="Shape 2"/>
          <p:cNvSpPr/>
          <p:nvPr/>
        </p:nvSpPr>
        <p:spPr>
          <a:xfrm>
            <a:off x="566928" y="1828800"/>
            <a:ext cx="5394960" cy="2148840"/>
          </a:xfrm>
          <a:prstGeom prst="roundRect">
            <a:avLst>
              <a:gd name="adj" fmla="val 3404"/>
            </a:avLst>
          </a:prstGeom>
          <a:solidFill>
            <a:srgbClr val="3A1F1F"/>
          </a:solidFill>
          <a:ln w="19050">
            <a:solidFill>
              <a:srgbClr val="C0392B"/>
            </a:solidFill>
            <a:prstDash val="solid"/>
          </a:ln>
        </p:spPr>
      </p:sp>
      <p:sp>
        <p:nvSpPr>
          <p:cNvPr id="5" name="Text 3"/>
          <p:cNvSpPr/>
          <p:nvPr/>
        </p:nvSpPr>
        <p:spPr>
          <a:xfrm>
            <a:off x="841248" y="2011680"/>
            <a:ext cx="4846320" cy="274320"/>
          </a:xfrm>
          <a:prstGeom prst="rect">
            <a:avLst/>
          </a:prstGeom>
          <a:noFill/>
          <a:ln/>
        </p:spPr>
        <p:txBody>
          <a:bodyPr wrap="square" rtlCol="0" anchor="ctr"/>
          <a:lstStyle/>
          <a:p>
            <a:pPr indent="0" marL="0">
              <a:buNone/>
            </a:pPr>
            <a:r>
              <a:rPr lang="en-US" sz="1250" b="1" dirty="0">
                <a:solidFill>
                  <a:srgbClr val="F5B7B1"/>
                </a:solidFill>
                <a:latin typeface="Arial" pitchFamily="34" charset="0"/>
                <a:ea typeface="Arial" pitchFamily="34" charset="-122"/>
                <a:cs typeface="Arial" pitchFamily="34" charset="-120"/>
              </a:rPr>
              <a:t>As originally proposed</a:t>
            </a:r>
            <a:endParaRPr lang="en-US" sz="1250" dirty="0"/>
          </a:p>
        </p:txBody>
      </p:sp>
      <p:sp>
        <p:nvSpPr>
          <p:cNvPr id="6" name="Text 4"/>
          <p:cNvSpPr/>
          <p:nvPr/>
        </p:nvSpPr>
        <p:spPr>
          <a:xfrm>
            <a:off x="841248" y="2286000"/>
            <a:ext cx="4846320" cy="274320"/>
          </a:xfrm>
          <a:prstGeom prst="rect">
            <a:avLst/>
          </a:prstGeom>
          <a:noFill/>
          <a:ln/>
        </p:spPr>
        <p:txBody>
          <a:bodyPr wrap="square" rtlCol="0" anchor="ctr"/>
          <a:lstStyle/>
          <a:p>
            <a:pPr indent="0" marL="0">
              <a:buNone/>
            </a:pPr>
            <a:r>
              <a:rPr lang="en-US" sz="1050" dirty="0">
                <a:solidFill>
                  <a:srgbClr val="E8C8C4"/>
                </a:solidFill>
                <a:latin typeface="Arial" pitchFamily="34" charset="0"/>
                <a:ea typeface="Arial" pitchFamily="34" charset="-122"/>
                <a:cs typeface="Arial" pitchFamily="34" charset="-120"/>
              </a:rPr>
              <a:t>70:30 gearing · first principal instalment in operating Year 2</a:t>
            </a:r>
            <a:endParaRPr lang="en-US" sz="1050" dirty="0"/>
          </a:p>
        </p:txBody>
      </p:sp>
      <p:sp>
        <p:nvSpPr>
          <p:cNvPr id="7" name="Text 5"/>
          <p:cNvSpPr/>
          <p:nvPr/>
        </p:nvSpPr>
        <p:spPr>
          <a:xfrm>
            <a:off x="841248" y="2606040"/>
            <a:ext cx="2286000" cy="713232"/>
          </a:xfrm>
          <a:prstGeom prst="rect">
            <a:avLst/>
          </a:prstGeom>
          <a:noFill/>
          <a:ln/>
        </p:spPr>
        <p:txBody>
          <a:bodyPr wrap="square" lIns="0" tIns="0" rIns="0" bIns="0" rtlCol="0" anchor="ctr"/>
          <a:lstStyle/>
          <a:p>
            <a:pPr indent="0" marL="0">
              <a:buNone/>
            </a:pPr>
            <a:r>
              <a:rPr lang="en-US" sz="4000" b="1" dirty="0">
                <a:solidFill>
                  <a:srgbClr val="F5B7B1"/>
                </a:solidFill>
                <a:latin typeface="Cambria" pitchFamily="34" charset="0"/>
                <a:ea typeface="Cambria" pitchFamily="34" charset="-122"/>
                <a:cs typeface="Cambria" pitchFamily="34" charset="-120"/>
              </a:rPr>
              <a:t>0.27x</a:t>
            </a:r>
            <a:endParaRPr lang="en-US" sz="4000" dirty="0"/>
          </a:p>
        </p:txBody>
      </p:sp>
      <p:sp>
        <p:nvSpPr>
          <p:cNvPr id="8" name="Text 6"/>
          <p:cNvSpPr/>
          <p:nvPr/>
        </p:nvSpPr>
        <p:spPr>
          <a:xfrm>
            <a:off x="841248" y="3310128"/>
            <a:ext cx="2286000" cy="256032"/>
          </a:xfrm>
          <a:prstGeom prst="rect">
            <a:avLst/>
          </a:prstGeom>
          <a:noFill/>
          <a:ln/>
        </p:spPr>
        <p:txBody>
          <a:bodyPr wrap="square" lIns="0" tIns="0" rIns="0" bIns="0" rtlCol="0" anchor="ctr"/>
          <a:lstStyle/>
          <a:p>
            <a:pPr indent="0" marL="0">
              <a:buNone/>
            </a:pPr>
            <a:r>
              <a:rPr lang="en-US" sz="1050" dirty="0">
                <a:solidFill>
                  <a:srgbClr val="E8C8C4"/>
                </a:solidFill>
                <a:latin typeface="Arial" pitchFamily="34" charset="0"/>
                <a:ea typeface="Arial" pitchFamily="34" charset="-122"/>
                <a:cs typeface="Arial" pitchFamily="34" charset="-120"/>
              </a:rPr>
              <a:t>minimum DSCR</a:t>
            </a:r>
            <a:endParaRPr lang="en-US" sz="1050" dirty="0"/>
          </a:p>
        </p:txBody>
      </p:sp>
      <p:sp>
        <p:nvSpPr>
          <p:cNvPr id="9" name="Text 7"/>
          <p:cNvSpPr/>
          <p:nvPr/>
        </p:nvSpPr>
        <p:spPr>
          <a:xfrm>
            <a:off x="3401568" y="2606040"/>
            <a:ext cx="2286000" cy="713232"/>
          </a:xfrm>
          <a:prstGeom prst="rect">
            <a:avLst/>
          </a:prstGeom>
          <a:noFill/>
          <a:ln/>
        </p:spPr>
        <p:txBody>
          <a:bodyPr wrap="square" lIns="0" tIns="0" rIns="0" bIns="0" rtlCol="0" anchor="ctr"/>
          <a:lstStyle/>
          <a:p>
            <a:pPr indent="0" marL="0">
              <a:buNone/>
            </a:pPr>
            <a:r>
              <a:rPr lang="en-US" sz="4000" b="1" dirty="0">
                <a:solidFill>
                  <a:srgbClr val="F5B7B1"/>
                </a:solidFill>
                <a:latin typeface="Cambria" pitchFamily="34" charset="0"/>
                <a:ea typeface="Cambria" pitchFamily="34" charset="-122"/>
                <a:cs typeface="Cambria" pitchFamily="34" charset="-120"/>
              </a:rPr>
              <a:t>2</a:t>
            </a:r>
            <a:endParaRPr lang="en-US" sz="4000" dirty="0"/>
          </a:p>
        </p:txBody>
      </p:sp>
      <p:sp>
        <p:nvSpPr>
          <p:cNvPr id="10" name="Text 8"/>
          <p:cNvSpPr/>
          <p:nvPr/>
        </p:nvSpPr>
        <p:spPr>
          <a:xfrm>
            <a:off x="3401568" y="3310128"/>
            <a:ext cx="2286000" cy="256032"/>
          </a:xfrm>
          <a:prstGeom prst="rect">
            <a:avLst/>
          </a:prstGeom>
          <a:noFill/>
          <a:ln/>
        </p:spPr>
        <p:txBody>
          <a:bodyPr wrap="square" lIns="0" tIns="0" rIns="0" bIns="0" rtlCol="0" anchor="ctr"/>
          <a:lstStyle/>
          <a:p>
            <a:pPr indent="0" marL="0">
              <a:buNone/>
            </a:pPr>
            <a:r>
              <a:rPr lang="en-US" sz="1050" dirty="0">
                <a:solidFill>
                  <a:srgbClr val="E8C8C4"/>
                </a:solidFill>
                <a:latin typeface="Arial" pitchFamily="34" charset="0"/>
                <a:ea typeface="Arial" pitchFamily="34" charset="-122"/>
                <a:cs typeface="Arial" pitchFamily="34" charset="-120"/>
              </a:rPr>
              <a:t>covenant breach years</a:t>
            </a:r>
            <a:endParaRPr lang="en-US" sz="1050" dirty="0"/>
          </a:p>
        </p:txBody>
      </p:sp>
      <p:sp>
        <p:nvSpPr>
          <p:cNvPr id="11" name="Text 9"/>
          <p:cNvSpPr/>
          <p:nvPr/>
        </p:nvSpPr>
        <p:spPr>
          <a:xfrm>
            <a:off x="841248" y="3621024"/>
            <a:ext cx="4846320" cy="274320"/>
          </a:xfrm>
          <a:prstGeom prst="rect">
            <a:avLst/>
          </a:prstGeom>
          <a:noFill/>
          <a:ln/>
        </p:spPr>
        <p:txBody>
          <a:bodyPr wrap="square" lIns="0" tIns="0" rIns="0" bIns="0" rtlCol="0" anchor="ctr"/>
          <a:lstStyle/>
          <a:p>
            <a:pPr indent="0" marL="0">
              <a:buNone/>
            </a:pPr>
            <a:r>
              <a:rPr lang="en-US" sz="1300" b="1" dirty="0">
                <a:solidFill>
                  <a:srgbClr val="C0392B"/>
                </a:solidFill>
                <a:latin typeface="Arial" pitchFamily="34" charset="0"/>
                <a:ea typeface="Arial" pitchFamily="34" charset="-122"/>
                <a:cs typeface="Arial" pitchFamily="34" charset="-120"/>
              </a:rPr>
              <a:t>NOT BANKABLE</a:t>
            </a:r>
            <a:endParaRPr lang="en-US" sz="1300" dirty="0"/>
          </a:p>
        </p:txBody>
      </p:sp>
      <p:sp>
        <p:nvSpPr>
          <p:cNvPr id="12" name="Shape 10"/>
          <p:cNvSpPr/>
          <p:nvPr/>
        </p:nvSpPr>
        <p:spPr>
          <a:xfrm>
            <a:off x="6199632" y="1828800"/>
            <a:ext cx="5394960" cy="2148840"/>
          </a:xfrm>
          <a:prstGeom prst="roundRect">
            <a:avLst>
              <a:gd name="adj" fmla="val 3404"/>
            </a:avLst>
          </a:prstGeom>
          <a:solidFill>
            <a:srgbClr val="10453F"/>
          </a:solidFill>
          <a:ln w="19050">
            <a:solidFill>
              <a:srgbClr val="2ECC9B"/>
            </a:solidFill>
            <a:prstDash val="solid"/>
          </a:ln>
        </p:spPr>
      </p:sp>
      <p:sp>
        <p:nvSpPr>
          <p:cNvPr id="13" name="Text 11"/>
          <p:cNvSpPr/>
          <p:nvPr/>
        </p:nvSpPr>
        <p:spPr>
          <a:xfrm>
            <a:off x="6473952" y="2011680"/>
            <a:ext cx="4846320" cy="274320"/>
          </a:xfrm>
          <a:prstGeom prst="rect">
            <a:avLst/>
          </a:prstGeom>
          <a:noFill/>
          <a:ln/>
        </p:spPr>
        <p:txBody>
          <a:bodyPr wrap="square" rtlCol="0" anchor="ctr"/>
          <a:lstStyle/>
          <a:p>
            <a:pPr indent="0" marL="0">
              <a:buNone/>
            </a:pPr>
            <a:r>
              <a:rPr lang="en-US" sz="1250" b="1" dirty="0">
                <a:solidFill>
                  <a:srgbClr val="9EE6CE"/>
                </a:solidFill>
                <a:latin typeface="Arial" pitchFamily="34" charset="0"/>
                <a:ea typeface="Arial" pitchFamily="34" charset="-122"/>
                <a:cs typeface="Arial" pitchFamily="34" charset="-120"/>
              </a:rPr>
              <a:t>Recommended</a:t>
            </a:r>
            <a:endParaRPr lang="en-US" sz="1250" dirty="0"/>
          </a:p>
        </p:txBody>
      </p:sp>
      <p:sp>
        <p:nvSpPr>
          <p:cNvPr id="14" name="Text 12"/>
          <p:cNvSpPr/>
          <p:nvPr/>
        </p:nvSpPr>
        <p:spPr>
          <a:xfrm>
            <a:off x="6473952" y="2286000"/>
            <a:ext cx="4846320" cy="274320"/>
          </a:xfrm>
          <a:prstGeom prst="rect">
            <a:avLst/>
          </a:prstGeom>
          <a:noFill/>
          <a:ln/>
        </p:spPr>
        <p:txBody>
          <a:bodyPr wrap="square" rtlCol="0" anchor="ctr"/>
          <a:lstStyle/>
          <a:p>
            <a:pPr indent="0" marL="0">
              <a:buNone/>
            </a:pPr>
            <a:r>
              <a:rPr lang="en-US" sz="1050" dirty="0">
                <a:solidFill>
                  <a:srgbClr val="C6EADC"/>
                </a:solidFill>
                <a:latin typeface="Arial" pitchFamily="34" charset="0"/>
                <a:ea typeface="Arial" pitchFamily="34" charset="-122"/>
                <a:cs typeface="Arial" pitchFamily="34" charset="-120"/>
              </a:rPr>
              <a:t>70:30 gearing · first principal instalment in operating Year 4</a:t>
            </a:r>
            <a:endParaRPr lang="en-US" sz="1050" dirty="0"/>
          </a:p>
        </p:txBody>
      </p:sp>
      <p:sp>
        <p:nvSpPr>
          <p:cNvPr id="15" name="Text 13"/>
          <p:cNvSpPr/>
          <p:nvPr/>
        </p:nvSpPr>
        <p:spPr>
          <a:xfrm>
            <a:off x="6473952" y="2606040"/>
            <a:ext cx="2286000" cy="713232"/>
          </a:xfrm>
          <a:prstGeom prst="rect">
            <a:avLst/>
          </a:prstGeom>
          <a:noFill/>
          <a:ln/>
        </p:spPr>
        <p:txBody>
          <a:bodyPr wrap="square" lIns="0" tIns="0" rIns="0" bIns="0" rtlCol="0" anchor="ctr"/>
          <a:lstStyle/>
          <a:p>
            <a:pPr indent="0" marL="0">
              <a:buNone/>
            </a:pPr>
            <a:r>
              <a:rPr lang="en-US" sz="4000" b="1" dirty="0">
                <a:solidFill>
                  <a:srgbClr val="9EE6CE"/>
                </a:solidFill>
                <a:latin typeface="Cambria" pitchFamily="34" charset="0"/>
                <a:ea typeface="Cambria" pitchFamily="34" charset="-122"/>
                <a:cs typeface="Cambria" pitchFamily="34" charset="-120"/>
              </a:rPr>
              <a:t>1.46x</a:t>
            </a:r>
            <a:endParaRPr lang="en-US" sz="4000" dirty="0"/>
          </a:p>
        </p:txBody>
      </p:sp>
      <p:sp>
        <p:nvSpPr>
          <p:cNvPr id="16" name="Text 14"/>
          <p:cNvSpPr/>
          <p:nvPr/>
        </p:nvSpPr>
        <p:spPr>
          <a:xfrm>
            <a:off x="6473952" y="3310128"/>
            <a:ext cx="2286000" cy="256032"/>
          </a:xfrm>
          <a:prstGeom prst="rect">
            <a:avLst/>
          </a:prstGeom>
          <a:noFill/>
          <a:ln/>
        </p:spPr>
        <p:txBody>
          <a:bodyPr wrap="square" lIns="0" tIns="0" rIns="0" bIns="0" rtlCol="0" anchor="ctr"/>
          <a:lstStyle/>
          <a:p>
            <a:pPr indent="0" marL="0">
              <a:buNone/>
            </a:pPr>
            <a:r>
              <a:rPr lang="en-US" sz="1050" dirty="0">
                <a:solidFill>
                  <a:srgbClr val="C6EADC"/>
                </a:solidFill>
                <a:latin typeface="Arial" pitchFamily="34" charset="0"/>
                <a:ea typeface="Arial" pitchFamily="34" charset="-122"/>
                <a:cs typeface="Arial" pitchFamily="34" charset="-120"/>
              </a:rPr>
              <a:t>minimum DSCR</a:t>
            </a:r>
            <a:endParaRPr lang="en-US" sz="1050" dirty="0"/>
          </a:p>
        </p:txBody>
      </p:sp>
      <p:sp>
        <p:nvSpPr>
          <p:cNvPr id="17" name="Text 15"/>
          <p:cNvSpPr/>
          <p:nvPr/>
        </p:nvSpPr>
        <p:spPr>
          <a:xfrm>
            <a:off x="9034272" y="2606040"/>
            <a:ext cx="2286000" cy="713232"/>
          </a:xfrm>
          <a:prstGeom prst="rect">
            <a:avLst/>
          </a:prstGeom>
          <a:noFill/>
          <a:ln/>
        </p:spPr>
        <p:txBody>
          <a:bodyPr wrap="square" lIns="0" tIns="0" rIns="0" bIns="0" rtlCol="0" anchor="ctr"/>
          <a:lstStyle/>
          <a:p>
            <a:pPr indent="0" marL="0">
              <a:buNone/>
            </a:pPr>
            <a:r>
              <a:rPr lang="en-US" sz="4000" b="1" dirty="0">
                <a:solidFill>
                  <a:srgbClr val="9EE6CE"/>
                </a:solidFill>
                <a:latin typeface="Cambria" pitchFamily="34" charset="0"/>
                <a:ea typeface="Cambria" pitchFamily="34" charset="-122"/>
                <a:cs typeface="Cambria" pitchFamily="34" charset="-120"/>
              </a:rPr>
              <a:t>0</a:t>
            </a:r>
            <a:endParaRPr lang="en-US" sz="4000" dirty="0"/>
          </a:p>
        </p:txBody>
      </p:sp>
      <p:sp>
        <p:nvSpPr>
          <p:cNvPr id="18" name="Text 16"/>
          <p:cNvSpPr/>
          <p:nvPr/>
        </p:nvSpPr>
        <p:spPr>
          <a:xfrm>
            <a:off x="9034272" y="3310128"/>
            <a:ext cx="2286000" cy="256032"/>
          </a:xfrm>
          <a:prstGeom prst="rect">
            <a:avLst/>
          </a:prstGeom>
          <a:noFill/>
          <a:ln/>
        </p:spPr>
        <p:txBody>
          <a:bodyPr wrap="square" lIns="0" tIns="0" rIns="0" bIns="0" rtlCol="0" anchor="ctr"/>
          <a:lstStyle/>
          <a:p>
            <a:pPr indent="0" marL="0">
              <a:buNone/>
            </a:pPr>
            <a:r>
              <a:rPr lang="en-US" sz="1050" dirty="0">
                <a:solidFill>
                  <a:srgbClr val="C6EADC"/>
                </a:solidFill>
                <a:latin typeface="Arial" pitchFamily="34" charset="0"/>
                <a:ea typeface="Arial" pitchFamily="34" charset="-122"/>
                <a:cs typeface="Arial" pitchFamily="34" charset="-120"/>
              </a:rPr>
              <a:t>covenant breach years</a:t>
            </a:r>
            <a:endParaRPr lang="en-US" sz="1050" dirty="0"/>
          </a:p>
        </p:txBody>
      </p:sp>
      <p:sp>
        <p:nvSpPr>
          <p:cNvPr id="19" name="Text 17"/>
          <p:cNvSpPr/>
          <p:nvPr/>
        </p:nvSpPr>
        <p:spPr>
          <a:xfrm>
            <a:off x="6473952" y="3621024"/>
            <a:ext cx="4846320" cy="274320"/>
          </a:xfrm>
          <a:prstGeom prst="rect">
            <a:avLst/>
          </a:prstGeom>
          <a:noFill/>
          <a:ln/>
        </p:spPr>
        <p:txBody>
          <a:bodyPr wrap="square" lIns="0" tIns="0" rIns="0" bIns="0" rtlCol="0" anchor="ctr"/>
          <a:lstStyle/>
          <a:p>
            <a:pPr indent="0" marL="0">
              <a:buNone/>
            </a:pPr>
            <a:r>
              <a:rPr lang="en-US" sz="1300" b="1" dirty="0">
                <a:solidFill>
                  <a:srgbClr val="2ECC9B"/>
                </a:solidFill>
                <a:latin typeface="Arial" pitchFamily="34" charset="0"/>
                <a:ea typeface="Arial" pitchFamily="34" charset="-122"/>
                <a:cs typeface="Arial" pitchFamily="34" charset="-120"/>
              </a:rPr>
              <a:t>BANKABLE, WITH HEADROOM</a:t>
            </a:r>
            <a:endParaRPr lang="en-US" sz="1300" dirty="0"/>
          </a:p>
        </p:txBody>
      </p:sp>
      <p:sp>
        <p:nvSpPr>
          <p:cNvPr id="20" name="Text 18"/>
          <p:cNvSpPr/>
          <p:nvPr/>
        </p:nvSpPr>
        <p:spPr>
          <a:xfrm>
            <a:off x="566928" y="4224528"/>
            <a:ext cx="11027664" cy="292608"/>
          </a:xfrm>
          <a:prstGeom prst="rect">
            <a:avLst/>
          </a:prstGeom>
          <a:noFill/>
          <a:ln/>
        </p:spPr>
        <p:txBody>
          <a:bodyPr wrap="square" rtlCol="0" anchor="ctr"/>
          <a:lstStyle/>
          <a:p>
            <a:pPr algn="ctr" indent="0" marL="0">
              <a:buNone/>
            </a:pPr>
            <a:r>
              <a:rPr lang="en-US" sz="1500" b="1" dirty="0">
                <a:solidFill>
                  <a:srgbClr val="E8A33D"/>
                </a:solidFill>
                <a:latin typeface="Arial" pitchFamily="34" charset="0"/>
                <a:ea typeface="Arial" pitchFamily="34" charset="-122"/>
                <a:cs typeface="Arial" pitchFamily="34" charset="-120"/>
              </a:rPr>
              <a:t>Identical gearing. Identical pricing. Identical operating plan.</a:t>
            </a:r>
            <a:endParaRPr lang="en-US" sz="1500" dirty="0"/>
          </a:p>
        </p:txBody>
      </p:sp>
      <p:sp>
        <p:nvSpPr>
          <p:cNvPr id="21" name="Text 19"/>
          <p:cNvSpPr/>
          <p:nvPr/>
        </p:nvSpPr>
        <p:spPr>
          <a:xfrm>
            <a:off x="1572768" y="4617720"/>
            <a:ext cx="9015984" cy="868680"/>
          </a:xfrm>
          <a:prstGeom prst="rect">
            <a:avLst/>
          </a:prstGeom>
          <a:noFill/>
          <a:ln/>
        </p:spPr>
        <p:txBody>
          <a:bodyPr wrap="square" rtlCol="0" anchor="ctr"/>
          <a:lstStyle/>
          <a:p>
            <a:pPr algn="ctr" indent="0" marL="0">
              <a:lnSpc>
                <a:spcPct val="114000"/>
              </a:lnSpc>
              <a:buNone/>
            </a:pPr>
            <a:r>
              <a:rPr lang="en-US" sz="1200" dirty="0">
                <a:solidFill>
                  <a:srgbClr val="CFE3E5"/>
                </a:solidFill>
                <a:latin typeface="Arial" pitchFamily="34" charset="0"/>
                <a:ea typeface="Arial" pitchFamily="34" charset="-122"/>
                <a:cs typeface="Arial" pitchFamily="34" charset="-120"/>
              </a:rPr>
              <a:t>Cash break-even occupancy in the stabilised years is about 61%, and this hospital only crosses it during Year 3. Requiring it to amortise debt in Year 2 is requiring it to repay principal out of capital rather than out of cash flow. No interest-rate concession fixes that — only the repayment profile does.</a:t>
            </a:r>
            <a:endParaRPr lang="en-US" sz="1200" dirty="0"/>
          </a:p>
        </p:txBody>
      </p:sp>
      <p:sp>
        <p:nvSpPr>
          <p:cNvPr id="22" name="Text 20"/>
          <p:cNvSpPr/>
          <p:nvPr/>
        </p:nvSpPr>
        <p:spPr>
          <a:xfrm>
            <a:off x="1572768" y="5559552"/>
            <a:ext cx="9015984" cy="548640"/>
          </a:xfrm>
          <a:prstGeom prst="rect">
            <a:avLst/>
          </a:prstGeom>
          <a:noFill/>
          <a:ln/>
        </p:spPr>
        <p:txBody>
          <a:bodyPr wrap="square" rtlCol="0" anchor="ctr"/>
          <a:lstStyle/>
          <a:p>
            <a:pPr algn="ctr" indent="0" marL="0">
              <a:lnSpc>
                <a:spcPct val="110000"/>
              </a:lnSpc>
              <a:buNone/>
            </a:pPr>
            <a:r>
              <a:rPr lang="en-US" sz="1100" i="1" dirty="0">
                <a:solidFill>
                  <a:srgbClr val="5FB8B3"/>
                </a:solidFill>
                <a:latin typeface="Arial" pitchFamily="34" charset="0"/>
                <a:ea typeface="Arial" pitchFamily="34" charset="-122"/>
                <a:cs typeface="Arial" pitchFamily="34" charset="-120"/>
              </a:rPr>
              <a:t>The generalisable rule: match the amortisation profile to the cash-generation profile. The lender loses no yield — interest accrues and is serviced throughout — and gains a materially safer credit.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37744"/>
          </a:xfrm>
          <a:prstGeom prst="rect">
            <a:avLst/>
          </a:prstGeom>
          <a:noFill/>
          <a:ln/>
        </p:spPr>
        <p:txBody>
          <a:bodyPr wrap="square" rtlCol="0" anchor="ctr"/>
          <a:lstStyle/>
          <a:p>
            <a:pPr indent="0" marL="0">
              <a:buNone/>
            </a:pPr>
            <a:r>
              <a:rPr lang="en-US" sz="1050" b="1" spc="140" kern="0" dirty="0">
                <a:solidFill>
                  <a:srgbClr val="128C8A"/>
                </a:solidFill>
                <a:latin typeface="Arial" pitchFamily="34" charset="0"/>
                <a:ea typeface="Arial" pitchFamily="34" charset="-122"/>
                <a:cs typeface="Arial" pitchFamily="34" charset="-120"/>
              </a:rPr>
              <a:t>REPAYMENT &amp; COVERAGE</a:t>
            </a:r>
            <a:endParaRPr lang="en-US" sz="1050" dirty="0"/>
          </a:p>
        </p:txBody>
      </p:sp>
      <p:sp>
        <p:nvSpPr>
          <p:cNvPr id="3" name="Text 1"/>
          <p:cNvSpPr/>
          <p:nvPr/>
        </p:nvSpPr>
        <p:spPr>
          <a:xfrm>
            <a:off x="566928" y="530352"/>
            <a:ext cx="11027664" cy="566928"/>
          </a:xfrm>
          <a:prstGeom prst="rect">
            <a:avLst/>
          </a:prstGeom>
          <a:noFill/>
          <a:ln/>
        </p:spPr>
        <p:txBody>
          <a:bodyPr wrap="square" rtlCol="0" anchor="ctr"/>
          <a:lstStyle/>
          <a:p>
            <a:pPr indent="0" marL="0">
              <a:buNone/>
            </a:pPr>
            <a:r>
              <a:rPr lang="en-US" sz="2700" b="1" dirty="0">
                <a:solidFill>
                  <a:srgbClr val="0E3B43"/>
                </a:solidFill>
                <a:latin typeface="Cambria" pitchFamily="34" charset="0"/>
                <a:ea typeface="Cambria" pitchFamily="34" charset="-122"/>
                <a:cs typeface="Cambria" pitchFamily="34" charset="-120"/>
              </a:rPr>
              <a:t>Debt service is covered from the first instalment onward</a:t>
            </a:r>
            <a:endParaRPr lang="en-US" sz="2700" dirty="0"/>
          </a:p>
        </p:txBody>
      </p:sp>
      <p:graphicFrame>
        <p:nvGraphicFramePr>
          <p:cNvPr id="4" name="Chart 0" descr=""/>
          <p:cNvGraphicFramePr/>
          <p:nvPr/>
        </p:nvGraphicFramePr>
        <p:xfrm>
          <a:off x="566928" y="1280160"/>
          <a:ext cx="6949440" cy="32918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744968" y="1298448"/>
            <a:ext cx="2084832" cy="1051560"/>
          </a:xfrm>
          <a:prstGeom prst="roundRect">
            <a:avLst>
              <a:gd name="adj" fmla="val 5217"/>
            </a:avLst>
          </a:prstGeom>
          <a:solidFill>
            <a:srgbClr val="E8F4F2"/>
          </a:solidFill>
          <a:ln w="12700">
            <a:solidFill>
              <a:srgbClr val="5FB8B3"/>
            </a:solidFill>
            <a:prstDash val="solid"/>
          </a:ln>
        </p:spPr>
      </p:sp>
      <p:sp>
        <p:nvSpPr>
          <p:cNvPr id="6" name="Text 3"/>
          <p:cNvSpPr/>
          <p:nvPr/>
        </p:nvSpPr>
        <p:spPr>
          <a:xfrm>
            <a:off x="7744968" y="1408176"/>
            <a:ext cx="2084832" cy="483718"/>
          </a:xfrm>
          <a:prstGeom prst="rect">
            <a:avLst/>
          </a:prstGeom>
          <a:noFill/>
          <a:ln/>
        </p:spPr>
        <p:txBody>
          <a:bodyPr wrap="square" lIns="0" tIns="0" rIns="0" bIns="0" rtlCol="0" anchor="ctr"/>
          <a:lstStyle/>
          <a:p>
            <a:pPr algn="ctr" indent="0" marL="0">
              <a:buNone/>
            </a:pPr>
            <a:r>
              <a:rPr lang="en-US" sz="2400" b="1" dirty="0">
                <a:solidFill>
                  <a:srgbClr val="0E3B43"/>
                </a:solidFill>
                <a:latin typeface="Cambria" pitchFamily="34" charset="0"/>
                <a:ea typeface="Cambria" pitchFamily="34" charset="-122"/>
                <a:cs typeface="Cambria" pitchFamily="34" charset="-120"/>
              </a:rPr>
              <a:t>1.46x</a:t>
            </a:r>
            <a:endParaRPr lang="en-US" sz="2400" dirty="0"/>
          </a:p>
        </p:txBody>
      </p:sp>
      <p:sp>
        <p:nvSpPr>
          <p:cNvPr id="7" name="Text 4"/>
          <p:cNvSpPr/>
          <p:nvPr/>
        </p:nvSpPr>
        <p:spPr>
          <a:xfrm>
            <a:off x="7818120" y="1845259"/>
            <a:ext cx="1938528" cy="252374"/>
          </a:xfrm>
          <a:prstGeom prst="rect">
            <a:avLst/>
          </a:prstGeom>
          <a:noFill/>
          <a:ln/>
        </p:spPr>
        <p:txBody>
          <a:bodyPr wrap="square" lIns="0" tIns="0" rIns="0" bIns="0" rtlCol="0" anchor="ctr"/>
          <a:lstStyle/>
          <a:p>
            <a:pPr algn="ctr" indent="0" marL="0">
              <a:buNone/>
            </a:pPr>
            <a:r>
              <a:rPr lang="en-US" sz="1050" b="1" dirty="0">
                <a:solidFill>
                  <a:srgbClr val="1A2E33"/>
                </a:solidFill>
                <a:latin typeface="Arial" pitchFamily="34" charset="0"/>
                <a:ea typeface="Arial" pitchFamily="34" charset="-122"/>
                <a:cs typeface="Arial" pitchFamily="34" charset="-120"/>
              </a:rPr>
              <a:t>Minimum DSCR</a:t>
            </a:r>
            <a:endParaRPr lang="en-US" sz="1050" dirty="0"/>
          </a:p>
        </p:txBody>
      </p:sp>
      <p:sp>
        <p:nvSpPr>
          <p:cNvPr id="8" name="Text 5"/>
          <p:cNvSpPr/>
          <p:nvPr/>
        </p:nvSpPr>
        <p:spPr>
          <a:xfrm>
            <a:off x="7818120" y="2076602"/>
            <a:ext cx="1938528" cy="231343"/>
          </a:xfrm>
          <a:prstGeom prst="rect">
            <a:avLst/>
          </a:prstGeom>
          <a:noFill/>
          <a:ln/>
        </p:spPr>
        <p:txBody>
          <a:bodyPr wrap="square" lIns="0" tIns="0" rIns="0" bIns="0" rtlCol="0" anchor="ctr"/>
          <a:lstStyle/>
          <a:p>
            <a:pPr algn="ctr" indent="0" marL="0">
              <a:buNone/>
            </a:pPr>
            <a:r>
              <a:rPr lang="en-US" sz="850" dirty="0">
                <a:solidFill>
                  <a:srgbClr val="6B7F84"/>
                </a:solidFill>
                <a:latin typeface="Arial" pitchFamily="34" charset="0"/>
                <a:ea typeface="Arial" pitchFamily="34" charset="-122"/>
                <a:cs typeface="Arial" pitchFamily="34" charset="-120"/>
              </a:rPr>
              <a:t>covenant 1.25x</a:t>
            </a:r>
            <a:endParaRPr lang="en-US" sz="850" dirty="0"/>
          </a:p>
        </p:txBody>
      </p:sp>
      <p:sp>
        <p:nvSpPr>
          <p:cNvPr id="9" name="Shape 6"/>
          <p:cNvSpPr/>
          <p:nvPr/>
        </p:nvSpPr>
        <p:spPr>
          <a:xfrm>
            <a:off x="9985248" y="1298448"/>
            <a:ext cx="2084832" cy="1051560"/>
          </a:xfrm>
          <a:prstGeom prst="roundRect">
            <a:avLst>
              <a:gd name="adj" fmla="val 5217"/>
            </a:avLst>
          </a:prstGeom>
          <a:solidFill>
            <a:srgbClr val="E8F4F2"/>
          </a:solidFill>
          <a:ln w="12700">
            <a:solidFill>
              <a:srgbClr val="5FB8B3"/>
            </a:solidFill>
            <a:prstDash val="solid"/>
          </a:ln>
        </p:spPr>
      </p:sp>
      <p:sp>
        <p:nvSpPr>
          <p:cNvPr id="10" name="Text 7"/>
          <p:cNvSpPr/>
          <p:nvPr/>
        </p:nvSpPr>
        <p:spPr>
          <a:xfrm>
            <a:off x="9985248" y="1408176"/>
            <a:ext cx="2084832" cy="483718"/>
          </a:xfrm>
          <a:prstGeom prst="rect">
            <a:avLst/>
          </a:prstGeom>
          <a:noFill/>
          <a:ln/>
        </p:spPr>
        <p:txBody>
          <a:bodyPr wrap="square" lIns="0" tIns="0" rIns="0" bIns="0" rtlCol="0" anchor="ctr"/>
          <a:lstStyle/>
          <a:p>
            <a:pPr algn="ctr" indent="0" marL="0">
              <a:buNone/>
            </a:pPr>
            <a:r>
              <a:rPr lang="en-US" sz="2400" b="1" dirty="0">
                <a:solidFill>
                  <a:srgbClr val="0E3B43"/>
                </a:solidFill>
                <a:latin typeface="Cambria" pitchFamily="34" charset="0"/>
                <a:ea typeface="Cambria" pitchFamily="34" charset="-122"/>
                <a:cs typeface="Cambria" pitchFamily="34" charset="-120"/>
              </a:rPr>
              <a:t>1.66x</a:t>
            </a:r>
            <a:endParaRPr lang="en-US" sz="2400" dirty="0"/>
          </a:p>
        </p:txBody>
      </p:sp>
      <p:sp>
        <p:nvSpPr>
          <p:cNvPr id="11" name="Text 8"/>
          <p:cNvSpPr/>
          <p:nvPr/>
        </p:nvSpPr>
        <p:spPr>
          <a:xfrm>
            <a:off x="10058400" y="1845259"/>
            <a:ext cx="1938528" cy="252374"/>
          </a:xfrm>
          <a:prstGeom prst="rect">
            <a:avLst/>
          </a:prstGeom>
          <a:noFill/>
          <a:ln/>
        </p:spPr>
        <p:txBody>
          <a:bodyPr wrap="square" lIns="0" tIns="0" rIns="0" bIns="0" rtlCol="0" anchor="ctr"/>
          <a:lstStyle/>
          <a:p>
            <a:pPr algn="ctr" indent="0" marL="0">
              <a:buNone/>
            </a:pPr>
            <a:r>
              <a:rPr lang="en-US" sz="1050" b="1" dirty="0">
                <a:solidFill>
                  <a:srgbClr val="1A2E33"/>
                </a:solidFill>
                <a:latin typeface="Arial" pitchFamily="34" charset="0"/>
                <a:ea typeface="Arial" pitchFamily="34" charset="-122"/>
                <a:cs typeface="Arial" pitchFamily="34" charset="-120"/>
              </a:rPr>
              <a:t>Average DSCR</a:t>
            </a:r>
            <a:endParaRPr lang="en-US" sz="1050" dirty="0"/>
          </a:p>
        </p:txBody>
      </p:sp>
      <p:sp>
        <p:nvSpPr>
          <p:cNvPr id="12" name="Text 9"/>
          <p:cNvSpPr/>
          <p:nvPr/>
        </p:nvSpPr>
        <p:spPr>
          <a:xfrm>
            <a:off x="10058400" y="2076602"/>
            <a:ext cx="1938528" cy="231343"/>
          </a:xfrm>
          <a:prstGeom prst="rect">
            <a:avLst/>
          </a:prstGeom>
          <a:noFill/>
          <a:ln/>
        </p:spPr>
        <p:txBody>
          <a:bodyPr wrap="square" lIns="0" tIns="0" rIns="0" bIns="0" rtlCol="0" anchor="ctr"/>
          <a:lstStyle/>
          <a:p>
            <a:pPr algn="ctr" indent="0" marL="0">
              <a:buNone/>
            </a:pPr>
            <a:r>
              <a:rPr lang="en-US" sz="850" dirty="0">
                <a:solidFill>
                  <a:srgbClr val="6B7F84"/>
                </a:solidFill>
                <a:latin typeface="Arial" pitchFamily="34" charset="0"/>
                <a:ea typeface="Arial" pitchFamily="34" charset="-122"/>
                <a:cs typeface="Arial" pitchFamily="34" charset="-120"/>
              </a:rPr>
              <a:t>over repayment</a:t>
            </a:r>
            <a:endParaRPr lang="en-US" sz="8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744968" y="2560320"/>
          <a:ext cx="4297680" cy="914400"/>
        </p:xfrm>
        <a:graphic>
          <a:graphicData uri="http://schemas.openxmlformats.org/drawingml/2006/table">
            <a:tbl>
              <a:tblPr/>
              <a:tblGrid>
                <a:gridCol w="1572768"/>
                <a:gridCol w="2724912"/>
              </a:tblGrid>
              <a:tr h="260604">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Term</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Proposal</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r>
              <a:tr h="260604">
                <a:tc>
                  <a:txBody>
                    <a:bodyPr/>
                    <a:lstStyle/>
                    <a:p>
                      <a:pPr algn="l" indent="0" marL="0">
                        <a:buNone/>
                      </a:pPr>
                      <a:r>
                        <a:rPr lang="en-US" sz="950" dirty="0">
                          <a:solidFill>
                            <a:srgbClr val="1A2E33"/>
                          </a:solidFill>
                          <a:latin typeface="Arial" pitchFamily="34" charset="0"/>
                          <a:ea typeface="Arial" pitchFamily="34" charset="-122"/>
                          <a:cs typeface="Arial" pitchFamily="34" charset="-120"/>
                        </a:rPr>
                        <a:t>Facility</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Rs 77.54 Cr rupee term loan</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260604">
                <a:tc>
                  <a:txBody>
                    <a:bodyPr/>
                    <a:lstStyle/>
                    <a:p>
                      <a:pPr algn="l" indent="0" marL="0">
                        <a:buNone/>
                      </a:pPr>
                      <a:r>
                        <a:rPr lang="en-US" sz="950" dirty="0">
                          <a:solidFill>
                            <a:srgbClr val="1A2E33"/>
                          </a:solidFill>
                          <a:latin typeface="Arial" pitchFamily="34" charset="0"/>
                          <a:ea typeface="Arial" pitchFamily="34" charset="-122"/>
                          <a:cs typeface="Arial" pitchFamily="34" charset="-120"/>
                        </a:rPr>
                        <a:t>Interest rate</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10.75% p.a., floating</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r h="260604">
                <a:tc>
                  <a:txBody>
                    <a:bodyPr/>
                    <a:lstStyle/>
                    <a:p>
                      <a:pPr algn="l" indent="0" marL="0">
                        <a:buNone/>
                      </a:pPr>
                      <a:r>
                        <a:rPr lang="en-US" sz="950" dirty="0">
                          <a:solidFill>
                            <a:srgbClr val="1A2E33"/>
                          </a:solidFill>
                          <a:latin typeface="Arial" pitchFamily="34" charset="0"/>
                          <a:ea typeface="Arial" pitchFamily="34" charset="-122"/>
                          <a:cs typeface="Arial" pitchFamily="34" charset="-120"/>
                        </a:rPr>
                        <a:t>Drawdown</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6 quarterly tranches over 18 months</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260604">
                <a:tc>
                  <a:txBody>
                    <a:bodyPr/>
                    <a:lstStyle/>
                    <a:p>
                      <a:pPr algn="l" indent="0" marL="0">
                        <a:buNone/>
                      </a:pPr>
                      <a:r>
                        <a:rPr lang="en-US" sz="950" dirty="0">
                          <a:solidFill>
                            <a:srgbClr val="1A2E33"/>
                          </a:solidFill>
                          <a:latin typeface="Arial" pitchFamily="34" charset="0"/>
                          <a:ea typeface="Arial" pitchFamily="34" charset="-122"/>
                          <a:cs typeface="Arial" pitchFamily="34" charset="-120"/>
                        </a:rPr>
                        <a:t>Principal moratorium</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36 months from commissioning</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r h="260604">
                <a:tc>
                  <a:txBody>
                    <a:bodyPr/>
                    <a:lstStyle/>
                    <a:p>
                      <a:pPr algn="l" indent="0" marL="0">
                        <a:buNone/>
                      </a:pPr>
                      <a:r>
                        <a:rPr lang="en-US" sz="950" dirty="0">
                          <a:solidFill>
                            <a:srgbClr val="1A2E33"/>
                          </a:solidFill>
                          <a:latin typeface="Arial" pitchFamily="34" charset="0"/>
                          <a:ea typeface="Arial" pitchFamily="34" charset="-122"/>
                          <a:cs typeface="Arial" pitchFamily="34" charset="-120"/>
                        </a:rPr>
                        <a:t>Repayment</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28 quarterly instalments, ballooning</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260604">
                <a:tc>
                  <a:txBody>
                    <a:bodyPr/>
                    <a:lstStyle/>
                    <a:p>
                      <a:pPr algn="l" indent="0" marL="0">
                        <a:buNone/>
                      </a:pPr>
                      <a:r>
                        <a:rPr lang="en-US" sz="950" dirty="0">
                          <a:solidFill>
                            <a:srgbClr val="1A2E33"/>
                          </a:solidFill>
                          <a:latin typeface="Arial" pitchFamily="34" charset="0"/>
                          <a:ea typeface="Arial" pitchFamily="34" charset="-122"/>
                          <a:cs typeface="Arial" pitchFamily="34" charset="-120"/>
                        </a:rPr>
                        <a:t>Door-to-door tenor</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Approximately 11.5 years</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r h="260604">
                <a:tc>
                  <a:txBody>
                    <a:bodyPr/>
                    <a:lstStyle/>
                    <a:p>
                      <a:pPr algn="l" indent="0" marL="0">
                        <a:buNone/>
                      </a:pPr>
                      <a:r>
                        <a:rPr lang="en-US" sz="950" dirty="0">
                          <a:solidFill>
                            <a:srgbClr val="1A2E33"/>
                          </a:solidFill>
                          <a:latin typeface="Arial" pitchFamily="34" charset="0"/>
                          <a:ea typeface="Arial" pitchFamily="34" charset="-122"/>
                          <a:cs typeface="Arial" pitchFamily="34" charset="-120"/>
                        </a:rPr>
                        <a:t>Ladder</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6% of sanction in Y4 rising to 20% in Y10</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bl>
          </a:graphicData>
        </a:graphic>
      </p:graphicFrame>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566928" y="4800600"/>
          <a:ext cx="11027664" cy="914400"/>
        </p:xfrm>
        <a:graphic>
          <a:graphicData uri="http://schemas.openxmlformats.org/drawingml/2006/table">
            <a:tbl>
              <a:tblPr/>
              <a:tblGrid>
                <a:gridCol w="1371600"/>
                <a:gridCol w="1371600"/>
                <a:gridCol w="1371600"/>
                <a:gridCol w="1371600"/>
                <a:gridCol w="1371600"/>
                <a:gridCol w="1371600"/>
                <a:gridCol w="1371600"/>
                <a:gridCol w="1371600"/>
              </a:tblGrid>
              <a:tr h="265176">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Rs Cr</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Y4</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Y5</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Y6</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Y7</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Y8</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Y9</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Y10</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r>
              <a:tr h="265176">
                <a:tc>
                  <a:txBody>
                    <a:bodyPr/>
                    <a:lstStyle/>
                    <a:p>
                      <a:pPr algn="l" indent="0" marL="0">
                        <a:buNone/>
                      </a:pPr>
                      <a:r>
                        <a:rPr lang="en-US" sz="950" dirty="0">
                          <a:solidFill>
                            <a:srgbClr val="1A2E33"/>
                          </a:solidFill>
                          <a:latin typeface="Arial" pitchFamily="34" charset="0"/>
                          <a:ea typeface="Arial" pitchFamily="34" charset="-122"/>
                          <a:cs typeface="Arial" pitchFamily="34" charset="-120"/>
                        </a:rPr>
                        <a:t>Principal</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4.7</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7.8</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10.1</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11.6</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13.2</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14.7</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15.5</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265176">
                <a:tc>
                  <a:txBody>
                    <a:bodyPr/>
                    <a:lstStyle/>
                    <a:p>
                      <a:pPr algn="l" indent="0" marL="0">
                        <a:buNone/>
                      </a:pPr>
                      <a:r>
                        <a:rPr lang="en-US" sz="950" dirty="0">
                          <a:solidFill>
                            <a:srgbClr val="1A2E33"/>
                          </a:solidFill>
                          <a:latin typeface="Arial" pitchFamily="34" charset="0"/>
                          <a:ea typeface="Arial" pitchFamily="34" charset="-122"/>
                          <a:cs typeface="Arial" pitchFamily="34" charset="-120"/>
                        </a:rPr>
                        <a:t>Interest</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8.9</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8.2</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7.3</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6.1</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4.8</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3.3</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1.7</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r h="265176">
                <a:tc>
                  <a:txBody>
                    <a:bodyPr/>
                    <a:lstStyle/>
                    <a:p>
                      <a:pPr algn="l" indent="0" marL="0">
                        <a:buNone/>
                      </a:pPr>
                      <a:r>
                        <a:rPr lang="en-US" sz="950" b="1" dirty="0">
                          <a:solidFill>
                            <a:srgbClr val="1A2E33"/>
                          </a:solidFill>
                          <a:latin typeface="Arial" pitchFamily="34" charset="0"/>
                          <a:ea typeface="Arial" pitchFamily="34" charset="-122"/>
                          <a:cs typeface="Arial" pitchFamily="34" charset="-120"/>
                        </a:rPr>
                        <a:t>DSCR</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A2E33"/>
                          </a:solidFill>
                          <a:latin typeface="Arial" pitchFamily="34" charset="0"/>
                          <a:ea typeface="Arial" pitchFamily="34" charset="-122"/>
                          <a:cs typeface="Arial" pitchFamily="34" charset="-120"/>
                        </a:rPr>
                        <a:t>1.46x</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A2E33"/>
                          </a:solidFill>
                          <a:latin typeface="Arial" pitchFamily="34" charset="0"/>
                          <a:ea typeface="Arial" pitchFamily="34" charset="-122"/>
                          <a:cs typeface="Arial" pitchFamily="34" charset="-120"/>
                        </a:rPr>
                        <a:t>1.54x</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A2E33"/>
                          </a:solidFill>
                          <a:latin typeface="Arial" pitchFamily="34" charset="0"/>
                          <a:ea typeface="Arial" pitchFamily="34" charset="-122"/>
                          <a:cs typeface="Arial" pitchFamily="34" charset="-120"/>
                        </a:rPr>
                        <a:t>1.69x</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A2E33"/>
                          </a:solidFill>
                          <a:latin typeface="Arial" pitchFamily="34" charset="0"/>
                          <a:ea typeface="Arial" pitchFamily="34" charset="-122"/>
                          <a:cs typeface="Arial" pitchFamily="34" charset="-120"/>
                        </a:rPr>
                        <a:t>1.55x</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A2E33"/>
                          </a:solidFill>
                          <a:latin typeface="Arial" pitchFamily="34" charset="0"/>
                          <a:ea typeface="Arial" pitchFamily="34" charset="-122"/>
                          <a:cs typeface="Arial" pitchFamily="34" charset="-120"/>
                        </a:rPr>
                        <a:t>1.64x</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A2E33"/>
                          </a:solidFill>
                          <a:latin typeface="Arial" pitchFamily="34" charset="0"/>
                          <a:ea typeface="Arial" pitchFamily="34" charset="-122"/>
                          <a:cs typeface="Arial" pitchFamily="34" charset="-120"/>
                        </a:rPr>
                        <a:t>1.76x</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A2E33"/>
                          </a:solidFill>
                          <a:latin typeface="Arial" pitchFamily="34" charset="0"/>
                          <a:ea typeface="Arial" pitchFamily="34" charset="-122"/>
                          <a:cs typeface="Arial" pitchFamily="34" charset="-120"/>
                        </a:rPr>
                        <a:t>1.99x</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bl>
          </a:graphicData>
        </a:graphic>
      </p:graphicFrame>
      <p:sp>
        <p:nvSpPr>
          <p:cNvPr id="15" name="Text 10"/>
          <p:cNvSpPr/>
          <p:nvPr/>
        </p:nvSpPr>
        <p:spPr>
          <a:xfrm>
            <a:off x="566928" y="6473952"/>
            <a:ext cx="11027664" cy="219456"/>
          </a:xfrm>
          <a:prstGeom prst="rect">
            <a:avLst/>
          </a:prstGeom>
          <a:noFill/>
          <a:ln/>
        </p:spPr>
        <p:txBody>
          <a:bodyPr wrap="square" rtlCol="0" anchor="ctr"/>
          <a:lstStyle/>
          <a:p>
            <a:pPr indent="0" marL="0">
              <a:buNone/>
            </a:pPr>
            <a:r>
              <a:rPr lang="en-US" sz="850" i="1" dirty="0">
                <a:solidFill>
                  <a:srgbClr val="6B7F84"/>
                </a:solidFill>
                <a:latin typeface="Arial" pitchFamily="34" charset="0"/>
                <a:ea typeface="Arial" pitchFamily="34" charset="-122"/>
                <a:cs typeface="Arial" pitchFamily="34" charset="-120"/>
              </a:rPr>
              <a:t>DSCR is tested only in years when principal falls due; Years 1–3 fall within the moratorium, with interest serviced throughout.</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37744"/>
          </a:xfrm>
          <a:prstGeom prst="rect">
            <a:avLst/>
          </a:prstGeom>
          <a:noFill/>
          <a:ln/>
        </p:spPr>
        <p:txBody>
          <a:bodyPr wrap="square" rtlCol="0" anchor="ctr"/>
          <a:lstStyle/>
          <a:p>
            <a:pPr indent="0" marL="0">
              <a:buNone/>
            </a:pPr>
            <a:r>
              <a:rPr lang="en-US" sz="1050" b="1" spc="140" kern="0" dirty="0">
                <a:solidFill>
                  <a:srgbClr val="128C8A"/>
                </a:solidFill>
                <a:latin typeface="Arial" pitchFamily="34" charset="0"/>
                <a:ea typeface="Arial" pitchFamily="34" charset="-122"/>
                <a:cs typeface="Arial" pitchFamily="34" charset="-120"/>
              </a:rPr>
              <a:t>BREAK-EVEN</a:t>
            </a:r>
            <a:endParaRPr lang="en-US" sz="1050" dirty="0"/>
          </a:p>
        </p:txBody>
      </p:sp>
      <p:sp>
        <p:nvSpPr>
          <p:cNvPr id="3" name="Text 1"/>
          <p:cNvSpPr/>
          <p:nvPr/>
        </p:nvSpPr>
        <p:spPr>
          <a:xfrm>
            <a:off x="566928" y="530352"/>
            <a:ext cx="11027664" cy="566928"/>
          </a:xfrm>
          <a:prstGeom prst="rect">
            <a:avLst/>
          </a:prstGeom>
          <a:noFill/>
          <a:ln/>
        </p:spPr>
        <p:txBody>
          <a:bodyPr wrap="square" rtlCol="0" anchor="ctr"/>
          <a:lstStyle/>
          <a:p>
            <a:pPr indent="0" marL="0">
              <a:buNone/>
            </a:pPr>
            <a:r>
              <a:rPr lang="en-US" sz="2700" b="1" dirty="0">
                <a:solidFill>
                  <a:srgbClr val="0E3B43"/>
                </a:solidFill>
                <a:latin typeface="Cambria" pitchFamily="34" charset="0"/>
                <a:ea typeface="Cambria" pitchFamily="34" charset="-122"/>
                <a:cs typeface="Cambria" pitchFamily="34" charset="-120"/>
              </a:rPr>
              <a:t>The number a hospital board should memorise</a:t>
            </a:r>
            <a:endParaRPr lang="en-US" sz="2700" dirty="0"/>
          </a:p>
        </p:txBody>
      </p:sp>
      <p:graphicFrame>
        <p:nvGraphicFramePr>
          <p:cNvPr id="4" name="Chart 0" descr=""/>
          <p:cNvGraphicFramePr/>
          <p:nvPr/>
        </p:nvGraphicFramePr>
        <p:xfrm>
          <a:off x="566928" y="1280160"/>
          <a:ext cx="6949440" cy="32461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744968" y="1298448"/>
            <a:ext cx="2084832" cy="1115568"/>
          </a:xfrm>
          <a:prstGeom prst="roundRect">
            <a:avLst>
              <a:gd name="adj" fmla="val 4918"/>
            </a:avLst>
          </a:prstGeom>
          <a:solidFill>
            <a:srgbClr val="FDECEA"/>
          </a:solidFill>
          <a:ln w="12700">
            <a:solidFill>
              <a:srgbClr val="C0392B"/>
            </a:solidFill>
            <a:prstDash val="solid"/>
          </a:ln>
        </p:spPr>
      </p:sp>
      <p:sp>
        <p:nvSpPr>
          <p:cNvPr id="6" name="Text 3"/>
          <p:cNvSpPr/>
          <p:nvPr/>
        </p:nvSpPr>
        <p:spPr>
          <a:xfrm>
            <a:off x="7744968" y="1408176"/>
            <a:ext cx="2084832" cy="513161"/>
          </a:xfrm>
          <a:prstGeom prst="rect">
            <a:avLst/>
          </a:prstGeom>
          <a:noFill/>
          <a:ln/>
        </p:spPr>
        <p:txBody>
          <a:bodyPr wrap="square" lIns="0" tIns="0" rIns="0" bIns="0" rtlCol="0" anchor="ctr"/>
          <a:lstStyle/>
          <a:p>
            <a:pPr algn="ctr" indent="0" marL="0">
              <a:buNone/>
            </a:pPr>
            <a:r>
              <a:rPr lang="en-US" sz="2600" b="1" dirty="0">
                <a:solidFill>
                  <a:srgbClr val="0E3B43"/>
                </a:solidFill>
                <a:latin typeface="Cambria" pitchFamily="34" charset="0"/>
                <a:ea typeface="Cambria" pitchFamily="34" charset="-122"/>
                <a:cs typeface="Cambria" pitchFamily="34" charset="-120"/>
              </a:rPr>
              <a:t>61%</a:t>
            </a:r>
            <a:endParaRPr lang="en-US" sz="2600" dirty="0"/>
          </a:p>
        </p:txBody>
      </p:sp>
      <p:sp>
        <p:nvSpPr>
          <p:cNvPr id="7" name="Text 4"/>
          <p:cNvSpPr/>
          <p:nvPr/>
        </p:nvSpPr>
        <p:spPr>
          <a:xfrm>
            <a:off x="7818120" y="1878543"/>
            <a:ext cx="1938528" cy="267736"/>
          </a:xfrm>
          <a:prstGeom prst="rect">
            <a:avLst/>
          </a:prstGeom>
          <a:noFill/>
          <a:ln/>
        </p:spPr>
        <p:txBody>
          <a:bodyPr wrap="square" lIns="0" tIns="0" rIns="0" bIns="0" rtlCol="0" anchor="ctr"/>
          <a:lstStyle/>
          <a:p>
            <a:pPr algn="ctr" indent="0" marL="0">
              <a:buNone/>
            </a:pPr>
            <a:r>
              <a:rPr lang="en-US" sz="1050" b="1" dirty="0">
                <a:solidFill>
                  <a:srgbClr val="1A2E33"/>
                </a:solidFill>
                <a:latin typeface="Arial" pitchFamily="34" charset="0"/>
                <a:ea typeface="Arial" pitchFamily="34" charset="-122"/>
                <a:cs typeface="Arial" pitchFamily="34" charset="-120"/>
              </a:rPr>
              <a:t>Cash break-even</a:t>
            </a:r>
            <a:endParaRPr lang="en-US" sz="1050" dirty="0"/>
          </a:p>
        </p:txBody>
      </p:sp>
      <p:sp>
        <p:nvSpPr>
          <p:cNvPr id="8" name="Text 5"/>
          <p:cNvSpPr/>
          <p:nvPr/>
        </p:nvSpPr>
        <p:spPr>
          <a:xfrm>
            <a:off x="7818120" y="2123968"/>
            <a:ext cx="1938528" cy="245425"/>
          </a:xfrm>
          <a:prstGeom prst="rect">
            <a:avLst/>
          </a:prstGeom>
          <a:noFill/>
          <a:ln/>
        </p:spPr>
        <p:txBody>
          <a:bodyPr wrap="square" lIns="0" tIns="0" rIns="0" bIns="0" rtlCol="0" anchor="ctr"/>
          <a:lstStyle/>
          <a:p>
            <a:pPr algn="ctr" indent="0" marL="0">
              <a:buNone/>
            </a:pPr>
            <a:r>
              <a:rPr lang="en-US" sz="850" dirty="0">
                <a:solidFill>
                  <a:srgbClr val="6B7F84"/>
                </a:solidFill>
                <a:latin typeface="Arial" pitchFamily="34" charset="0"/>
                <a:ea typeface="Arial" pitchFamily="34" charset="-122"/>
                <a:cs typeface="Arial" pitchFamily="34" charset="-120"/>
              </a:rPr>
              <a:t>stabilised years</a:t>
            </a:r>
            <a:endParaRPr lang="en-US" sz="850" dirty="0"/>
          </a:p>
        </p:txBody>
      </p:sp>
      <p:sp>
        <p:nvSpPr>
          <p:cNvPr id="9" name="Shape 6"/>
          <p:cNvSpPr/>
          <p:nvPr/>
        </p:nvSpPr>
        <p:spPr>
          <a:xfrm>
            <a:off x="9985248" y="1298448"/>
            <a:ext cx="2084832" cy="1115568"/>
          </a:xfrm>
          <a:prstGeom prst="roundRect">
            <a:avLst>
              <a:gd name="adj" fmla="val 4918"/>
            </a:avLst>
          </a:prstGeom>
          <a:solidFill>
            <a:srgbClr val="E8F4F2"/>
          </a:solidFill>
          <a:ln w="12700">
            <a:solidFill>
              <a:srgbClr val="5FB8B3"/>
            </a:solidFill>
            <a:prstDash val="solid"/>
          </a:ln>
        </p:spPr>
      </p:sp>
      <p:sp>
        <p:nvSpPr>
          <p:cNvPr id="10" name="Text 7"/>
          <p:cNvSpPr/>
          <p:nvPr/>
        </p:nvSpPr>
        <p:spPr>
          <a:xfrm>
            <a:off x="9985248" y="1408176"/>
            <a:ext cx="2084832" cy="513161"/>
          </a:xfrm>
          <a:prstGeom prst="rect">
            <a:avLst/>
          </a:prstGeom>
          <a:noFill/>
          <a:ln/>
        </p:spPr>
        <p:txBody>
          <a:bodyPr wrap="square" lIns="0" tIns="0" rIns="0" bIns="0" rtlCol="0" anchor="ctr"/>
          <a:lstStyle/>
          <a:p>
            <a:pPr algn="ctr" indent="0" marL="0">
              <a:buNone/>
            </a:pPr>
            <a:r>
              <a:rPr lang="en-US" sz="2600" b="1" dirty="0">
                <a:solidFill>
                  <a:srgbClr val="0E3B43"/>
                </a:solidFill>
                <a:latin typeface="Cambria" pitchFamily="34" charset="0"/>
                <a:ea typeface="Cambria" pitchFamily="34" charset="-122"/>
                <a:cs typeface="Cambria" pitchFamily="34" charset="-120"/>
              </a:rPr>
              <a:t>11%</a:t>
            </a:r>
            <a:endParaRPr lang="en-US" sz="2600" dirty="0"/>
          </a:p>
        </p:txBody>
      </p:sp>
      <p:sp>
        <p:nvSpPr>
          <p:cNvPr id="11" name="Text 8"/>
          <p:cNvSpPr/>
          <p:nvPr/>
        </p:nvSpPr>
        <p:spPr>
          <a:xfrm>
            <a:off x="10058400" y="1878543"/>
            <a:ext cx="1938528" cy="267736"/>
          </a:xfrm>
          <a:prstGeom prst="rect">
            <a:avLst/>
          </a:prstGeom>
          <a:noFill/>
          <a:ln/>
        </p:spPr>
        <p:txBody>
          <a:bodyPr wrap="square" lIns="0" tIns="0" rIns="0" bIns="0" rtlCol="0" anchor="ctr"/>
          <a:lstStyle/>
          <a:p>
            <a:pPr algn="ctr" indent="0" marL="0">
              <a:buNone/>
            </a:pPr>
            <a:r>
              <a:rPr lang="en-US" sz="1050" b="1" dirty="0">
                <a:solidFill>
                  <a:srgbClr val="1A2E33"/>
                </a:solidFill>
                <a:latin typeface="Arial" pitchFamily="34" charset="0"/>
                <a:ea typeface="Arial" pitchFamily="34" charset="-122"/>
                <a:cs typeface="Arial" pitchFamily="34" charset="-120"/>
              </a:rPr>
              <a:t>Margin of safety</a:t>
            </a:r>
            <a:endParaRPr lang="en-US" sz="1050" dirty="0"/>
          </a:p>
        </p:txBody>
      </p:sp>
      <p:sp>
        <p:nvSpPr>
          <p:cNvPr id="12" name="Text 9"/>
          <p:cNvSpPr/>
          <p:nvPr/>
        </p:nvSpPr>
        <p:spPr>
          <a:xfrm>
            <a:off x="10058400" y="2123968"/>
            <a:ext cx="1938528" cy="245425"/>
          </a:xfrm>
          <a:prstGeom prst="rect">
            <a:avLst/>
          </a:prstGeom>
          <a:noFill/>
          <a:ln/>
        </p:spPr>
        <p:txBody>
          <a:bodyPr wrap="square" lIns="0" tIns="0" rIns="0" bIns="0" rtlCol="0" anchor="ctr"/>
          <a:lstStyle/>
          <a:p>
            <a:pPr algn="ctr" indent="0" marL="0">
              <a:buNone/>
            </a:pPr>
            <a:r>
              <a:rPr lang="en-US" sz="850" dirty="0">
                <a:solidFill>
                  <a:srgbClr val="6B7F84"/>
                </a:solidFill>
                <a:latin typeface="Arial" pitchFamily="34" charset="0"/>
                <a:ea typeface="Arial" pitchFamily="34" charset="-122"/>
                <a:cs typeface="Arial" pitchFamily="34" charset="-120"/>
              </a:rPr>
              <a:t>percentage points</a:t>
            </a:r>
            <a:endParaRPr lang="en-US" sz="850" dirty="0"/>
          </a:p>
        </p:txBody>
      </p:sp>
      <p:sp>
        <p:nvSpPr>
          <p:cNvPr id="13" name="Text 10"/>
          <p:cNvSpPr/>
          <p:nvPr/>
        </p:nvSpPr>
        <p:spPr>
          <a:xfrm>
            <a:off x="7744968" y="2606040"/>
            <a:ext cx="4297680" cy="274320"/>
          </a:xfrm>
          <a:prstGeom prst="rect">
            <a:avLst/>
          </a:prstGeom>
          <a:noFill/>
          <a:ln/>
        </p:spPr>
        <p:txBody>
          <a:bodyPr wrap="square" rtlCol="0" anchor="ctr"/>
          <a:lstStyle/>
          <a:p>
            <a:pPr indent="0" marL="0">
              <a:buNone/>
            </a:pPr>
            <a:r>
              <a:rPr lang="en-US" sz="1250" b="1" dirty="0">
                <a:solidFill>
                  <a:srgbClr val="128C8A"/>
                </a:solidFill>
                <a:latin typeface="Arial" pitchFamily="34" charset="0"/>
                <a:ea typeface="Arial" pitchFamily="34" charset="-122"/>
                <a:cs typeface="Arial" pitchFamily="34" charset="-120"/>
              </a:rPr>
              <a:t>Reading this chart</a:t>
            </a:r>
            <a:endParaRPr lang="en-US" sz="1250" dirty="0"/>
          </a:p>
        </p:txBody>
      </p:sp>
      <p:sp>
        <p:nvSpPr>
          <p:cNvPr id="14" name="Text 11"/>
          <p:cNvSpPr/>
          <p:nvPr/>
        </p:nvSpPr>
        <p:spPr>
          <a:xfrm>
            <a:off x="7744968" y="2944368"/>
            <a:ext cx="4297680" cy="2103120"/>
          </a:xfrm>
          <a:prstGeom prst="rect">
            <a:avLst/>
          </a:prstGeom>
          <a:noFill/>
          <a:ln/>
        </p:spPr>
        <p:txBody>
          <a:bodyPr wrap="square" rtlCol="0" anchor="ctr"/>
          <a:lstStyle/>
          <a:p>
            <a:pPr marL="342900" indent="-342900">
              <a:lnSpc>
                <a:spcPct val="112000"/>
              </a:lnSpc>
              <a:spcAft>
                <a:spcPts val="800"/>
              </a:spcAft>
              <a:buSzPct val="100000"/>
              <a:buChar char="•"/>
            </a:pPr>
            <a:r>
              <a:rPr lang="en-US" sz="1050" dirty="0">
                <a:solidFill>
                  <a:srgbClr val="1A2E33"/>
                </a:solidFill>
                <a:latin typeface="Arial" pitchFamily="34" charset="0"/>
                <a:ea typeface="Arial" pitchFamily="34" charset="-122"/>
                <a:cs typeface="Arial" pitchFamily="34" charset="-120"/>
              </a:rPr>
              <a:t>The red line is the occupancy at which the hospital generates just enough to cover fixed costs, interest and principal.</a:t>
            </a:r>
            <a:endParaRPr lang="en-US" sz="1050" dirty="0"/>
          </a:p>
          <a:p>
            <a:pPr marL="342900" indent="-342900">
              <a:lnSpc>
                <a:spcPct val="112000"/>
              </a:lnSpc>
              <a:spcAft>
                <a:spcPts val="800"/>
              </a:spcAft>
              <a:buSzPct val="100000"/>
              <a:buChar char="•"/>
            </a:pPr>
            <a:r>
              <a:rPr lang="en-US" sz="1050" dirty="0">
                <a:solidFill>
                  <a:srgbClr val="1A2E33"/>
                </a:solidFill>
                <a:latin typeface="Arial" pitchFamily="34" charset="0"/>
                <a:ea typeface="Arial" pitchFamily="34" charset="-122"/>
                <a:cs typeface="Arial" pitchFamily="34" charset="-120"/>
              </a:rPr>
              <a:t>Where the teal line sits above it, the business is self-funding. In Years 1 and 2 it does not — by design. That gap is exactly what the promoter support facility exists to bridge.</a:t>
            </a:r>
            <a:endParaRPr lang="en-US" sz="1050" dirty="0"/>
          </a:p>
          <a:p>
            <a:pPr marL="342900" indent="-342900">
              <a:lnSpc>
                <a:spcPct val="112000"/>
              </a:lnSpc>
              <a:buSzPct val="100000"/>
              <a:buChar char="•"/>
            </a:pPr>
            <a:r>
              <a:rPr lang="en-US" sz="1050" dirty="0">
                <a:solidFill>
                  <a:srgbClr val="1A2E33"/>
                </a:solidFill>
                <a:latin typeface="Arial" pitchFamily="34" charset="0"/>
                <a:ea typeface="Arial" pitchFamily="34" charset="-122"/>
                <a:cs typeface="Arial" pitchFamily="34" charset="-120"/>
              </a:rPr>
              <a:t>A board should treat occupancy drifting toward the high fifties in any stabilised year as a covenant event in substance, whatever the profit and loss account reports.</a:t>
            </a:r>
            <a:endParaRPr lang="en-US" sz="10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4800600"/>
          <a:ext cx="11027664" cy="914400"/>
        </p:xfrm>
        <a:graphic>
          <a:graphicData uri="http://schemas.openxmlformats.org/drawingml/2006/table">
            <a:tbl>
              <a:tblPr/>
              <a:tblGrid>
                <a:gridCol w="1572768"/>
                <a:gridCol w="941832"/>
                <a:gridCol w="941832"/>
                <a:gridCol w="941832"/>
                <a:gridCol w="941832"/>
                <a:gridCol w="941832"/>
                <a:gridCol w="941832"/>
                <a:gridCol w="941832"/>
                <a:gridCol w="941832"/>
                <a:gridCol w="941832"/>
                <a:gridCol w="941832"/>
              </a:tblGrid>
              <a:tr h="256032">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Occupancy</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Y1</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Y2</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Y3</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Y4</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Y5</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Y6</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Y7</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Y8</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Y9</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Y10</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r>
              <a:tr h="256032">
                <a:tc>
                  <a:txBody>
                    <a:bodyPr/>
                    <a:lstStyle/>
                    <a:p>
                      <a:pPr algn="l" indent="0" marL="0">
                        <a:buNone/>
                      </a:pPr>
                      <a:r>
                        <a:rPr lang="en-US" sz="900" dirty="0">
                          <a:solidFill>
                            <a:srgbClr val="1A2E33"/>
                          </a:solidFill>
                          <a:latin typeface="Arial" pitchFamily="34" charset="0"/>
                          <a:ea typeface="Arial" pitchFamily="34" charset="-122"/>
                          <a:cs typeface="Arial" pitchFamily="34" charset="-120"/>
                        </a:rPr>
                        <a:t>Actual</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27%</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43%</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56%</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64%</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70%</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72%</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72%</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72%</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72%</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72%</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256032">
                <a:tc>
                  <a:txBody>
                    <a:bodyPr/>
                    <a:lstStyle/>
                    <a:p>
                      <a:pPr algn="l" indent="0" marL="0">
                        <a:buNone/>
                      </a:pPr>
                      <a:r>
                        <a:rPr lang="en-US" sz="900" dirty="0">
                          <a:solidFill>
                            <a:srgbClr val="1A2E33"/>
                          </a:solidFill>
                          <a:latin typeface="Arial" pitchFamily="34" charset="0"/>
                          <a:ea typeface="Arial" pitchFamily="34" charset="-122"/>
                          <a:cs typeface="Arial" pitchFamily="34" charset="-120"/>
                        </a:rPr>
                        <a:t>Cash break-even</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44%</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48%</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50%</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57%</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61%</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61%</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60%</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59%</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57%</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00" dirty="0">
                          <a:solidFill>
                            <a:srgbClr val="1A2E33"/>
                          </a:solidFill>
                          <a:latin typeface="Arial" pitchFamily="34" charset="0"/>
                          <a:ea typeface="Arial" pitchFamily="34" charset="-122"/>
                          <a:cs typeface="Arial" pitchFamily="34" charset="-120"/>
                        </a:rPr>
                        <a:t>55%</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r h="256032">
                <a:tc>
                  <a:txBody>
                    <a:bodyPr/>
                    <a:lstStyle/>
                    <a:p>
                      <a:pPr algn="l" indent="0" marL="0">
                        <a:buNone/>
                      </a:pPr>
                      <a:r>
                        <a:rPr lang="en-US" sz="900" b="1" dirty="0">
                          <a:solidFill>
                            <a:srgbClr val="1A2E33"/>
                          </a:solidFill>
                          <a:latin typeface="Arial" pitchFamily="34" charset="0"/>
                          <a:ea typeface="Arial" pitchFamily="34" charset="-122"/>
                          <a:cs typeface="Arial" pitchFamily="34" charset="-120"/>
                        </a:rPr>
                        <a:t>Margin of safety</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C0392B"/>
                          </a:solidFill>
                          <a:latin typeface="Arial" pitchFamily="34" charset="0"/>
                          <a:ea typeface="Arial" pitchFamily="34" charset="-122"/>
                          <a:cs typeface="Arial" pitchFamily="34" charset="-120"/>
                        </a:rPr>
                        <a:t>-17%</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C0392B"/>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2E33"/>
                          </a:solidFill>
                          <a:latin typeface="Arial" pitchFamily="34" charset="0"/>
                          <a:ea typeface="Arial" pitchFamily="34" charset="-122"/>
                          <a:cs typeface="Arial" pitchFamily="34" charset="-120"/>
                        </a:rPr>
                        <a:t>6%</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2E33"/>
                          </a:solidFill>
                          <a:latin typeface="Arial" pitchFamily="34" charset="0"/>
                          <a:ea typeface="Arial" pitchFamily="34" charset="-122"/>
                          <a:cs typeface="Arial" pitchFamily="34" charset="-120"/>
                        </a:rPr>
                        <a:t>7%</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2E33"/>
                          </a:solidFill>
                          <a:latin typeface="Arial" pitchFamily="34" charset="0"/>
                          <a:ea typeface="Arial" pitchFamily="34" charset="-122"/>
                          <a:cs typeface="Arial" pitchFamily="34" charset="-120"/>
                        </a:rPr>
                        <a:t>9%</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2E33"/>
                          </a:solidFill>
                          <a:latin typeface="Arial" pitchFamily="34" charset="0"/>
                          <a:ea typeface="Arial" pitchFamily="34" charset="-122"/>
                          <a:cs typeface="Arial" pitchFamily="34" charset="-120"/>
                        </a:rPr>
                        <a:t>11%</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2E33"/>
                          </a:solidFill>
                          <a:latin typeface="Arial" pitchFamily="34" charset="0"/>
                          <a:ea typeface="Arial" pitchFamily="34" charset="-122"/>
                          <a:cs typeface="Arial" pitchFamily="34" charset="-120"/>
                        </a:rPr>
                        <a:t>12%</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2E33"/>
                          </a:solidFill>
                          <a:latin typeface="Arial" pitchFamily="34" charset="0"/>
                          <a:ea typeface="Arial" pitchFamily="34" charset="-122"/>
                          <a:cs typeface="Arial" pitchFamily="34" charset="-120"/>
                        </a:rPr>
                        <a:t>13%</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2E33"/>
                          </a:solidFill>
                          <a:latin typeface="Arial" pitchFamily="34" charset="0"/>
                          <a:ea typeface="Arial" pitchFamily="34" charset="-122"/>
                          <a:cs typeface="Arial" pitchFamily="34" charset="-120"/>
                        </a:rPr>
                        <a:t>15%</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2E33"/>
                          </a:solidFill>
                          <a:latin typeface="Arial" pitchFamily="34" charset="0"/>
                          <a:ea typeface="Arial" pitchFamily="34" charset="-122"/>
                          <a:cs typeface="Arial" pitchFamily="34" charset="-120"/>
                        </a:rPr>
                        <a:t>17%</a:t>
                      </a:r>
                      <a:endParaRPr lang="en-US" sz="9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37744"/>
          </a:xfrm>
          <a:prstGeom prst="rect">
            <a:avLst/>
          </a:prstGeom>
          <a:noFill/>
          <a:ln/>
        </p:spPr>
        <p:txBody>
          <a:bodyPr wrap="square" rtlCol="0" anchor="ctr"/>
          <a:lstStyle/>
          <a:p>
            <a:pPr indent="0" marL="0">
              <a:buNone/>
            </a:pPr>
            <a:r>
              <a:rPr lang="en-US" sz="1050" b="1" spc="140" kern="0" dirty="0">
                <a:solidFill>
                  <a:srgbClr val="128C8A"/>
                </a:solidFill>
                <a:latin typeface="Arial" pitchFamily="34" charset="0"/>
                <a:ea typeface="Arial" pitchFamily="34" charset="-122"/>
                <a:cs typeface="Arial" pitchFamily="34" charset="-120"/>
              </a:rPr>
              <a:t>RETURNS</a:t>
            </a:r>
            <a:endParaRPr lang="en-US" sz="1050" dirty="0"/>
          </a:p>
        </p:txBody>
      </p:sp>
      <p:sp>
        <p:nvSpPr>
          <p:cNvPr id="3" name="Text 1"/>
          <p:cNvSpPr/>
          <p:nvPr/>
        </p:nvSpPr>
        <p:spPr>
          <a:xfrm>
            <a:off x="566928" y="530352"/>
            <a:ext cx="11027664" cy="566928"/>
          </a:xfrm>
          <a:prstGeom prst="rect">
            <a:avLst/>
          </a:prstGeom>
          <a:noFill/>
          <a:ln/>
        </p:spPr>
        <p:txBody>
          <a:bodyPr wrap="square" rtlCol="0" anchor="ctr"/>
          <a:lstStyle/>
          <a:p>
            <a:pPr indent="0" marL="0">
              <a:buNone/>
            </a:pPr>
            <a:r>
              <a:rPr lang="en-US" sz="2700" b="1" dirty="0">
                <a:solidFill>
                  <a:srgbClr val="0E3B43"/>
                </a:solidFill>
                <a:latin typeface="Cambria" pitchFamily="34" charset="0"/>
                <a:ea typeface="Cambria" pitchFamily="34" charset="-122"/>
                <a:cs typeface="Cambria" pitchFamily="34" charset="-120"/>
              </a:rPr>
              <a:t>The asset out-earns its cost of capital</a:t>
            </a:r>
            <a:endParaRPr lang="en-US" sz="2700" dirty="0"/>
          </a:p>
        </p:txBody>
      </p:sp>
      <p:sp>
        <p:nvSpPr>
          <p:cNvPr id="4" name="Shape 2"/>
          <p:cNvSpPr/>
          <p:nvPr/>
        </p:nvSpPr>
        <p:spPr>
          <a:xfrm>
            <a:off x="566928" y="1325880"/>
            <a:ext cx="2651760" cy="1325880"/>
          </a:xfrm>
          <a:prstGeom prst="roundRect">
            <a:avLst>
              <a:gd name="adj" fmla="val 4138"/>
            </a:avLst>
          </a:prstGeom>
          <a:solidFill>
            <a:srgbClr val="F4F7F7"/>
          </a:solidFill>
          <a:ln w="12700">
            <a:solidFill>
              <a:srgbClr val="DDE6E7"/>
            </a:solidFill>
            <a:prstDash val="solid"/>
          </a:ln>
        </p:spPr>
      </p:sp>
      <p:sp>
        <p:nvSpPr>
          <p:cNvPr id="5" name="Text 3"/>
          <p:cNvSpPr/>
          <p:nvPr/>
        </p:nvSpPr>
        <p:spPr>
          <a:xfrm>
            <a:off x="566928" y="1435608"/>
            <a:ext cx="2651760" cy="609905"/>
          </a:xfrm>
          <a:prstGeom prst="rect">
            <a:avLst/>
          </a:prstGeom>
          <a:noFill/>
          <a:ln/>
        </p:spPr>
        <p:txBody>
          <a:bodyPr wrap="square" lIns="0" tIns="0" rIns="0" bIns="0" rtlCol="0" anchor="ctr"/>
          <a:lstStyle/>
          <a:p>
            <a:pPr algn="ctr" indent="0" marL="0">
              <a:buNone/>
            </a:pPr>
            <a:r>
              <a:rPr lang="en-US" sz="3000" b="1" dirty="0">
                <a:solidFill>
                  <a:srgbClr val="0E3B43"/>
                </a:solidFill>
                <a:latin typeface="Cambria" pitchFamily="34" charset="0"/>
                <a:ea typeface="Cambria" pitchFamily="34" charset="-122"/>
                <a:cs typeface="Cambria" pitchFamily="34" charset="-120"/>
              </a:rPr>
              <a:t>22.1%</a:t>
            </a:r>
            <a:endParaRPr lang="en-US" sz="3000" dirty="0"/>
          </a:p>
        </p:txBody>
      </p:sp>
      <p:sp>
        <p:nvSpPr>
          <p:cNvPr id="6" name="Text 4"/>
          <p:cNvSpPr/>
          <p:nvPr/>
        </p:nvSpPr>
        <p:spPr>
          <a:xfrm>
            <a:off x="640080" y="2015338"/>
            <a:ext cx="2505456" cy="318211"/>
          </a:xfrm>
          <a:prstGeom prst="rect">
            <a:avLst/>
          </a:prstGeom>
          <a:noFill/>
          <a:ln/>
        </p:spPr>
        <p:txBody>
          <a:bodyPr wrap="square" lIns="0" tIns="0" rIns="0" bIns="0" rtlCol="0" anchor="ctr"/>
          <a:lstStyle/>
          <a:p>
            <a:pPr algn="ctr" indent="0" marL="0">
              <a:buNone/>
            </a:pPr>
            <a:r>
              <a:rPr lang="en-US" sz="1050" b="1" dirty="0">
                <a:solidFill>
                  <a:srgbClr val="1A2E33"/>
                </a:solidFill>
                <a:latin typeface="Arial" pitchFamily="34" charset="0"/>
                <a:ea typeface="Arial" pitchFamily="34" charset="-122"/>
                <a:cs typeface="Arial" pitchFamily="34" charset="-120"/>
              </a:rPr>
              <a:t>Project IRR</a:t>
            </a:r>
            <a:endParaRPr lang="en-US" sz="1050" dirty="0"/>
          </a:p>
        </p:txBody>
      </p:sp>
      <p:sp>
        <p:nvSpPr>
          <p:cNvPr id="7" name="Text 5"/>
          <p:cNvSpPr/>
          <p:nvPr/>
        </p:nvSpPr>
        <p:spPr>
          <a:xfrm>
            <a:off x="640080" y="2307031"/>
            <a:ext cx="2505456" cy="291694"/>
          </a:xfrm>
          <a:prstGeom prst="rect">
            <a:avLst/>
          </a:prstGeom>
          <a:noFill/>
          <a:ln/>
        </p:spPr>
        <p:txBody>
          <a:bodyPr wrap="square" lIns="0" tIns="0" rIns="0" bIns="0" rtlCol="0" anchor="ctr"/>
          <a:lstStyle/>
          <a:p>
            <a:pPr algn="ctr" indent="0" marL="0">
              <a:buNone/>
            </a:pPr>
            <a:r>
              <a:rPr lang="en-US" sz="850" dirty="0">
                <a:solidFill>
                  <a:srgbClr val="6B7F84"/>
                </a:solidFill>
                <a:latin typeface="Arial" pitchFamily="34" charset="0"/>
                <a:ea typeface="Arial" pitchFamily="34" charset="-122"/>
                <a:cs typeface="Arial" pitchFamily="34" charset="-120"/>
              </a:rPr>
              <a:t>vs 12.5% WACC</a:t>
            </a:r>
            <a:endParaRPr lang="en-US" sz="850" dirty="0"/>
          </a:p>
        </p:txBody>
      </p:sp>
      <p:sp>
        <p:nvSpPr>
          <p:cNvPr id="8" name="Shape 6"/>
          <p:cNvSpPr/>
          <p:nvPr/>
        </p:nvSpPr>
        <p:spPr>
          <a:xfrm>
            <a:off x="3355848" y="1325880"/>
            <a:ext cx="2651760" cy="1325880"/>
          </a:xfrm>
          <a:prstGeom prst="roundRect">
            <a:avLst>
              <a:gd name="adj" fmla="val 4138"/>
            </a:avLst>
          </a:prstGeom>
          <a:solidFill>
            <a:srgbClr val="F4F7F7"/>
          </a:solidFill>
          <a:ln w="12700">
            <a:solidFill>
              <a:srgbClr val="DDE6E7"/>
            </a:solidFill>
            <a:prstDash val="solid"/>
          </a:ln>
        </p:spPr>
      </p:sp>
      <p:sp>
        <p:nvSpPr>
          <p:cNvPr id="9" name="Text 7"/>
          <p:cNvSpPr/>
          <p:nvPr/>
        </p:nvSpPr>
        <p:spPr>
          <a:xfrm>
            <a:off x="3355848" y="1435608"/>
            <a:ext cx="2651760" cy="609905"/>
          </a:xfrm>
          <a:prstGeom prst="rect">
            <a:avLst/>
          </a:prstGeom>
          <a:noFill/>
          <a:ln/>
        </p:spPr>
        <p:txBody>
          <a:bodyPr wrap="square" lIns="0" tIns="0" rIns="0" bIns="0" rtlCol="0" anchor="ctr"/>
          <a:lstStyle/>
          <a:p>
            <a:pPr algn="ctr" indent="0" marL="0">
              <a:buNone/>
            </a:pPr>
            <a:r>
              <a:rPr lang="en-US" sz="2600" b="1" dirty="0">
                <a:solidFill>
                  <a:srgbClr val="0E3B43"/>
                </a:solidFill>
                <a:latin typeface="Cambria" pitchFamily="34" charset="0"/>
                <a:ea typeface="Cambria" pitchFamily="34" charset="-122"/>
                <a:cs typeface="Cambria" pitchFamily="34" charset="-120"/>
              </a:rPr>
              <a:t>Rs 123.2 Cr</a:t>
            </a:r>
            <a:endParaRPr lang="en-US" sz="2600" dirty="0"/>
          </a:p>
        </p:txBody>
      </p:sp>
      <p:sp>
        <p:nvSpPr>
          <p:cNvPr id="10" name="Text 8"/>
          <p:cNvSpPr/>
          <p:nvPr/>
        </p:nvSpPr>
        <p:spPr>
          <a:xfrm>
            <a:off x="3429000" y="2015338"/>
            <a:ext cx="2505456" cy="318211"/>
          </a:xfrm>
          <a:prstGeom prst="rect">
            <a:avLst/>
          </a:prstGeom>
          <a:noFill/>
          <a:ln/>
        </p:spPr>
        <p:txBody>
          <a:bodyPr wrap="square" lIns="0" tIns="0" rIns="0" bIns="0" rtlCol="0" anchor="ctr"/>
          <a:lstStyle/>
          <a:p>
            <a:pPr algn="ctr" indent="0" marL="0">
              <a:buNone/>
            </a:pPr>
            <a:r>
              <a:rPr lang="en-US" sz="1050" b="1" dirty="0">
                <a:solidFill>
                  <a:srgbClr val="1A2E33"/>
                </a:solidFill>
                <a:latin typeface="Arial" pitchFamily="34" charset="0"/>
                <a:ea typeface="Arial" pitchFamily="34" charset="-122"/>
                <a:cs typeface="Arial" pitchFamily="34" charset="-120"/>
              </a:rPr>
              <a:t>Project NPV</a:t>
            </a:r>
            <a:endParaRPr lang="en-US" sz="1050" dirty="0"/>
          </a:p>
        </p:txBody>
      </p:sp>
      <p:sp>
        <p:nvSpPr>
          <p:cNvPr id="11" name="Text 9"/>
          <p:cNvSpPr/>
          <p:nvPr/>
        </p:nvSpPr>
        <p:spPr>
          <a:xfrm>
            <a:off x="3429000" y="2307031"/>
            <a:ext cx="2505456" cy="291694"/>
          </a:xfrm>
          <a:prstGeom prst="rect">
            <a:avLst/>
          </a:prstGeom>
          <a:noFill/>
          <a:ln/>
        </p:spPr>
        <p:txBody>
          <a:bodyPr wrap="square" lIns="0" tIns="0" rIns="0" bIns="0" rtlCol="0" anchor="ctr"/>
          <a:lstStyle/>
          <a:p>
            <a:pPr algn="ctr" indent="0" marL="0">
              <a:buNone/>
            </a:pPr>
            <a:r>
              <a:rPr lang="en-US" sz="850" dirty="0">
                <a:solidFill>
                  <a:srgbClr val="6B7F84"/>
                </a:solidFill>
                <a:latin typeface="Arial" pitchFamily="34" charset="0"/>
                <a:ea typeface="Arial" pitchFamily="34" charset="-122"/>
                <a:cs typeface="Arial" pitchFamily="34" charset="-120"/>
              </a:rPr>
              <a:t>111% of amount invested</a:t>
            </a:r>
            <a:endParaRPr lang="en-US" sz="850" dirty="0"/>
          </a:p>
        </p:txBody>
      </p:sp>
      <p:sp>
        <p:nvSpPr>
          <p:cNvPr id="12" name="Shape 10"/>
          <p:cNvSpPr/>
          <p:nvPr/>
        </p:nvSpPr>
        <p:spPr>
          <a:xfrm>
            <a:off x="6144768" y="1325880"/>
            <a:ext cx="2651760" cy="1325880"/>
          </a:xfrm>
          <a:prstGeom prst="roundRect">
            <a:avLst>
              <a:gd name="adj" fmla="val 4138"/>
            </a:avLst>
          </a:prstGeom>
          <a:solidFill>
            <a:srgbClr val="E8F4F2"/>
          </a:solidFill>
          <a:ln w="12700">
            <a:solidFill>
              <a:srgbClr val="5FB8B3"/>
            </a:solidFill>
            <a:prstDash val="solid"/>
          </a:ln>
        </p:spPr>
      </p:sp>
      <p:sp>
        <p:nvSpPr>
          <p:cNvPr id="13" name="Text 11"/>
          <p:cNvSpPr/>
          <p:nvPr/>
        </p:nvSpPr>
        <p:spPr>
          <a:xfrm>
            <a:off x="6144768" y="1435608"/>
            <a:ext cx="2651760" cy="609905"/>
          </a:xfrm>
          <a:prstGeom prst="rect">
            <a:avLst/>
          </a:prstGeom>
          <a:noFill/>
          <a:ln/>
        </p:spPr>
        <p:txBody>
          <a:bodyPr wrap="square" lIns="0" tIns="0" rIns="0" bIns="0" rtlCol="0" anchor="ctr"/>
          <a:lstStyle/>
          <a:p>
            <a:pPr algn="ctr" indent="0" marL="0">
              <a:buNone/>
            </a:pPr>
            <a:r>
              <a:rPr lang="en-US" sz="3000" b="1" dirty="0">
                <a:solidFill>
                  <a:srgbClr val="0E3B43"/>
                </a:solidFill>
                <a:latin typeface="Cambria" pitchFamily="34" charset="0"/>
                <a:ea typeface="Cambria" pitchFamily="34" charset="-122"/>
                <a:cs typeface="Cambria" pitchFamily="34" charset="-120"/>
              </a:rPr>
              <a:t>26.9%</a:t>
            </a:r>
            <a:endParaRPr lang="en-US" sz="3000" dirty="0"/>
          </a:p>
        </p:txBody>
      </p:sp>
      <p:sp>
        <p:nvSpPr>
          <p:cNvPr id="14" name="Text 12"/>
          <p:cNvSpPr/>
          <p:nvPr/>
        </p:nvSpPr>
        <p:spPr>
          <a:xfrm>
            <a:off x="6217920" y="2015338"/>
            <a:ext cx="2505456" cy="318211"/>
          </a:xfrm>
          <a:prstGeom prst="rect">
            <a:avLst/>
          </a:prstGeom>
          <a:noFill/>
          <a:ln/>
        </p:spPr>
        <p:txBody>
          <a:bodyPr wrap="square" lIns="0" tIns="0" rIns="0" bIns="0" rtlCol="0" anchor="ctr"/>
          <a:lstStyle/>
          <a:p>
            <a:pPr algn="ctr" indent="0" marL="0">
              <a:buNone/>
            </a:pPr>
            <a:r>
              <a:rPr lang="en-US" sz="1050" b="1" dirty="0">
                <a:solidFill>
                  <a:srgbClr val="1A2E33"/>
                </a:solidFill>
                <a:latin typeface="Arial" pitchFamily="34" charset="0"/>
                <a:ea typeface="Arial" pitchFamily="34" charset="-122"/>
                <a:cs typeface="Arial" pitchFamily="34" charset="-120"/>
              </a:rPr>
              <a:t>Equity IRR</a:t>
            </a:r>
            <a:endParaRPr lang="en-US" sz="1050" dirty="0"/>
          </a:p>
        </p:txBody>
      </p:sp>
      <p:sp>
        <p:nvSpPr>
          <p:cNvPr id="15" name="Text 13"/>
          <p:cNvSpPr/>
          <p:nvPr/>
        </p:nvSpPr>
        <p:spPr>
          <a:xfrm>
            <a:off x="6217920" y="2307031"/>
            <a:ext cx="2505456" cy="291694"/>
          </a:xfrm>
          <a:prstGeom prst="rect">
            <a:avLst/>
          </a:prstGeom>
          <a:noFill/>
          <a:ln/>
        </p:spPr>
        <p:txBody>
          <a:bodyPr wrap="square" lIns="0" tIns="0" rIns="0" bIns="0" rtlCol="0" anchor="ctr"/>
          <a:lstStyle/>
          <a:p>
            <a:pPr algn="ctr" indent="0" marL="0">
              <a:buNone/>
            </a:pPr>
            <a:r>
              <a:rPr lang="en-US" sz="850" dirty="0">
                <a:solidFill>
                  <a:srgbClr val="6B7F84"/>
                </a:solidFill>
                <a:latin typeface="Arial" pitchFamily="34" charset="0"/>
                <a:ea typeface="Arial" pitchFamily="34" charset="-122"/>
                <a:cs typeface="Arial" pitchFamily="34" charset="-120"/>
              </a:rPr>
              <a:t>after debt service</a:t>
            </a:r>
            <a:endParaRPr lang="en-US" sz="850" dirty="0"/>
          </a:p>
        </p:txBody>
      </p:sp>
      <p:sp>
        <p:nvSpPr>
          <p:cNvPr id="16" name="Shape 14"/>
          <p:cNvSpPr/>
          <p:nvPr/>
        </p:nvSpPr>
        <p:spPr>
          <a:xfrm>
            <a:off x="8933688" y="1325880"/>
            <a:ext cx="2651760" cy="1325880"/>
          </a:xfrm>
          <a:prstGeom prst="roundRect">
            <a:avLst>
              <a:gd name="adj" fmla="val 4138"/>
            </a:avLst>
          </a:prstGeom>
          <a:solidFill>
            <a:srgbClr val="E8F4F2"/>
          </a:solidFill>
          <a:ln w="12700">
            <a:solidFill>
              <a:srgbClr val="5FB8B3"/>
            </a:solidFill>
            <a:prstDash val="solid"/>
          </a:ln>
        </p:spPr>
      </p:sp>
      <p:sp>
        <p:nvSpPr>
          <p:cNvPr id="17" name="Text 15"/>
          <p:cNvSpPr/>
          <p:nvPr/>
        </p:nvSpPr>
        <p:spPr>
          <a:xfrm>
            <a:off x="8933688" y="1435608"/>
            <a:ext cx="2651760" cy="609905"/>
          </a:xfrm>
          <a:prstGeom prst="rect">
            <a:avLst/>
          </a:prstGeom>
          <a:noFill/>
          <a:ln/>
        </p:spPr>
        <p:txBody>
          <a:bodyPr wrap="square" lIns="0" tIns="0" rIns="0" bIns="0" rtlCol="0" anchor="ctr"/>
          <a:lstStyle/>
          <a:p>
            <a:pPr algn="ctr" indent="0" marL="0">
              <a:buNone/>
            </a:pPr>
            <a:r>
              <a:rPr lang="en-US" sz="3000" b="1" dirty="0">
                <a:solidFill>
                  <a:srgbClr val="0E3B43"/>
                </a:solidFill>
                <a:latin typeface="Cambria" pitchFamily="34" charset="0"/>
                <a:ea typeface="Cambria" pitchFamily="34" charset="-122"/>
                <a:cs typeface="Cambria" pitchFamily="34" charset="-120"/>
              </a:rPr>
              <a:t>12.3x</a:t>
            </a:r>
            <a:endParaRPr lang="en-US" sz="3000" dirty="0"/>
          </a:p>
        </p:txBody>
      </p:sp>
      <p:sp>
        <p:nvSpPr>
          <p:cNvPr id="18" name="Text 16"/>
          <p:cNvSpPr/>
          <p:nvPr/>
        </p:nvSpPr>
        <p:spPr>
          <a:xfrm>
            <a:off x="9006840" y="2015338"/>
            <a:ext cx="2505456" cy="318211"/>
          </a:xfrm>
          <a:prstGeom prst="rect">
            <a:avLst/>
          </a:prstGeom>
          <a:noFill/>
          <a:ln/>
        </p:spPr>
        <p:txBody>
          <a:bodyPr wrap="square" lIns="0" tIns="0" rIns="0" bIns="0" rtlCol="0" anchor="ctr"/>
          <a:lstStyle/>
          <a:p>
            <a:pPr algn="ctr" indent="0" marL="0">
              <a:buNone/>
            </a:pPr>
            <a:r>
              <a:rPr lang="en-US" sz="1050" b="1" dirty="0">
                <a:solidFill>
                  <a:srgbClr val="1A2E33"/>
                </a:solidFill>
                <a:latin typeface="Arial" pitchFamily="34" charset="0"/>
                <a:ea typeface="Arial" pitchFamily="34" charset="-122"/>
                <a:cs typeface="Arial" pitchFamily="34" charset="-120"/>
              </a:rPr>
              <a:t>Money multiple</a:t>
            </a:r>
            <a:endParaRPr lang="en-US" sz="1050" dirty="0"/>
          </a:p>
        </p:txBody>
      </p:sp>
      <p:sp>
        <p:nvSpPr>
          <p:cNvPr id="19" name="Text 17"/>
          <p:cNvSpPr/>
          <p:nvPr/>
        </p:nvSpPr>
        <p:spPr>
          <a:xfrm>
            <a:off x="9006840" y="2307031"/>
            <a:ext cx="2505456" cy="291694"/>
          </a:xfrm>
          <a:prstGeom prst="rect">
            <a:avLst/>
          </a:prstGeom>
          <a:noFill/>
          <a:ln/>
        </p:spPr>
        <p:txBody>
          <a:bodyPr wrap="square" lIns="0" tIns="0" rIns="0" bIns="0" rtlCol="0" anchor="ctr"/>
          <a:lstStyle/>
          <a:p>
            <a:pPr algn="ctr" indent="0" marL="0">
              <a:buNone/>
            </a:pPr>
            <a:r>
              <a:rPr lang="en-US" sz="850" dirty="0">
                <a:solidFill>
                  <a:srgbClr val="6B7F84"/>
                </a:solidFill>
                <a:latin typeface="Arial" pitchFamily="34" charset="0"/>
                <a:ea typeface="Arial" pitchFamily="34" charset="-122"/>
                <a:cs typeface="Arial" pitchFamily="34" charset="-120"/>
              </a:rPr>
              <a:t>10-year hold</a:t>
            </a:r>
            <a:endParaRPr lang="en-US" sz="8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2880360"/>
          <a:ext cx="8778240" cy="914400"/>
        </p:xfrm>
        <a:graphic>
          <a:graphicData uri="http://schemas.openxmlformats.org/drawingml/2006/table">
            <a:tbl>
              <a:tblPr/>
              <a:tblGrid>
                <a:gridCol w="3200400"/>
                <a:gridCol w="1554480"/>
                <a:gridCol w="4023360"/>
              </a:tblGrid>
              <a:tr h="283464">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Measure</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Value</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Comment</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r>
              <a:tr h="283464">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Project IRR (unlevered)</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22.13%</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The return the asset earns, independent of financing</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283464">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Post-tax cost of debt</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8.04%</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Below the asset return, so leverage is accretive</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r h="283464">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Equity IRR (levered)</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26.91%</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Leverage hands the spread to the shareholder</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283464">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Enterprise value today (DCF midpoint)</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Rs 212.0 Cr</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Average of Gordon-growth and exit-multiple methods</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r h="283464">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Cost of project</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Rs 110.8 Cr</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What it costs to build</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283464">
                <a:tc>
                  <a:txBody>
                    <a:bodyPr/>
                    <a:lstStyle/>
                    <a:p>
                      <a:pPr algn="l" indent="0" marL="0">
                        <a:buNone/>
                      </a:pPr>
                      <a:r>
                        <a:rPr lang="en-US" sz="1000" b="1" dirty="0">
                          <a:solidFill>
                            <a:srgbClr val="1A2E33"/>
                          </a:solidFill>
                          <a:latin typeface="Arial" pitchFamily="34" charset="0"/>
                          <a:ea typeface="Arial" pitchFamily="34" charset="-122"/>
                          <a:cs typeface="Arial" pitchFamily="34" charset="-120"/>
                        </a:rPr>
                        <a:t>Value created over cost</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E8F4F2"/>
                    </a:solidFill>
                  </a:tcPr>
                </a:tc>
                <a:tc>
                  <a:txBody>
                    <a:bodyPr/>
                    <a:lstStyle/>
                    <a:p>
                      <a:pPr algn="ctr" indent="0" marL="0">
                        <a:buNone/>
                      </a:pPr>
                      <a:r>
                        <a:rPr lang="en-US" sz="1000" b="1" dirty="0">
                          <a:solidFill>
                            <a:srgbClr val="1A2E33"/>
                          </a:solidFill>
                          <a:latin typeface="Arial" pitchFamily="34" charset="0"/>
                          <a:ea typeface="Arial" pitchFamily="34" charset="-122"/>
                          <a:cs typeface="Arial" pitchFamily="34" charset="-120"/>
                        </a:rPr>
                        <a:t>Rs 101.3 Cr</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E8F4F2"/>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Enterprise value less cost of project</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E8F4F2"/>
                    </a:solidFill>
                  </a:tcPr>
                </a:tc>
              </a:tr>
            </a:tbl>
          </a:graphicData>
        </a:graphic>
      </p:graphicFrame>
      <p:sp>
        <p:nvSpPr>
          <p:cNvPr id="21" name="Shape 18"/>
          <p:cNvSpPr/>
          <p:nvPr/>
        </p:nvSpPr>
        <p:spPr>
          <a:xfrm>
            <a:off x="9482328" y="2880360"/>
            <a:ext cx="2112264" cy="2011680"/>
          </a:xfrm>
          <a:prstGeom prst="roundRect">
            <a:avLst>
              <a:gd name="adj" fmla="val 2727"/>
            </a:avLst>
          </a:prstGeom>
          <a:solidFill>
            <a:srgbClr val="FDF3E3"/>
          </a:solidFill>
          <a:ln w="12700">
            <a:solidFill>
              <a:srgbClr val="E8A33D"/>
            </a:solidFill>
            <a:prstDash val="solid"/>
          </a:ln>
        </p:spPr>
      </p:sp>
      <p:sp>
        <p:nvSpPr>
          <p:cNvPr id="22" name="Text 19"/>
          <p:cNvSpPr/>
          <p:nvPr/>
        </p:nvSpPr>
        <p:spPr>
          <a:xfrm>
            <a:off x="9665208" y="3017520"/>
            <a:ext cx="1783080" cy="256032"/>
          </a:xfrm>
          <a:prstGeom prst="rect">
            <a:avLst/>
          </a:prstGeom>
          <a:noFill/>
          <a:ln/>
        </p:spPr>
        <p:txBody>
          <a:bodyPr wrap="square" rtlCol="0" anchor="ctr"/>
          <a:lstStyle/>
          <a:p>
            <a:pPr indent="0" marL="0">
              <a:buNone/>
            </a:pPr>
            <a:r>
              <a:rPr lang="en-US" sz="1150" b="1" dirty="0">
                <a:solidFill>
                  <a:srgbClr val="8A5A12"/>
                </a:solidFill>
                <a:latin typeface="Arial" pitchFamily="34" charset="0"/>
                <a:ea typeface="Arial" pitchFamily="34" charset="-122"/>
                <a:cs typeface="Arial" pitchFamily="34" charset="-120"/>
              </a:rPr>
              <a:t>A caution</a:t>
            </a:r>
            <a:endParaRPr lang="en-US" sz="1150" dirty="0"/>
          </a:p>
        </p:txBody>
      </p:sp>
      <p:sp>
        <p:nvSpPr>
          <p:cNvPr id="23" name="Text 20"/>
          <p:cNvSpPr/>
          <p:nvPr/>
        </p:nvSpPr>
        <p:spPr>
          <a:xfrm>
            <a:off x="9665208" y="3291840"/>
            <a:ext cx="1783080" cy="1463040"/>
          </a:xfrm>
          <a:prstGeom prst="rect">
            <a:avLst/>
          </a:prstGeom>
          <a:noFill/>
          <a:ln/>
        </p:spPr>
        <p:txBody>
          <a:bodyPr wrap="square" rtlCol="0" anchor="ctr"/>
          <a:lstStyle/>
          <a:p>
            <a:pPr indent="0" marL="0">
              <a:lnSpc>
                <a:spcPct val="108000"/>
              </a:lnSpc>
              <a:buNone/>
            </a:pPr>
            <a:r>
              <a:rPr lang="en-US" sz="950" dirty="0">
                <a:solidFill>
                  <a:srgbClr val="6B4A10"/>
                </a:solidFill>
                <a:latin typeface="Arial" pitchFamily="34" charset="0"/>
                <a:ea typeface="Arial" pitchFamily="34" charset="-122"/>
                <a:cs typeface="Arial" pitchFamily="34" charset="-120"/>
              </a:rPr>
              <a:t>Terminal value is 72% of the exit-multiple enterprise value. When two-thirds of a valuation sits beyond the forecast, the number is an assumption about perpetuity, not a calculation.</a:t>
            </a:r>
            <a:endParaRPr lang="en-US" sz="950" dirty="0"/>
          </a:p>
        </p:txBody>
      </p:sp>
      <p:sp>
        <p:nvSpPr>
          <p:cNvPr id="24" name="Text 21"/>
          <p:cNvSpPr/>
          <p:nvPr/>
        </p:nvSpPr>
        <p:spPr>
          <a:xfrm>
            <a:off x="566928" y="5120640"/>
            <a:ext cx="8778240" cy="731520"/>
          </a:xfrm>
          <a:prstGeom prst="rect">
            <a:avLst/>
          </a:prstGeom>
          <a:noFill/>
          <a:ln/>
        </p:spPr>
        <p:txBody>
          <a:bodyPr wrap="square" rtlCol="0" anchor="ctr"/>
          <a:lstStyle/>
          <a:p>
            <a:pPr indent="0" marL="0">
              <a:lnSpc>
                <a:spcPct val="110000"/>
              </a:lnSpc>
              <a:buNone/>
            </a:pPr>
            <a:r>
              <a:rPr lang="en-US" sz="1050" i="1" dirty="0">
                <a:solidFill>
                  <a:srgbClr val="6B7F84"/>
                </a:solidFill>
                <a:latin typeface="Arial" pitchFamily="34" charset="0"/>
                <a:ea typeface="Arial" pitchFamily="34" charset="-122"/>
                <a:cs typeface="Arial" pitchFamily="34" charset="-120"/>
              </a:rPr>
              <a:t>The exit multiple of 13.0x is the most consequential single input in the valuation and the least evidenced. At 9.0x equity IRR falls to about 23%; at 17.0x it rises to about 30%. The project clears its cost of capital on operating cash flow alone — the exit assumption determines how comfortably, not whether.</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37744"/>
          </a:xfrm>
          <a:prstGeom prst="rect">
            <a:avLst/>
          </a:prstGeom>
          <a:noFill/>
          <a:ln/>
        </p:spPr>
        <p:txBody>
          <a:bodyPr wrap="square" rtlCol="0" anchor="ctr"/>
          <a:lstStyle/>
          <a:p>
            <a:pPr indent="0" marL="0">
              <a:buNone/>
            </a:pPr>
            <a:r>
              <a:rPr lang="en-US" sz="1050" b="1" spc="140" kern="0" dirty="0">
                <a:solidFill>
                  <a:srgbClr val="128C8A"/>
                </a:solidFill>
                <a:latin typeface="Arial" pitchFamily="34" charset="0"/>
                <a:ea typeface="Arial" pitchFamily="34" charset="-122"/>
                <a:cs typeface="Arial" pitchFamily="34" charset="-120"/>
              </a:rPr>
              <a:t>WHAT DRIVES THE OUTCOME</a:t>
            </a:r>
            <a:endParaRPr lang="en-US" sz="1050" dirty="0"/>
          </a:p>
        </p:txBody>
      </p:sp>
      <p:sp>
        <p:nvSpPr>
          <p:cNvPr id="3" name="Text 1"/>
          <p:cNvSpPr/>
          <p:nvPr/>
        </p:nvSpPr>
        <p:spPr>
          <a:xfrm>
            <a:off x="566928" y="530352"/>
            <a:ext cx="11027664" cy="566928"/>
          </a:xfrm>
          <a:prstGeom prst="rect">
            <a:avLst/>
          </a:prstGeom>
          <a:noFill/>
          <a:ln/>
        </p:spPr>
        <p:txBody>
          <a:bodyPr wrap="square" rtlCol="0" anchor="ctr"/>
          <a:lstStyle/>
          <a:p>
            <a:pPr indent="0" marL="0">
              <a:buNone/>
            </a:pPr>
            <a:r>
              <a:rPr lang="en-US" sz="2700" b="1" dirty="0">
                <a:solidFill>
                  <a:srgbClr val="0E3B43"/>
                </a:solidFill>
                <a:latin typeface="Cambria" pitchFamily="34" charset="0"/>
                <a:ea typeface="Cambria" pitchFamily="34" charset="-122"/>
                <a:cs typeface="Cambria" pitchFamily="34" charset="-120"/>
              </a:rPr>
              <a:t>Four demand-side drivers dominate everything else</a:t>
            </a:r>
            <a:endParaRPr lang="en-US" sz="2700" dirty="0"/>
          </a:p>
        </p:txBody>
      </p:sp>
      <p:graphicFrame>
        <p:nvGraphicFramePr>
          <p:cNvPr id="4" name="Chart 0" descr=""/>
          <p:cNvGraphicFramePr/>
          <p:nvPr/>
        </p:nvGraphicFramePr>
        <p:xfrm>
          <a:off x="566928" y="1280160"/>
          <a:ext cx="6583680" cy="35661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424928" y="1298448"/>
            <a:ext cx="4626864" cy="3547872"/>
          </a:xfrm>
          <a:prstGeom prst="roundRect">
            <a:avLst>
              <a:gd name="adj" fmla="val 1546"/>
            </a:avLst>
          </a:prstGeom>
          <a:solidFill>
            <a:srgbClr val="0E3B43"/>
          </a:solidFill>
          <a:ln/>
        </p:spPr>
      </p:sp>
      <p:sp>
        <p:nvSpPr>
          <p:cNvPr id="6" name="Text 3"/>
          <p:cNvSpPr/>
          <p:nvPr/>
        </p:nvSpPr>
        <p:spPr>
          <a:xfrm>
            <a:off x="7699248" y="1463040"/>
            <a:ext cx="4114800" cy="274320"/>
          </a:xfrm>
          <a:prstGeom prst="rect">
            <a:avLst/>
          </a:prstGeom>
          <a:noFill/>
          <a:ln/>
        </p:spPr>
        <p:txBody>
          <a:bodyPr wrap="square" rtlCol="0" anchor="ctr"/>
          <a:lstStyle/>
          <a:p>
            <a:pPr indent="0" marL="0">
              <a:buNone/>
            </a:pPr>
            <a:r>
              <a:rPr lang="en-US" sz="1300" b="1" dirty="0">
                <a:solidFill>
                  <a:srgbClr val="E8A33D"/>
                </a:solidFill>
                <a:latin typeface="Arial" pitchFamily="34" charset="0"/>
                <a:ea typeface="Arial" pitchFamily="34" charset="-122"/>
                <a:cs typeface="Arial" pitchFamily="34" charset="-120"/>
              </a:rPr>
              <a:t>The ranking is the finding</a:t>
            </a:r>
            <a:endParaRPr lang="en-US" sz="1300" dirty="0"/>
          </a:p>
        </p:txBody>
      </p:sp>
      <p:sp>
        <p:nvSpPr>
          <p:cNvPr id="7" name="Text 4"/>
          <p:cNvSpPr/>
          <p:nvPr/>
        </p:nvSpPr>
        <p:spPr>
          <a:xfrm>
            <a:off x="7699248" y="1810512"/>
            <a:ext cx="4114800" cy="2880360"/>
          </a:xfrm>
          <a:prstGeom prst="rect">
            <a:avLst/>
          </a:prstGeom>
          <a:noFill/>
          <a:ln/>
        </p:spPr>
        <p:txBody>
          <a:bodyPr wrap="square" rtlCol="0" anchor="ctr"/>
          <a:lstStyle/>
          <a:p>
            <a:pPr indent="0" marL="0">
              <a:lnSpc>
                <a:spcPct val="112000"/>
              </a:lnSpc>
              <a:spcAft>
                <a:spcPts val="1000"/>
              </a:spcAft>
              <a:buNone/>
            </a:pPr>
            <a:r>
              <a:rPr lang="en-US" sz="1050" dirty="0">
                <a:solidFill>
                  <a:srgbClr val="FFFFFF"/>
                </a:solidFill>
                <a:latin typeface="Arial" pitchFamily="34" charset="0"/>
                <a:ea typeface="Arial" pitchFamily="34" charset="-122"/>
                <a:cs typeface="Arial" pitchFamily="34" charset="-120"/>
              </a:rPr>
              <a:t>The top four drivers — ramp speed, ARPOB escalation, ARPOB level and peak occupancy — are every one of them demand-side. Each swings equity IRR by 11 to 14 percentage points.</a:t>
            </a:r>
            <a:endParaRPr lang="en-US" sz="1050" dirty="0"/>
          </a:p>
          <a:p>
            <a:pPr indent="0" marL="0">
              <a:lnSpc>
                <a:spcPct val="112000"/>
              </a:lnSpc>
              <a:spcAft>
                <a:spcPts val="1000"/>
              </a:spcAft>
              <a:buNone/>
            </a:pPr>
            <a:r>
              <a:rPr lang="en-US" sz="1050" dirty="0">
                <a:solidFill>
                  <a:srgbClr val="FFFFFF"/>
                </a:solidFill>
                <a:latin typeface="Arial" pitchFamily="34" charset="0"/>
                <a:ea typeface="Arial" pitchFamily="34" charset="-122"/>
                <a:cs typeface="Arial" pitchFamily="34" charset="-120"/>
              </a:rPr>
              <a:t>Interest rate ranks eleventh of twelve, at about 1.5 points.</a:t>
            </a:r>
            <a:endParaRPr lang="en-US" sz="1050" dirty="0"/>
          </a:p>
          <a:p>
            <a:pPr indent="0" marL="0">
              <a:lnSpc>
                <a:spcPct val="112000"/>
              </a:lnSpc>
              <a:spcAft>
                <a:spcPts val="1000"/>
              </a:spcAft>
              <a:buNone/>
            </a:pPr>
            <a:r>
              <a:rPr lang="en-US" sz="1050" dirty="0">
                <a:solidFill>
                  <a:srgbClr val="FFFFFF"/>
                </a:solidFill>
                <a:latin typeface="Arial" pitchFamily="34" charset="0"/>
                <a:ea typeface="Arial" pitchFamily="34" charset="-122"/>
                <a:cs typeface="Arial" pitchFamily="34" charset="-120"/>
              </a:rPr>
              <a:t>Four percentage points of additional occupancy is worth more than 300 basis points off the loan. Management time belongs with clinicians, referrers and payers — not with the spread.</a:t>
            </a:r>
            <a:endParaRPr lang="en-US" sz="1050" dirty="0"/>
          </a:p>
          <a:p>
            <a:pPr indent="0" marL="0">
              <a:lnSpc>
                <a:spcPct val="112000"/>
              </a:lnSpc>
              <a:buNone/>
            </a:pPr>
            <a:r>
              <a:rPr lang="en-US" sz="1050" dirty="0">
                <a:solidFill>
                  <a:srgbClr val="FFFFFF"/>
                </a:solidFill>
                <a:latin typeface="Arial" pitchFamily="34" charset="0"/>
                <a:ea typeface="Arial" pitchFamily="34" charset="-122"/>
                <a:cs typeface="Arial" pitchFamily="34" charset="-120"/>
              </a:rPr>
              <a:t>For a lender the corollary is that the covenants that matter are operational. An occupancy trigger tested quarterly detects deterioration two to four quarters before an annual leverage test does.</a:t>
            </a:r>
            <a:endParaRPr lang="en-US" sz="1050" dirty="0"/>
          </a:p>
        </p:txBody>
      </p:sp>
      <p:sp>
        <p:nvSpPr>
          <p:cNvPr id="8" name="Text 5"/>
          <p:cNvSpPr/>
          <p:nvPr/>
        </p:nvSpPr>
        <p:spPr>
          <a:xfrm>
            <a:off x="566928" y="5029200"/>
            <a:ext cx="11027664" cy="548640"/>
          </a:xfrm>
          <a:prstGeom prst="rect">
            <a:avLst/>
          </a:prstGeom>
          <a:noFill/>
          <a:ln/>
        </p:spPr>
        <p:txBody>
          <a:bodyPr wrap="square" rtlCol="0" anchor="ctr"/>
          <a:lstStyle/>
          <a:p>
            <a:pPr indent="0" marL="0">
              <a:lnSpc>
                <a:spcPct val="110000"/>
              </a:lnSpc>
              <a:buNone/>
            </a:pPr>
            <a:r>
              <a:rPr lang="en-US" sz="1050" i="1" dirty="0">
                <a:solidFill>
                  <a:srgbClr val="6B7F84"/>
                </a:solidFill>
                <a:latin typeface="Arial" pitchFamily="34" charset="0"/>
                <a:ea typeface="Arial" pitchFamily="34" charset="-122"/>
                <a:cs typeface="Arial" pitchFamily="34" charset="-120"/>
              </a:rPr>
              <a:t>Caveat: a tornado moves one variable at a time. Real downside arrives correlated — a slow ramp and weak pricing and cost inflation together. That is why the simulation on the next slide, not this chart, is the honest risk measure.</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37744"/>
          </a:xfrm>
          <a:prstGeom prst="rect">
            <a:avLst/>
          </a:prstGeom>
          <a:noFill/>
          <a:ln/>
        </p:spPr>
        <p:txBody>
          <a:bodyPr wrap="square" rtlCol="0" anchor="ctr"/>
          <a:lstStyle/>
          <a:p>
            <a:pPr indent="0" marL="0">
              <a:buNone/>
            </a:pPr>
            <a:r>
              <a:rPr lang="en-US" sz="1050" b="1" spc="140" kern="0" dirty="0">
                <a:solidFill>
                  <a:srgbClr val="128C8A"/>
                </a:solidFill>
                <a:latin typeface="Arial" pitchFamily="34" charset="0"/>
                <a:ea typeface="Arial" pitchFamily="34" charset="-122"/>
                <a:cs typeface="Arial" pitchFamily="34" charset="-120"/>
              </a:rPr>
              <a:t>RISK QUANTIFIED</a:t>
            </a:r>
            <a:endParaRPr lang="en-US" sz="1050" dirty="0"/>
          </a:p>
        </p:txBody>
      </p:sp>
      <p:sp>
        <p:nvSpPr>
          <p:cNvPr id="3" name="Text 1"/>
          <p:cNvSpPr/>
          <p:nvPr/>
        </p:nvSpPr>
        <p:spPr>
          <a:xfrm>
            <a:off x="566928" y="530352"/>
            <a:ext cx="11027664" cy="566928"/>
          </a:xfrm>
          <a:prstGeom prst="rect">
            <a:avLst/>
          </a:prstGeom>
          <a:noFill/>
          <a:ln/>
        </p:spPr>
        <p:txBody>
          <a:bodyPr wrap="square" rtlCol="0" anchor="ctr"/>
          <a:lstStyle/>
          <a:p>
            <a:pPr indent="0" marL="0">
              <a:buNone/>
            </a:pPr>
            <a:r>
              <a:rPr lang="en-US" sz="2700" b="1" dirty="0">
                <a:solidFill>
                  <a:srgbClr val="0E3B43"/>
                </a:solidFill>
                <a:latin typeface="Cambria" pitchFamily="34" charset="0"/>
                <a:ea typeface="Cambria" pitchFamily="34" charset="-122"/>
                <a:cs typeface="Cambria" pitchFamily="34" charset="-120"/>
              </a:rPr>
              <a:t>A sound asset, aggressively financed</a:t>
            </a:r>
            <a:endParaRPr lang="en-US" sz="2700" dirty="0"/>
          </a:p>
        </p:txBody>
      </p:sp>
      <p:sp>
        <p:nvSpPr>
          <p:cNvPr id="4" name="Text 2"/>
          <p:cNvSpPr/>
          <p:nvPr/>
        </p:nvSpPr>
        <p:spPr>
          <a:xfrm>
            <a:off x="566928" y="1207008"/>
            <a:ext cx="11027664" cy="274320"/>
          </a:xfrm>
          <a:prstGeom prst="rect">
            <a:avLst/>
          </a:prstGeom>
          <a:noFill/>
          <a:ln/>
        </p:spPr>
        <p:txBody>
          <a:bodyPr wrap="square" rtlCol="0" anchor="ctr"/>
          <a:lstStyle/>
          <a:p>
            <a:pPr indent="0" marL="0">
              <a:buNone/>
            </a:pPr>
            <a:r>
              <a:rPr lang="en-US" sz="1200" dirty="0">
                <a:solidFill>
                  <a:srgbClr val="6B7F84"/>
                </a:solidFill>
                <a:latin typeface="Arial" pitchFamily="34" charset="0"/>
                <a:ea typeface="Arial" pitchFamily="34" charset="-122"/>
                <a:cs typeface="Arial" pitchFamily="34" charset="-120"/>
              </a:rPr>
              <a:t>10,000 simulated futures, every driver varying simultaneously</a:t>
            </a:r>
            <a:endParaRPr lang="en-US" sz="1200" dirty="0"/>
          </a:p>
        </p:txBody>
      </p:sp>
      <p:sp>
        <p:nvSpPr>
          <p:cNvPr id="5" name="Shape 3"/>
          <p:cNvSpPr/>
          <p:nvPr/>
        </p:nvSpPr>
        <p:spPr>
          <a:xfrm>
            <a:off x="566928" y="1572768"/>
            <a:ext cx="2743200" cy="1371600"/>
          </a:xfrm>
          <a:prstGeom prst="roundRect">
            <a:avLst>
              <a:gd name="adj" fmla="val 4000"/>
            </a:avLst>
          </a:prstGeom>
          <a:solidFill>
            <a:srgbClr val="E7F6EF"/>
          </a:solidFill>
          <a:ln w="12700">
            <a:solidFill>
              <a:srgbClr val="2ECC9B"/>
            </a:solidFill>
            <a:prstDash val="solid"/>
          </a:ln>
        </p:spPr>
      </p:sp>
      <p:sp>
        <p:nvSpPr>
          <p:cNvPr id="6" name="Text 4"/>
          <p:cNvSpPr/>
          <p:nvPr/>
        </p:nvSpPr>
        <p:spPr>
          <a:xfrm>
            <a:off x="566928" y="1682496"/>
            <a:ext cx="2743200" cy="630936"/>
          </a:xfrm>
          <a:prstGeom prst="rect">
            <a:avLst/>
          </a:prstGeom>
          <a:noFill/>
          <a:ln/>
        </p:spPr>
        <p:txBody>
          <a:bodyPr wrap="square" lIns="0" tIns="0" rIns="0" bIns="0" rtlCol="0" anchor="ctr"/>
          <a:lstStyle/>
          <a:p>
            <a:pPr algn="ctr" indent="0" marL="0">
              <a:buNone/>
            </a:pPr>
            <a:r>
              <a:rPr lang="en-US" sz="3000" b="1" dirty="0">
                <a:solidFill>
                  <a:srgbClr val="186B4E"/>
                </a:solidFill>
                <a:latin typeface="Cambria" pitchFamily="34" charset="0"/>
                <a:ea typeface="Cambria" pitchFamily="34" charset="-122"/>
                <a:cs typeface="Cambria" pitchFamily="34" charset="-120"/>
              </a:rPr>
              <a:t>91%</a:t>
            </a:r>
            <a:endParaRPr lang="en-US" sz="3000" dirty="0"/>
          </a:p>
        </p:txBody>
      </p:sp>
      <p:sp>
        <p:nvSpPr>
          <p:cNvPr id="7" name="Text 5"/>
          <p:cNvSpPr/>
          <p:nvPr/>
        </p:nvSpPr>
        <p:spPr>
          <a:xfrm>
            <a:off x="640080" y="2286000"/>
            <a:ext cx="2596896" cy="329184"/>
          </a:xfrm>
          <a:prstGeom prst="rect">
            <a:avLst/>
          </a:prstGeom>
          <a:noFill/>
          <a:ln/>
        </p:spPr>
        <p:txBody>
          <a:bodyPr wrap="square" lIns="0" tIns="0" rIns="0" bIns="0" rtlCol="0" anchor="ctr"/>
          <a:lstStyle/>
          <a:p>
            <a:pPr algn="ctr" indent="0" marL="0">
              <a:buNone/>
            </a:pPr>
            <a:r>
              <a:rPr lang="en-US" sz="1050" b="1" dirty="0">
                <a:solidFill>
                  <a:srgbClr val="1A2E33"/>
                </a:solidFill>
                <a:latin typeface="Arial" pitchFamily="34" charset="0"/>
                <a:ea typeface="Arial" pitchFamily="34" charset="-122"/>
                <a:cs typeface="Arial" pitchFamily="34" charset="-120"/>
              </a:rPr>
              <a:t>Probability NPV &gt; 0</a:t>
            </a:r>
            <a:endParaRPr lang="en-US" sz="1050" dirty="0"/>
          </a:p>
        </p:txBody>
      </p:sp>
      <p:sp>
        <p:nvSpPr>
          <p:cNvPr id="8" name="Text 6"/>
          <p:cNvSpPr/>
          <p:nvPr/>
        </p:nvSpPr>
        <p:spPr>
          <a:xfrm>
            <a:off x="640080" y="2587752"/>
            <a:ext cx="2596896" cy="301752"/>
          </a:xfrm>
          <a:prstGeom prst="rect">
            <a:avLst/>
          </a:prstGeom>
          <a:noFill/>
          <a:ln/>
        </p:spPr>
        <p:txBody>
          <a:bodyPr wrap="square" lIns="0" tIns="0" rIns="0" bIns="0" rtlCol="0" anchor="ctr"/>
          <a:lstStyle/>
          <a:p>
            <a:pPr algn="ctr" indent="0" marL="0">
              <a:buNone/>
            </a:pPr>
            <a:r>
              <a:rPr lang="en-US" sz="850" dirty="0">
                <a:solidFill>
                  <a:srgbClr val="6B7F84"/>
                </a:solidFill>
                <a:latin typeface="Arial" pitchFamily="34" charset="0"/>
                <a:ea typeface="Arial" pitchFamily="34" charset="-122"/>
                <a:cs typeface="Arial" pitchFamily="34" charset="-120"/>
              </a:rPr>
              <a:t>the asset creates value</a:t>
            </a:r>
            <a:endParaRPr lang="en-US" sz="850" dirty="0"/>
          </a:p>
        </p:txBody>
      </p:sp>
      <p:sp>
        <p:nvSpPr>
          <p:cNvPr id="9" name="Shape 7"/>
          <p:cNvSpPr/>
          <p:nvPr/>
        </p:nvSpPr>
        <p:spPr>
          <a:xfrm>
            <a:off x="3447288" y="1572768"/>
            <a:ext cx="2743200" cy="1371600"/>
          </a:xfrm>
          <a:prstGeom prst="roundRect">
            <a:avLst>
              <a:gd name="adj" fmla="val 4000"/>
            </a:avLst>
          </a:prstGeom>
          <a:solidFill>
            <a:srgbClr val="E7F6EF"/>
          </a:solidFill>
          <a:ln w="12700">
            <a:solidFill>
              <a:srgbClr val="2ECC9B"/>
            </a:solidFill>
            <a:prstDash val="solid"/>
          </a:ln>
        </p:spPr>
      </p:sp>
      <p:sp>
        <p:nvSpPr>
          <p:cNvPr id="10" name="Text 8"/>
          <p:cNvSpPr/>
          <p:nvPr/>
        </p:nvSpPr>
        <p:spPr>
          <a:xfrm>
            <a:off x="3447288" y="1682496"/>
            <a:ext cx="2743200" cy="630936"/>
          </a:xfrm>
          <a:prstGeom prst="rect">
            <a:avLst/>
          </a:prstGeom>
          <a:noFill/>
          <a:ln/>
        </p:spPr>
        <p:txBody>
          <a:bodyPr wrap="square" lIns="0" tIns="0" rIns="0" bIns="0" rtlCol="0" anchor="ctr"/>
          <a:lstStyle/>
          <a:p>
            <a:pPr algn="ctr" indent="0" marL="0">
              <a:buNone/>
            </a:pPr>
            <a:r>
              <a:rPr lang="en-US" sz="3000" b="1" dirty="0">
                <a:solidFill>
                  <a:srgbClr val="186B4E"/>
                </a:solidFill>
                <a:latin typeface="Cambria" pitchFamily="34" charset="0"/>
                <a:ea typeface="Cambria" pitchFamily="34" charset="-122"/>
                <a:cs typeface="Cambria" pitchFamily="34" charset="-120"/>
              </a:rPr>
              <a:t>74%</a:t>
            </a:r>
            <a:endParaRPr lang="en-US" sz="3000" dirty="0"/>
          </a:p>
        </p:txBody>
      </p:sp>
      <p:sp>
        <p:nvSpPr>
          <p:cNvPr id="11" name="Text 9"/>
          <p:cNvSpPr/>
          <p:nvPr/>
        </p:nvSpPr>
        <p:spPr>
          <a:xfrm>
            <a:off x="3520440" y="2286000"/>
            <a:ext cx="2596896" cy="329184"/>
          </a:xfrm>
          <a:prstGeom prst="rect">
            <a:avLst/>
          </a:prstGeom>
          <a:noFill/>
          <a:ln/>
        </p:spPr>
        <p:txBody>
          <a:bodyPr wrap="square" lIns="0" tIns="0" rIns="0" bIns="0" rtlCol="0" anchor="ctr"/>
          <a:lstStyle/>
          <a:p>
            <a:pPr algn="ctr" indent="0" marL="0">
              <a:buNone/>
            </a:pPr>
            <a:r>
              <a:rPr lang="en-US" sz="1050" b="1" dirty="0">
                <a:solidFill>
                  <a:srgbClr val="1A2E33"/>
                </a:solidFill>
                <a:latin typeface="Arial" pitchFamily="34" charset="0"/>
                <a:ea typeface="Arial" pitchFamily="34" charset="-122"/>
                <a:cs typeface="Arial" pitchFamily="34" charset="-120"/>
              </a:rPr>
              <a:t>Probability equity IRR &gt; 18%</a:t>
            </a:r>
            <a:endParaRPr lang="en-US" sz="1050" dirty="0"/>
          </a:p>
        </p:txBody>
      </p:sp>
      <p:sp>
        <p:nvSpPr>
          <p:cNvPr id="12" name="Text 10"/>
          <p:cNvSpPr/>
          <p:nvPr/>
        </p:nvSpPr>
        <p:spPr>
          <a:xfrm>
            <a:off x="3520440" y="2587752"/>
            <a:ext cx="2596896" cy="301752"/>
          </a:xfrm>
          <a:prstGeom prst="rect">
            <a:avLst/>
          </a:prstGeom>
          <a:noFill/>
          <a:ln/>
        </p:spPr>
        <p:txBody>
          <a:bodyPr wrap="square" lIns="0" tIns="0" rIns="0" bIns="0" rtlCol="0" anchor="ctr"/>
          <a:lstStyle/>
          <a:p>
            <a:pPr algn="ctr" indent="0" marL="0">
              <a:buNone/>
            </a:pPr>
            <a:r>
              <a:rPr lang="en-US" sz="850" dirty="0">
                <a:solidFill>
                  <a:srgbClr val="6B7F84"/>
                </a:solidFill>
                <a:latin typeface="Arial" pitchFamily="34" charset="0"/>
                <a:ea typeface="Arial" pitchFamily="34" charset="-122"/>
                <a:cs typeface="Arial" pitchFamily="34" charset="-120"/>
              </a:rPr>
              <a:t>clears the promoter hurdle</a:t>
            </a:r>
            <a:endParaRPr lang="en-US" sz="850" dirty="0"/>
          </a:p>
        </p:txBody>
      </p:sp>
      <p:sp>
        <p:nvSpPr>
          <p:cNvPr id="13" name="Shape 11"/>
          <p:cNvSpPr/>
          <p:nvPr/>
        </p:nvSpPr>
        <p:spPr>
          <a:xfrm>
            <a:off x="6327648" y="1572768"/>
            <a:ext cx="2743200" cy="1371600"/>
          </a:xfrm>
          <a:prstGeom prst="roundRect">
            <a:avLst>
              <a:gd name="adj" fmla="val 4000"/>
            </a:avLst>
          </a:prstGeom>
          <a:solidFill>
            <a:srgbClr val="FDECEA"/>
          </a:solidFill>
          <a:ln w="12700">
            <a:solidFill>
              <a:srgbClr val="C0392B"/>
            </a:solidFill>
            <a:prstDash val="solid"/>
          </a:ln>
        </p:spPr>
      </p:sp>
      <p:sp>
        <p:nvSpPr>
          <p:cNvPr id="14" name="Text 12"/>
          <p:cNvSpPr/>
          <p:nvPr/>
        </p:nvSpPr>
        <p:spPr>
          <a:xfrm>
            <a:off x="6327648" y="1682496"/>
            <a:ext cx="2743200" cy="630936"/>
          </a:xfrm>
          <a:prstGeom prst="rect">
            <a:avLst/>
          </a:prstGeom>
          <a:noFill/>
          <a:ln/>
        </p:spPr>
        <p:txBody>
          <a:bodyPr wrap="square" lIns="0" tIns="0" rIns="0" bIns="0" rtlCol="0" anchor="ctr"/>
          <a:lstStyle/>
          <a:p>
            <a:pPr algn="ctr" indent="0" marL="0">
              <a:buNone/>
            </a:pPr>
            <a:r>
              <a:rPr lang="en-US" sz="3000" b="1" dirty="0">
                <a:solidFill>
                  <a:srgbClr val="C0392B"/>
                </a:solidFill>
                <a:latin typeface="Cambria" pitchFamily="34" charset="0"/>
                <a:ea typeface="Cambria" pitchFamily="34" charset="-122"/>
                <a:cs typeface="Cambria" pitchFamily="34" charset="-120"/>
              </a:rPr>
              <a:t>51%</a:t>
            </a:r>
            <a:endParaRPr lang="en-US" sz="3000" dirty="0"/>
          </a:p>
        </p:txBody>
      </p:sp>
      <p:sp>
        <p:nvSpPr>
          <p:cNvPr id="15" name="Text 13"/>
          <p:cNvSpPr/>
          <p:nvPr/>
        </p:nvSpPr>
        <p:spPr>
          <a:xfrm>
            <a:off x="6400800" y="2286000"/>
            <a:ext cx="2596896" cy="329184"/>
          </a:xfrm>
          <a:prstGeom prst="rect">
            <a:avLst/>
          </a:prstGeom>
          <a:noFill/>
          <a:ln/>
        </p:spPr>
        <p:txBody>
          <a:bodyPr wrap="square" lIns="0" tIns="0" rIns="0" bIns="0" rtlCol="0" anchor="ctr"/>
          <a:lstStyle/>
          <a:p>
            <a:pPr algn="ctr" indent="0" marL="0">
              <a:buNone/>
            </a:pPr>
            <a:r>
              <a:rPr lang="en-US" sz="1050" b="1" dirty="0">
                <a:solidFill>
                  <a:srgbClr val="1A2E33"/>
                </a:solidFill>
                <a:latin typeface="Arial" pitchFamily="34" charset="0"/>
                <a:ea typeface="Arial" pitchFamily="34" charset="-122"/>
                <a:cs typeface="Arial" pitchFamily="34" charset="-120"/>
              </a:rPr>
              <a:t>Probability DSCR ≥ 1.25x</a:t>
            </a:r>
            <a:endParaRPr lang="en-US" sz="1050" dirty="0"/>
          </a:p>
        </p:txBody>
      </p:sp>
      <p:sp>
        <p:nvSpPr>
          <p:cNvPr id="16" name="Text 14"/>
          <p:cNvSpPr/>
          <p:nvPr/>
        </p:nvSpPr>
        <p:spPr>
          <a:xfrm>
            <a:off x="6400800" y="2587752"/>
            <a:ext cx="2596896" cy="301752"/>
          </a:xfrm>
          <a:prstGeom prst="rect">
            <a:avLst/>
          </a:prstGeom>
          <a:noFill/>
          <a:ln/>
        </p:spPr>
        <p:txBody>
          <a:bodyPr wrap="square" lIns="0" tIns="0" rIns="0" bIns="0" rtlCol="0" anchor="ctr"/>
          <a:lstStyle/>
          <a:p>
            <a:pPr algn="ctr" indent="0" marL="0">
              <a:buNone/>
            </a:pPr>
            <a:r>
              <a:rPr lang="en-US" sz="850" dirty="0">
                <a:solidFill>
                  <a:srgbClr val="6B7F84"/>
                </a:solidFill>
                <a:latin typeface="Arial" pitchFamily="34" charset="0"/>
                <a:ea typeface="Arial" pitchFamily="34" charset="-122"/>
                <a:cs typeface="Arial" pitchFamily="34" charset="-120"/>
              </a:rPr>
              <a:t>the covenant holds</a:t>
            </a:r>
            <a:endParaRPr lang="en-US" sz="850" dirty="0"/>
          </a:p>
        </p:txBody>
      </p:sp>
      <p:sp>
        <p:nvSpPr>
          <p:cNvPr id="17" name="Shape 15"/>
          <p:cNvSpPr/>
          <p:nvPr/>
        </p:nvSpPr>
        <p:spPr>
          <a:xfrm>
            <a:off x="9208008" y="1572768"/>
            <a:ext cx="2743200" cy="1371600"/>
          </a:xfrm>
          <a:prstGeom prst="roundRect">
            <a:avLst>
              <a:gd name="adj" fmla="val 4000"/>
            </a:avLst>
          </a:prstGeom>
          <a:solidFill>
            <a:srgbClr val="FDECEA"/>
          </a:solidFill>
          <a:ln w="12700">
            <a:solidFill>
              <a:srgbClr val="C0392B"/>
            </a:solidFill>
            <a:prstDash val="solid"/>
          </a:ln>
        </p:spPr>
      </p:sp>
      <p:sp>
        <p:nvSpPr>
          <p:cNvPr id="18" name="Text 16"/>
          <p:cNvSpPr/>
          <p:nvPr/>
        </p:nvSpPr>
        <p:spPr>
          <a:xfrm>
            <a:off x="9208008" y="1682496"/>
            <a:ext cx="2743200" cy="630936"/>
          </a:xfrm>
          <a:prstGeom prst="rect">
            <a:avLst/>
          </a:prstGeom>
          <a:noFill/>
          <a:ln/>
        </p:spPr>
        <p:txBody>
          <a:bodyPr wrap="square" lIns="0" tIns="0" rIns="0" bIns="0" rtlCol="0" anchor="ctr"/>
          <a:lstStyle/>
          <a:p>
            <a:pPr algn="ctr" indent="0" marL="0">
              <a:buNone/>
            </a:pPr>
            <a:r>
              <a:rPr lang="en-US" sz="3000" b="1" dirty="0">
                <a:solidFill>
                  <a:srgbClr val="C0392B"/>
                </a:solidFill>
                <a:latin typeface="Cambria" pitchFamily="34" charset="0"/>
                <a:ea typeface="Cambria" pitchFamily="34" charset="-122"/>
                <a:cs typeface="Cambria" pitchFamily="34" charset="-120"/>
              </a:rPr>
              <a:t>27%</a:t>
            </a:r>
            <a:endParaRPr lang="en-US" sz="3000" dirty="0"/>
          </a:p>
        </p:txBody>
      </p:sp>
      <p:sp>
        <p:nvSpPr>
          <p:cNvPr id="19" name="Text 17"/>
          <p:cNvSpPr/>
          <p:nvPr/>
        </p:nvSpPr>
        <p:spPr>
          <a:xfrm>
            <a:off x="9281160" y="2286000"/>
            <a:ext cx="2596896" cy="329184"/>
          </a:xfrm>
          <a:prstGeom prst="rect">
            <a:avLst/>
          </a:prstGeom>
          <a:noFill/>
          <a:ln/>
        </p:spPr>
        <p:txBody>
          <a:bodyPr wrap="square" lIns="0" tIns="0" rIns="0" bIns="0" rtlCol="0" anchor="ctr"/>
          <a:lstStyle/>
          <a:p>
            <a:pPr algn="ctr" indent="0" marL="0">
              <a:buNone/>
            </a:pPr>
            <a:r>
              <a:rPr lang="en-US" sz="1050" b="1" dirty="0">
                <a:solidFill>
                  <a:srgbClr val="1A2E33"/>
                </a:solidFill>
                <a:latin typeface="Arial" pitchFamily="34" charset="0"/>
                <a:ea typeface="Arial" pitchFamily="34" charset="-122"/>
                <a:cs typeface="Arial" pitchFamily="34" charset="-120"/>
              </a:rPr>
              <a:t>Probability DSCR &lt; 1.00x</a:t>
            </a:r>
            <a:endParaRPr lang="en-US" sz="1050" dirty="0"/>
          </a:p>
        </p:txBody>
      </p:sp>
      <p:sp>
        <p:nvSpPr>
          <p:cNvPr id="20" name="Text 18"/>
          <p:cNvSpPr/>
          <p:nvPr/>
        </p:nvSpPr>
        <p:spPr>
          <a:xfrm>
            <a:off x="9281160" y="2587752"/>
            <a:ext cx="2596896" cy="301752"/>
          </a:xfrm>
          <a:prstGeom prst="rect">
            <a:avLst/>
          </a:prstGeom>
          <a:noFill/>
          <a:ln/>
        </p:spPr>
        <p:txBody>
          <a:bodyPr wrap="square" lIns="0" tIns="0" rIns="0" bIns="0" rtlCol="0" anchor="ctr"/>
          <a:lstStyle/>
          <a:p>
            <a:pPr algn="ctr" indent="0" marL="0">
              <a:buNone/>
            </a:pPr>
            <a:r>
              <a:rPr lang="en-US" sz="850" dirty="0">
                <a:solidFill>
                  <a:srgbClr val="6B7F84"/>
                </a:solidFill>
                <a:latin typeface="Arial" pitchFamily="34" charset="0"/>
                <a:ea typeface="Arial" pitchFamily="34" charset="-122"/>
                <a:cs typeface="Arial" pitchFamily="34" charset="-120"/>
              </a:rPr>
              <a:t>technical default</a:t>
            </a:r>
            <a:endParaRPr lang="en-US" sz="850" dirty="0"/>
          </a:p>
        </p:txBody>
      </p:sp>
      <p:sp>
        <p:nvSpPr>
          <p:cNvPr id="21" name="Shape 19"/>
          <p:cNvSpPr/>
          <p:nvPr/>
        </p:nvSpPr>
        <p:spPr>
          <a:xfrm>
            <a:off x="566928" y="3127248"/>
            <a:ext cx="11027664" cy="1371600"/>
          </a:xfrm>
          <a:prstGeom prst="roundRect">
            <a:avLst>
              <a:gd name="adj" fmla="val 4000"/>
            </a:avLst>
          </a:prstGeom>
          <a:solidFill>
            <a:srgbClr val="0E3B43"/>
          </a:solidFill>
          <a:ln/>
        </p:spPr>
      </p:sp>
      <p:sp>
        <p:nvSpPr>
          <p:cNvPr id="22" name="Text 20"/>
          <p:cNvSpPr/>
          <p:nvPr/>
        </p:nvSpPr>
        <p:spPr>
          <a:xfrm>
            <a:off x="886968" y="3273552"/>
            <a:ext cx="10387584" cy="274320"/>
          </a:xfrm>
          <a:prstGeom prst="rect">
            <a:avLst/>
          </a:prstGeom>
          <a:noFill/>
          <a:ln/>
        </p:spPr>
        <p:txBody>
          <a:bodyPr wrap="square" rtlCol="0" anchor="ctr"/>
          <a:lstStyle/>
          <a:p>
            <a:pPr indent="0" marL="0">
              <a:buNone/>
            </a:pPr>
            <a:r>
              <a:rPr lang="en-US" sz="1400" b="1" dirty="0">
                <a:solidFill>
                  <a:srgbClr val="E8A33D"/>
                </a:solidFill>
                <a:latin typeface="Arial" pitchFamily="34" charset="0"/>
                <a:ea typeface="Arial" pitchFamily="34" charset="-122"/>
                <a:cs typeface="Arial" pitchFamily="34" charset="-120"/>
              </a:rPr>
              <a:t>These two facts are not in tension</a:t>
            </a:r>
            <a:endParaRPr lang="en-US" sz="1400" dirty="0"/>
          </a:p>
        </p:txBody>
      </p:sp>
      <p:sp>
        <p:nvSpPr>
          <p:cNvPr id="23" name="Text 21"/>
          <p:cNvSpPr/>
          <p:nvPr/>
        </p:nvSpPr>
        <p:spPr>
          <a:xfrm>
            <a:off x="886968" y="3584448"/>
            <a:ext cx="10387584" cy="841248"/>
          </a:xfrm>
          <a:prstGeom prst="rect">
            <a:avLst/>
          </a:prstGeom>
          <a:noFill/>
          <a:ln/>
        </p:spPr>
        <p:txBody>
          <a:bodyPr wrap="square" rtlCol="0" anchor="ctr"/>
          <a:lstStyle/>
          <a:p>
            <a:pPr indent="0" marL="0">
              <a:lnSpc>
                <a:spcPct val="114000"/>
              </a:lnSpc>
              <a:buNone/>
            </a:pPr>
            <a:r>
              <a:rPr lang="en-US" sz="1150" dirty="0">
                <a:solidFill>
                  <a:srgbClr val="FFFFFF"/>
                </a:solidFill>
                <a:latin typeface="Arial" pitchFamily="34" charset="0"/>
                <a:ea typeface="Arial" pitchFamily="34" charset="-122"/>
                <a:cs typeface="Arial" pitchFamily="34" charset="-120"/>
              </a:rPr>
              <a:t>Net present value asks whether the asset is worth building over its whole life. DSCR asks whether cash arrives in the specific years the loan agreement demands it. A hospital can be an excellent twenty-year asset and still miss a covenant in Year 5. The distinction is not academic — it determines the correct response. Because the asset is sound and the financing is fragile, the answer is to rebuild the financing, which is cheap, reversible and entirely within the parties' control.</a:t>
            </a:r>
            <a:endParaRPr lang="en-US" sz="11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4617720"/>
          <a:ext cx="5212080" cy="914400"/>
        </p:xfrm>
        <a:graphic>
          <a:graphicData uri="http://schemas.openxmlformats.org/drawingml/2006/table">
            <a:tbl>
              <a:tblPr/>
              <a:tblGrid>
                <a:gridCol w="2194560"/>
                <a:gridCol w="1005840"/>
                <a:gridCol w="1005840"/>
                <a:gridCol w="1005840"/>
              </a:tblGrid>
              <a:tr h="27432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Output</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P5</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Median</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P95</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r>
              <a:tr h="274320">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Equity IRR</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6.7%</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23.4%</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34.1%</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274320">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Minimum DSCR</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0.61x</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1.26x</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r h="274320">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EBITDA margin Year 5</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22.2%</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bl>
          </a:graphicData>
        </a:graphic>
      </p:graphicFrame>
      <p:sp>
        <p:nvSpPr>
          <p:cNvPr id="25" name="Text 22"/>
          <p:cNvSpPr/>
          <p:nvPr/>
        </p:nvSpPr>
        <p:spPr>
          <a:xfrm>
            <a:off x="6144768" y="4590288"/>
            <a:ext cx="5449824" cy="256032"/>
          </a:xfrm>
          <a:prstGeom prst="rect">
            <a:avLst/>
          </a:prstGeom>
          <a:noFill/>
          <a:ln/>
        </p:spPr>
        <p:txBody>
          <a:bodyPr wrap="square" rtlCol="0" anchor="ctr"/>
          <a:lstStyle/>
          <a:p>
            <a:pPr indent="0" marL="0">
              <a:buNone/>
            </a:pPr>
            <a:r>
              <a:rPr lang="en-US" sz="1200" b="1" dirty="0">
                <a:solidFill>
                  <a:srgbClr val="128C8A"/>
                </a:solidFill>
                <a:latin typeface="Arial" pitchFamily="34" charset="0"/>
                <a:ea typeface="Arial" pitchFamily="34" charset="-122"/>
                <a:cs typeface="Arial" pitchFamily="34" charset="-120"/>
              </a:rPr>
              <a:t>Be sceptical of the simulation, too</a:t>
            </a:r>
            <a:endParaRPr lang="en-US" sz="1200" dirty="0"/>
          </a:p>
        </p:txBody>
      </p:sp>
      <p:sp>
        <p:nvSpPr>
          <p:cNvPr id="26" name="Text 23"/>
          <p:cNvSpPr/>
          <p:nvPr/>
        </p:nvSpPr>
        <p:spPr>
          <a:xfrm>
            <a:off x="6144768" y="4864608"/>
            <a:ext cx="5449824" cy="960120"/>
          </a:xfrm>
          <a:prstGeom prst="rect">
            <a:avLst/>
          </a:prstGeom>
          <a:noFill/>
          <a:ln/>
        </p:spPr>
        <p:txBody>
          <a:bodyPr wrap="square" rtlCol="0" anchor="ctr"/>
          <a:lstStyle/>
          <a:p>
            <a:pPr indent="0" marL="0">
              <a:lnSpc>
                <a:spcPct val="108000"/>
              </a:lnSpc>
              <a:buNone/>
            </a:pPr>
            <a:r>
              <a:rPr lang="en-US" sz="1000" dirty="0">
                <a:solidFill>
                  <a:srgbClr val="6B7F84"/>
                </a:solidFill>
                <a:latin typeface="Arial" pitchFamily="34" charset="0"/>
                <a:ea typeface="Arial" pitchFamily="34" charset="-122"/>
                <a:cs typeface="Arial" pitchFamily="34" charset="-120"/>
              </a:rPr>
              <a:t>The distributions are judgemental, not fitted to observed greenfield hospital data. Only one correlation is modelled. Triangular distributions have no tails past their bounds, so genuine catastrophe — a clinical scandal, a licence suspension, losing three anchor consultants at once — is absent entirely. The true probability of losing the equity is higher than any figure above.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37744"/>
          </a:xfrm>
          <a:prstGeom prst="rect">
            <a:avLst/>
          </a:prstGeom>
          <a:noFill/>
          <a:ln/>
        </p:spPr>
        <p:txBody>
          <a:bodyPr wrap="square" rtlCol="0" anchor="ctr"/>
          <a:lstStyle/>
          <a:p>
            <a:pPr indent="0" marL="0">
              <a:buNone/>
            </a:pPr>
            <a:r>
              <a:rPr lang="en-US" sz="1050" b="1" spc="140" kern="0" dirty="0">
                <a:solidFill>
                  <a:srgbClr val="128C8A"/>
                </a:solidFill>
                <a:latin typeface="Arial" pitchFamily="34" charset="0"/>
                <a:ea typeface="Arial" pitchFamily="34" charset="-122"/>
                <a:cs typeface="Arial" pitchFamily="34" charset="-120"/>
              </a:rPr>
              <a:t>FUNDING STRUCTURE</a:t>
            </a:r>
            <a:endParaRPr lang="en-US" sz="1050" dirty="0"/>
          </a:p>
        </p:txBody>
      </p:sp>
      <p:sp>
        <p:nvSpPr>
          <p:cNvPr id="3" name="Text 1"/>
          <p:cNvSpPr/>
          <p:nvPr/>
        </p:nvSpPr>
        <p:spPr>
          <a:xfrm>
            <a:off x="566928" y="530352"/>
            <a:ext cx="11027664" cy="566928"/>
          </a:xfrm>
          <a:prstGeom prst="rect">
            <a:avLst/>
          </a:prstGeom>
          <a:noFill/>
          <a:ln/>
        </p:spPr>
        <p:txBody>
          <a:bodyPr wrap="square" rtlCol="0" anchor="ctr"/>
          <a:lstStyle/>
          <a:p>
            <a:pPr indent="0" marL="0">
              <a:buNone/>
            </a:pPr>
            <a:r>
              <a:rPr lang="en-US" sz="2700" b="1" dirty="0">
                <a:solidFill>
                  <a:srgbClr val="0E3B43"/>
                </a:solidFill>
                <a:latin typeface="Cambria" pitchFamily="34" charset="0"/>
                <a:ea typeface="Cambria" pitchFamily="34" charset="-122"/>
                <a:cs typeface="Cambria" pitchFamily="34" charset="-120"/>
              </a:rPr>
              <a:t>De-levering is nearly free, and buys a great deal of safety</a:t>
            </a:r>
            <a:endParaRPr lang="en-US" sz="27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8759952" cy="914400"/>
        </p:xfrm>
        <a:graphic>
          <a:graphicData uri="http://schemas.openxmlformats.org/drawingml/2006/table">
            <a:tbl>
              <a:tblPr/>
              <a:tblGrid>
                <a:gridCol w="3200400"/>
                <a:gridCol w="1389888"/>
                <a:gridCol w="1389888"/>
                <a:gridCol w="1389888"/>
                <a:gridCol w="1389888"/>
              </a:tblGrid>
              <a:tr h="301752">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Metric</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70:30</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65:35</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60:40</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55:45</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r>
              <a:tr h="301752">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Term debt (% of cost of project)</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70%</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65%</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60%</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55%</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Promoter support required (Rs Cr)</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17.7</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15.8</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13.9</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12.0</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r h="301752">
                <a:tc>
                  <a:txBody>
                    <a:bodyPr/>
                    <a:lstStyle/>
                    <a:p>
                      <a:pPr algn="l" indent="0" marL="0">
                        <a:buNone/>
                      </a:pPr>
                      <a:r>
                        <a:rPr lang="en-US" sz="1000" b="1" dirty="0">
                          <a:solidFill>
                            <a:srgbClr val="1A2E33"/>
                          </a:solidFill>
                          <a:latin typeface="Arial" pitchFamily="34" charset="0"/>
                          <a:ea typeface="Arial" pitchFamily="34" charset="-122"/>
                          <a:cs typeface="Arial" pitchFamily="34" charset="-120"/>
                        </a:rPr>
                        <a:t>Median equity IRR</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A2E33"/>
                          </a:solidFill>
                          <a:latin typeface="Arial" pitchFamily="34" charset="0"/>
                          <a:ea typeface="Arial" pitchFamily="34" charset="-122"/>
                          <a:cs typeface="Arial" pitchFamily="34" charset="-120"/>
                        </a:rPr>
                        <a:t>23.2%</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A2E33"/>
                          </a:solidFill>
                          <a:latin typeface="Arial" pitchFamily="34" charset="0"/>
                          <a:ea typeface="Arial" pitchFamily="34" charset="-122"/>
                          <a:cs typeface="Arial" pitchFamily="34" charset="-120"/>
                        </a:rPr>
                        <a:t>23.3%</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A2E33"/>
                          </a:solidFill>
                          <a:latin typeface="Arial" pitchFamily="34" charset="0"/>
                          <a:ea typeface="Arial" pitchFamily="34" charset="-122"/>
                          <a:cs typeface="Arial" pitchFamily="34" charset="-120"/>
                        </a:rPr>
                        <a:t>23.4%</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A2E33"/>
                          </a:solidFill>
                          <a:latin typeface="Arial" pitchFamily="34" charset="0"/>
                          <a:ea typeface="Arial" pitchFamily="34" charset="-122"/>
                          <a:cs typeface="Arial" pitchFamily="34" charset="-120"/>
                        </a:rPr>
                        <a:t>23.5%</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301752">
                <a:tc>
                  <a:txBody>
                    <a:bodyPr/>
                    <a:lstStyle/>
                    <a:p>
                      <a:pPr algn="l" indent="0" marL="0">
                        <a:buNone/>
                      </a:pPr>
                      <a:r>
                        <a:rPr lang="en-US" sz="1000" b="1" dirty="0">
                          <a:solidFill>
                            <a:srgbClr val="1A2E33"/>
                          </a:solidFill>
                          <a:latin typeface="Arial" pitchFamily="34" charset="0"/>
                          <a:ea typeface="Arial" pitchFamily="34" charset="-122"/>
                          <a:cs typeface="Arial" pitchFamily="34" charset="-120"/>
                        </a:rPr>
                        <a:t>Median minimum DSCR</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b="1" dirty="0">
                          <a:solidFill>
                            <a:srgbClr val="1A2E33"/>
                          </a:solidFill>
                          <a:latin typeface="Arial" pitchFamily="34" charset="0"/>
                          <a:ea typeface="Arial" pitchFamily="34" charset="-122"/>
                          <a:cs typeface="Arial" pitchFamily="34" charset="-120"/>
                        </a:rPr>
                        <a:t>1.25x</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b="1" dirty="0">
                          <a:solidFill>
                            <a:srgbClr val="1A2E33"/>
                          </a:solidFill>
                          <a:latin typeface="Arial" pitchFamily="34" charset="0"/>
                          <a:ea typeface="Arial" pitchFamily="34" charset="-122"/>
                          <a:cs typeface="Arial" pitchFamily="34" charset="-120"/>
                        </a:rPr>
                        <a:t>1.35x</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b="1" dirty="0">
                          <a:solidFill>
                            <a:srgbClr val="1A2E33"/>
                          </a:solidFill>
                          <a:latin typeface="Arial" pitchFamily="34" charset="0"/>
                          <a:ea typeface="Arial" pitchFamily="34" charset="-122"/>
                          <a:cs typeface="Arial" pitchFamily="34" charset="-120"/>
                        </a:rPr>
                        <a:t>1.47x</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b="1" dirty="0">
                          <a:solidFill>
                            <a:srgbClr val="1A2E33"/>
                          </a:solidFill>
                          <a:latin typeface="Arial" pitchFamily="34" charset="0"/>
                          <a:ea typeface="Arial" pitchFamily="34" charset="-122"/>
                          <a:cs typeface="Arial" pitchFamily="34" charset="-120"/>
                        </a:rPr>
                        <a:t>1.61x</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r h="301752">
                <a:tc>
                  <a:txBody>
                    <a:bodyPr/>
                    <a:lstStyle/>
                    <a:p>
                      <a:pPr algn="l" indent="0" marL="0">
                        <a:buNone/>
                      </a:pPr>
                      <a:r>
                        <a:rPr lang="en-US" sz="1000" b="1" dirty="0">
                          <a:solidFill>
                            <a:srgbClr val="1A2E33"/>
                          </a:solidFill>
                          <a:latin typeface="Arial" pitchFamily="34" charset="0"/>
                          <a:ea typeface="Arial" pitchFamily="34" charset="-122"/>
                          <a:cs typeface="Arial" pitchFamily="34" charset="-120"/>
                        </a:rPr>
                        <a:t>Probability covenant holds</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A2E33"/>
                          </a:solidFill>
                          <a:latin typeface="Arial" pitchFamily="34" charset="0"/>
                          <a:ea typeface="Arial" pitchFamily="34" charset="-122"/>
                          <a:cs typeface="Arial" pitchFamily="34" charset="-120"/>
                        </a:rPr>
                        <a:t>50%</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A2E33"/>
                          </a:solidFill>
                          <a:latin typeface="Arial" pitchFamily="34" charset="0"/>
                          <a:ea typeface="Arial" pitchFamily="34" charset="-122"/>
                          <a:cs typeface="Arial" pitchFamily="34" charset="-120"/>
                        </a:rPr>
                        <a:t>59%</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A2E33"/>
                          </a:solidFill>
                          <a:latin typeface="Arial" pitchFamily="34" charset="0"/>
                          <a:ea typeface="Arial" pitchFamily="34" charset="-122"/>
                          <a:cs typeface="Arial" pitchFamily="34" charset="-120"/>
                        </a:rPr>
                        <a:t>67%</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A2E33"/>
                          </a:solidFill>
                          <a:latin typeface="Arial" pitchFamily="34" charset="0"/>
                          <a:ea typeface="Arial" pitchFamily="34" charset="-122"/>
                          <a:cs typeface="Arial" pitchFamily="34" charset="-120"/>
                        </a:rPr>
                        <a:t>75%</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301752">
                <a:tc>
                  <a:txBody>
                    <a:bodyPr/>
                    <a:lstStyle/>
                    <a:p>
                      <a:pPr algn="l" indent="0" marL="0">
                        <a:buNone/>
                      </a:pPr>
                      <a:r>
                        <a:rPr lang="en-US" sz="1000" b="1" dirty="0">
                          <a:solidFill>
                            <a:srgbClr val="1A2E33"/>
                          </a:solidFill>
                          <a:latin typeface="Arial" pitchFamily="34" charset="0"/>
                          <a:ea typeface="Arial" pitchFamily="34" charset="-122"/>
                          <a:cs typeface="Arial" pitchFamily="34" charset="-120"/>
                        </a:rPr>
                        <a:t>Probability of technical default</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C0392B"/>
                          </a:solidFill>
                          <a:latin typeface="Arial" pitchFamily="34" charset="0"/>
                          <a:ea typeface="Arial" pitchFamily="34" charset="-122"/>
                          <a:cs typeface="Arial" pitchFamily="34" charset="-120"/>
                        </a:rPr>
                        <a:t>28%</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C0392B"/>
                          </a:solidFill>
                          <a:latin typeface="Arial" pitchFamily="34" charset="0"/>
                          <a:ea typeface="Arial" pitchFamily="34" charset="-122"/>
                          <a:cs typeface="Arial" pitchFamily="34" charset="-120"/>
                        </a:rPr>
                        <a:t>21%</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C0392B"/>
                          </a:solidFill>
                          <a:latin typeface="Arial" pitchFamily="34" charset="0"/>
                          <a:ea typeface="Arial" pitchFamily="34" charset="-122"/>
                          <a:cs typeface="Arial" pitchFamily="34" charset="-120"/>
                        </a:rPr>
                        <a:t>16%</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C0392B"/>
                          </a:solidFill>
                          <a:latin typeface="Arial" pitchFamily="34" charset="0"/>
                          <a:ea typeface="Arial" pitchFamily="34" charset="-122"/>
                          <a:cs typeface="Arial" pitchFamily="34" charset="-120"/>
                        </a:rPr>
                        <a:t>12%</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DECEA"/>
                    </a:solidFill>
                  </a:tcPr>
                </a:tc>
              </a:tr>
              <a:tr h="301752">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Probability NPV &gt; 0</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91%</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91%</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91%</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92%</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bl>
          </a:graphicData>
        </a:graphic>
      </p:graphicFrame>
      <p:sp>
        <p:nvSpPr>
          <p:cNvPr id="5" name="Shape 2"/>
          <p:cNvSpPr/>
          <p:nvPr/>
        </p:nvSpPr>
        <p:spPr>
          <a:xfrm>
            <a:off x="9509760" y="1325880"/>
            <a:ext cx="2084832" cy="2331720"/>
          </a:xfrm>
          <a:prstGeom prst="roundRect">
            <a:avLst>
              <a:gd name="adj" fmla="val 2632"/>
            </a:avLst>
          </a:prstGeom>
          <a:solidFill>
            <a:srgbClr val="10453F"/>
          </a:solidFill>
          <a:ln w="19050">
            <a:solidFill>
              <a:srgbClr val="2ECC9B"/>
            </a:solidFill>
            <a:prstDash val="solid"/>
          </a:ln>
        </p:spPr>
      </p:sp>
      <p:sp>
        <p:nvSpPr>
          <p:cNvPr id="6" name="Text 3"/>
          <p:cNvSpPr/>
          <p:nvPr/>
        </p:nvSpPr>
        <p:spPr>
          <a:xfrm>
            <a:off x="9692640" y="1481328"/>
            <a:ext cx="1737360" cy="237744"/>
          </a:xfrm>
          <a:prstGeom prst="rect">
            <a:avLst/>
          </a:prstGeom>
          <a:noFill/>
          <a:ln/>
        </p:spPr>
        <p:txBody>
          <a:bodyPr wrap="square" rtlCol="0" anchor="ctr"/>
          <a:lstStyle/>
          <a:p>
            <a:pPr indent="0" marL="0">
              <a:buNone/>
            </a:pPr>
            <a:r>
              <a:rPr lang="en-US" sz="1100" b="1" dirty="0">
                <a:solidFill>
                  <a:srgbClr val="9EE6CE"/>
                </a:solidFill>
                <a:latin typeface="Arial" pitchFamily="34" charset="0"/>
                <a:ea typeface="Arial" pitchFamily="34" charset="-122"/>
                <a:cs typeface="Arial" pitchFamily="34" charset="-120"/>
              </a:rPr>
              <a:t>Recommended</a:t>
            </a:r>
            <a:endParaRPr lang="en-US" sz="1100" dirty="0"/>
          </a:p>
        </p:txBody>
      </p:sp>
      <p:sp>
        <p:nvSpPr>
          <p:cNvPr id="7" name="Text 4"/>
          <p:cNvSpPr/>
          <p:nvPr/>
        </p:nvSpPr>
        <p:spPr>
          <a:xfrm>
            <a:off x="9692640" y="1773936"/>
            <a:ext cx="173736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65:35</a:t>
            </a:r>
            <a:endParaRPr lang="en-US" sz="3400" dirty="0"/>
          </a:p>
        </p:txBody>
      </p:sp>
      <p:sp>
        <p:nvSpPr>
          <p:cNvPr id="8" name="Text 5"/>
          <p:cNvSpPr/>
          <p:nvPr/>
        </p:nvSpPr>
        <p:spPr>
          <a:xfrm>
            <a:off x="9692640" y="2450592"/>
            <a:ext cx="1737360" cy="1097280"/>
          </a:xfrm>
          <a:prstGeom prst="rect">
            <a:avLst/>
          </a:prstGeom>
          <a:noFill/>
          <a:ln/>
        </p:spPr>
        <p:txBody>
          <a:bodyPr wrap="square" rtlCol="0" anchor="ctr"/>
          <a:lstStyle/>
          <a:p>
            <a:pPr indent="0" marL="0">
              <a:lnSpc>
                <a:spcPct val="108000"/>
              </a:lnSpc>
              <a:buNone/>
            </a:pPr>
            <a:r>
              <a:rPr lang="en-US" sz="950" dirty="0">
                <a:solidFill>
                  <a:srgbClr val="C6EADC"/>
                </a:solidFill>
                <a:latin typeface="Arial" pitchFamily="34" charset="0"/>
                <a:ea typeface="Arial" pitchFamily="34" charset="-122"/>
                <a:cs typeface="Arial" pitchFamily="34" charset="-120"/>
              </a:rPr>
              <a:t>Captures most of the risk reduction, keeps the promoter's cash requirement manageable, and reads as conservative without being punitive.</a:t>
            </a:r>
            <a:endParaRPr lang="en-US" sz="950" dirty="0"/>
          </a:p>
        </p:txBody>
      </p:sp>
      <p:sp>
        <p:nvSpPr>
          <p:cNvPr id="9" name="Text 6"/>
          <p:cNvSpPr/>
          <p:nvPr/>
        </p:nvSpPr>
        <p:spPr>
          <a:xfrm>
            <a:off x="566928" y="3886200"/>
            <a:ext cx="11027664" cy="274320"/>
          </a:xfrm>
          <a:prstGeom prst="rect">
            <a:avLst/>
          </a:prstGeom>
          <a:noFill/>
          <a:ln/>
        </p:spPr>
        <p:txBody>
          <a:bodyPr wrap="square" rtlCol="0" anchor="ctr"/>
          <a:lstStyle/>
          <a:p>
            <a:pPr indent="0" marL="0">
              <a:buNone/>
            </a:pPr>
            <a:r>
              <a:rPr lang="en-US" sz="1300" b="1" dirty="0">
                <a:solidFill>
                  <a:srgbClr val="128C8A"/>
                </a:solidFill>
                <a:latin typeface="Arial" pitchFamily="34" charset="0"/>
                <a:ea typeface="Arial" pitchFamily="34" charset="-122"/>
                <a:cs typeface="Arial" pitchFamily="34" charset="-120"/>
              </a:rPr>
              <a:t>Why the return barely moves across structures</a:t>
            </a:r>
            <a:endParaRPr lang="en-US" sz="1300" dirty="0"/>
          </a:p>
        </p:txBody>
      </p:sp>
      <p:sp>
        <p:nvSpPr>
          <p:cNvPr id="10" name="Shape 7"/>
          <p:cNvSpPr/>
          <p:nvPr/>
        </p:nvSpPr>
        <p:spPr>
          <a:xfrm>
            <a:off x="566928" y="4251960"/>
            <a:ext cx="384048" cy="384048"/>
          </a:xfrm>
          <a:prstGeom prst="ellipse">
            <a:avLst/>
          </a:prstGeom>
          <a:solidFill>
            <a:srgbClr val="128C8A"/>
          </a:solidFill>
          <a:ln/>
        </p:spPr>
      </p:sp>
      <p:sp>
        <p:nvSpPr>
          <p:cNvPr id="11" name="Text 8"/>
          <p:cNvSpPr/>
          <p:nvPr/>
        </p:nvSpPr>
        <p:spPr>
          <a:xfrm>
            <a:off x="566928" y="4251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2" name="Text 9"/>
          <p:cNvSpPr/>
          <p:nvPr/>
        </p:nvSpPr>
        <p:spPr>
          <a:xfrm>
            <a:off x="1097280" y="4233672"/>
            <a:ext cx="3127248" cy="256032"/>
          </a:xfrm>
          <a:prstGeom prst="rect">
            <a:avLst/>
          </a:prstGeom>
          <a:noFill/>
          <a:ln/>
        </p:spPr>
        <p:txBody>
          <a:bodyPr wrap="square" lIns="0" tIns="0" rIns="0" bIns="0" rtlCol="0" anchor="ctr"/>
          <a:lstStyle/>
          <a:p>
            <a:pPr indent="0" marL="0">
              <a:buNone/>
            </a:pPr>
            <a:r>
              <a:rPr lang="en-US" sz="1300" b="1" dirty="0">
                <a:solidFill>
                  <a:srgbClr val="0E3B43"/>
                </a:solidFill>
                <a:latin typeface="Arial" pitchFamily="34" charset="0"/>
                <a:ea typeface="Arial" pitchFamily="34" charset="-122"/>
                <a:cs typeface="Arial" pitchFamily="34" charset="-120"/>
              </a:rPr>
              <a:t>Only 0.3pp of IRR</a:t>
            </a:r>
            <a:endParaRPr lang="en-US" sz="1300" dirty="0"/>
          </a:p>
        </p:txBody>
      </p:sp>
      <p:sp>
        <p:nvSpPr>
          <p:cNvPr id="13" name="Text 10"/>
          <p:cNvSpPr/>
          <p:nvPr/>
        </p:nvSpPr>
        <p:spPr>
          <a:xfrm>
            <a:off x="1097280" y="4489704"/>
            <a:ext cx="3127248" cy="566928"/>
          </a:xfrm>
          <a:prstGeom prst="rect">
            <a:avLst/>
          </a:prstGeom>
          <a:noFill/>
          <a:ln/>
        </p:spPr>
        <p:txBody>
          <a:bodyPr wrap="square" lIns="0" tIns="0" rIns="0" bIns="0" rtlCol="0" anchor="ctr"/>
          <a:lstStyle/>
          <a:p>
            <a:pPr indent="0" marL="0">
              <a:lnSpc>
                <a:spcPct val="106000"/>
              </a:lnSpc>
              <a:buNone/>
            </a:pPr>
            <a:r>
              <a:rPr lang="en-US" sz="1050" dirty="0">
                <a:solidFill>
                  <a:srgbClr val="1A2E33"/>
                </a:solidFill>
                <a:latin typeface="Arial" pitchFamily="34" charset="0"/>
                <a:ea typeface="Arial" pitchFamily="34" charset="-122"/>
                <a:cs typeface="Arial" pitchFamily="34" charset="-120"/>
              </a:rPr>
              <a:t>Moving from 70:30 to 55:45 changes median equity IRR from 23.2% to 23.5% — statistical noise.</a:t>
            </a:r>
            <a:endParaRPr lang="en-US" sz="1050" dirty="0"/>
          </a:p>
        </p:txBody>
      </p:sp>
      <p:sp>
        <p:nvSpPr>
          <p:cNvPr id="14" name="Shape 11"/>
          <p:cNvSpPr/>
          <p:nvPr/>
        </p:nvSpPr>
        <p:spPr>
          <a:xfrm>
            <a:off x="4407408" y="4251960"/>
            <a:ext cx="384048" cy="384048"/>
          </a:xfrm>
          <a:prstGeom prst="ellipse">
            <a:avLst/>
          </a:prstGeom>
          <a:solidFill>
            <a:srgbClr val="E8A33D"/>
          </a:solidFill>
          <a:ln/>
        </p:spPr>
      </p:sp>
      <p:sp>
        <p:nvSpPr>
          <p:cNvPr id="15" name="Text 12"/>
          <p:cNvSpPr/>
          <p:nvPr/>
        </p:nvSpPr>
        <p:spPr>
          <a:xfrm>
            <a:off x="4407408" y="4251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3"/>
          <p:cNvSpPr/>
          <p:nvPr/>
        </p:nvSpPr>
        <p:spPr>
          <a:xfrm>
            <a:off x="4937760" y="4233672"/>
            <a:ext cx="3127248" cy="256032"/>
          </a:xfrm>
          <a:prstGeom prst="rect">
            <a:avLst/>
          </a:prstGeom>
          <a:noFill/>
          <a:ln/>
        </p:spPr>
        <p:txBody>
          <a:bodyPr wrap="square" lIns="0" tIns="0" rIns="0" bIns="0" rtlCol="0" anchor="ctr"/>
          <a:lstStyle/>
          <a:p>
            <a:pPr indent="0" marL="0">
              <a:buNone/>
            </a:pPr>
            <a:r>
              <a:rPr lang="en-US" sz="1300" b="1" dirty="0">
                <a:solidFill>
                  <a:srgbClr val="0E3B43"/>
                </a:solidFill>
                <a:latin typeface="Arial" pitchFamily="34" charset="0"/>
                <a:ea typeface="Arial" pitchFamily="34" charset="-122"/>
                <a:cs typeface="Arial" pitchFamily="34" charset="-120"/>
              </a:rPr>
              <a:t>But default risk halves</a:t>
            </a:r>
            <a:endParaRPr lang="en-US" sz="1300" dirty="0"/>
          </a:p>
        </p:txBody>
      </p:sp>
      <p:sp>
        <p:nvSpPr>
          <p:cNvPr id="17" name="Text 14"/>
          <p:cNvSpPr/>
          <p:nvPr/>
        </p:nvSpPr>
        <p:spPr>
          <a:xfrm>
            <a:off x="4937760" y="4489704"/>
            <a:ext cx="3127248" cy="566928"/>
          </a:xfrm>
          <a:prstGeom prst="rect">
            <a:avLst/>
          </a:prstGeom>
          <a:noFill/>
          <a:ln/>
        </p:spPr>
        <p:txBody>
          <a:bodyPr wrap="square" lIns="0" tIns="0" rIns="0" bIns="0" rtlCol="0" anchor="ctr"/>
          <a:lstStyle/>
          <a:p>
            <a:pPr indent="0" marL="0">
              <a:lnSpc>
                <a:spcPct val="106000"/>
              </a:lnSpc>
              <a:buNone/>
            </a:pPr>
            <a:r>
              <a:rPr lang="en-US" sz="1050" dirty="0">
                <a:solidFill>
                  <a:srgbClr val="1A2E33"/>
                </a:solidFill>
                <a:latin typeface="Arial" pitchFamily="34" charset="0"/>
                <a:ea typeface="Arial" pitchFamily="34" charset="-122"/>
                <a:cs typeface="Arial" pitchFamily="34" charset="-120"/>
              </a:rPr>
              <a:t>The probability of technical default falls from 28% to 12%, and covenant compliance rises from 50% to 75%.</a:t>
            </a:r>
            <a:endParaRPr lang="en-US" sz="1050" dirty="0"/>
          </a:p>
        </p:txBody>
      </p:sp>
      <p:sp>
        <p:nvSpPr>
          <p:cNvPr id="18" name="Shape 15"/>
          <p:cNvSpPr/>
          <p:nvPr/>
        </p:nvSpPr>
        <p:spPr>
          <a:xfrm>
            <a:off x="8247888" y="4251960"/>
            <a:ext cx="384048" cy="384048"/>
          </a:xfrm>
          <a:prstGeom prst="ellipse">
            <a:avLst/>
          </a:prstGeom>
          <a:solidFill>
            <a:srgbClr val="128C8A"/>
          </a:solidFill>
          <a:ln/>
        </p:spPr>
      </p:sp>
      <p:sp>
        <p:nvSpPr>
          <p:cNvPr id="19" name="Text 16"/>
          <p:cNvSpPr/>
          <p:nvPr/>
        </p:nvSpPr>
        <p:spPr>
          <a:xfrm>
            <a:off x="8247888" y="4251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0" name="Text 17"/>
          <p:cNvSpPr/>
          <p:nvPr/>
        </p:nvSpPr>
        <p:spPr>
          <a:xfrm>
            <a:off x="8778240" y="4233672"/>
            <a:ext cx="3127248" cy="256032"/>
          </a:xfrm>
          <a:prstGeom prst="rect">
            <a:avLst/>
          </a:prstGeom>
          <a:noFill/>
          <a:ln/>
        </p:spPr>
        <p:txBody>
          <a:bodyPr wrap="square" lIns="0" tIns="0" rIns="0" bIns="0" rtlCol="0" anchor="ctr"/>
          <a:lstStyle/>
          <a:p>
            <a:pPr indent="0" marL="0">
              <a:buNone/>
            </a:pPr>
            <a:r>
              <a:rPr lang="en-US" sz="1300" b="1" dirty="0">
                <a:solidFill>
                  <a:srgbClr val="0E3B43"/>
                </a:solidFill>
                <a:latin typeface="Arial" pitchFamily="34" charset="0"/>
                <a:ea typeface="Arial" pitchFamily="34" charset="-122"/>
                <a:cs typeface="Arial" pitchFamily="34" charset="-120"/>
              </a:rPr>
              <a:t>Because the spread is thin</a:t>
            </a:r>
            <a:endParaRPr lang="en-US" sz="1300" dirty="0"/>
          </a:p>
        </p:txBody>
      </p:sp>
      <p:sp>
        <p:nvSpPr>
          <p:cNvPr id="21" name="Text 18"/>
          <p:cNvSpPr/>
          <p:nvPr/>
        </p:nvSpPr>
        <p:spPr>
          <a:xfrm>
            <a:off x="8778240" y="4489704"/>
            <a:ext cx="3127248" cy="566928"/>
          </a:xfrm>
          <a:prstGeom prst="rect">
            <a:avLst/>
          </a:prstGeom>
          <a:noFill/>
          <a:ln/>
        </p:spPr>
        <p:txBody>
          <a:bodyPr wrap="square" lIns="0" tIns="0" rIns="0" bIns="0" rtlCol="0" anchor="ctr"/>
          <a:lstStyle/>
          <a:p>
            <a:pPr indent="0" marL="0">
              <a:lnSpc>
                <a:spcPct val="106000"/>
              </a:lnSpc>
              <a:buNone/>
            </a:pPr>
            <a:r>
              <a:rPr lang="en-US" sz="1050" dirty="0">
                <a:solidFill>
                  <a:srgbClr val="1A2E33"/>
                </a:solidFill>
                <a:latin typeface="Arial" pitchFamily="34" charset="0"/>
                <a:ea typeface="Arial" pitchFamily="34" charset="-122"/>
                <a:cs typeface="Arial" pitchFamily="34" charset="-120"/>
              </a:rPr>
              <a:t>Once the loss-making ramp years are weighted in, the asset return is not far enough above the 8.0% post-tax cost of debt for gearing to do much work.</a:t>
            </a:r>
            <a:endParaRPr lang="en-US" sz="1050" dirty="0"/>
          </a:p>
        </p:txBody>
      </p:sp>
      <p:sp>
        <p:nvSpPr>
          <p:cNvPr id="22" name="Text 19"/>
          <p:cNvSpPr/>
          <p:nvPr/>
        </p:nvSpPr>
        <p:spPr>
          <a:xfrm>
            <a:off x="566928" y="6473952"/>
            <a:ext cx="11027664" cy="219456"/>
          </a:xfrm>
          <a:prstGeom prst="rect">
            <a:avLst/>
          </a:prstGeom>
          <a:noFill/>
          <a:ln/>
        </p:spPr>
        <p:txBody>
          <a:bodyPr wrap="square" rtlCol="0" anchor="ctr"/>
          <a:lstStyle/>
          <a:p>
            <a:pPr indent="0" marL="0">
              <a:buNone/>
            </a:pPr>
            <a:r>
              <a:rPr lang="en-US" sz="850" i="1" dirty="0">
                <a:solidFill>
                  <a:srgbClr val="6B7F84"/>
                </a:solidFill>
                <a:latin typeface="Arial" pitchFamily="34" charset="0"/>
                <a:ea typeface="Arial" pitchFamily="34" charset="-122"/>
                <a:cs typeface="Arial" pitchFamily="34" charset="-120"/>
              </a:rPr>
              <a:t>Monte Carlo, 3,000 trials per structure. Promoter support solved in each case so the minimum cash balance stays above Rs 150 Lakh in the base case.</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37744"/>
          </a:xfrm>
          <a:prstGeom prst="rect">
            <a:avLst/>
          </a:prstGeom>
          <a:noFill/>
          <a:ln/>
        </p:spPr>
        <p:txBody>
          <a:bodyPr wrap="square" rtlCol="0" anchor="ctr"/>
          <a:lstStyle/>
          <a:p>
            <a:pPr indent="0" marL="0">
              <a:buNone/>
            </a:pPr>
            <a:r>
              <a:rPr lang="en-US" sz="1050" b="1" spc="140" kern="0" dirty="0">
                <a:solidFill>
                  <a:srgbClr val="128C8A"/>
                </a:solidFill>
                <a:latin typeface="Arial" pitchFamily="34" charset="0"/>
                <a:ea typeface="Arial" pitchFamily="34" charset="-122"/>
                <a:cs typeface="Arial" pitchFamily="34" charset="-120"/>
              </a:rPr>
              <a:t>CONTINGENT CAPITAL</a:t>
            </a:r>
            <a:endParaRPr lang="en-US" sz="1050" dirty="0"/>
          </a:p>
        </p:txBody>
      </p:sp>
      <p:sp>
        <p:nvSpPr>
          <p:cNvPr id="3" name="Text 1"/>
          <p:cNvSpPr/>
          <p:nvPr/>
        </p:nvSpPr>
        <p:spPr>
          <a:xfrm>
            <a:off x="566928" y="530352"/>
            <a:ext cx="11027664" cy="566928"/>
          </a:xfrm>
          <a:prstGeom prst="rect">
            <a:avLst/>
          </a:prstGeom>
          <a:noFill/>
          <a:ln/>
        </p:spPr>
        <p:txBody>
          <a:bodyPr wrap="square" rtlCol="0" anchor="ctr"/>
          <a:lstStyle/>
          <a:p>
            <a:pPr indent="0" marL="0">
              <a:buNone/>
            </a:pPr>
            <a:r>
              <a:rPr lang="en-US" sz="2700" b="1" dirty="0">
                <a:solidFill>
                  <a:srgbClr val="0E3B43"/>
                </a:solidFill>
                <a:latin typeface="Cambria" pitchFamily="34" charset="0"/>
                <a:ea typeface="Cambria" pitchFamily="34" charset="-122"/>
                <a:cs typeface="Cambria" pitchFamily="34" charset="-120"/>
              </a:rPr>
              <a:t>Size the contingency off the distribution, not the base case</a:t>
            </a:r>
            <a:endParaRPr lang="en-US" sz="27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5303520" cy="914400"/>
        </p:xfrm>
        <a:graphic>
          <a:graphicData uri="http://schemas.openxmlformats.org/drawingml/2006/table">
            <a:tbl>
              <a:tblPr/>
              <a:tblGrid>
                <a:gridCol w="3566160"/>
                <a:gridCol w="1737360"/>
              </a:tblGrid>
              <a:tr h="27432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Confidence level</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Standby facility required (Rs Cr)</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r>
              <a:tr h="274320">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Covers 50% of simulated outcomes</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4.1</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274320">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Covers 60% of simulated outcomes</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7.0</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r h="274320">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Covers 70% of simulated outcomes</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11.5</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274320">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Covers 75% of simulated outcomes</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15.2</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r h="274320">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Covers 80% of simulated outcomes</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18.9</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274320">
                <a:tc>
                  <a:txBody>
                    <a:bodyPr/>
                    <a:lstStyle/>
                    <a:p>
                      <a:pPr algn="l" indent="0" marL="0">
                        <a:buNone/>
                      </a:pPr>
                      <a:r>
                        <a:rPr lang="en-US" sz="1000" b="1" dirty="0">
                          <a:solidFill>
                            <a:srgbClr val="1A2E33"/>
                          </a:solidFill>
                          <a:latin typeface="Arial" pitchFamily="34" charset="0"/>
                          <a:ea typeface="Arial" pitchFamily="34" charset="-122"/>
                          <a:cs typeface="Arial" pitchFamily="34" charset="-120"/>
                        </a:rPr>
                        <a:t>Covers 85% of simulated outcomes</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E8F4F2"/>
                    </a:solidFill>
                  </a:tcPr>
                </a:tc>
                <a:tc>
                  <a:txBody>
                    <a:bodyPr/>
                    <a:lstStyle/>
                    <a:p>
                      <a:pPr algn="ctr" indent="0" marL="0">
                        <a:buNone/>
                      </a:pPr>
                      <a:r>
                        <a:rPr lang="en-US" sz="1000" b="1" dirty="0">
                          <a:solidFill>
                            <a:srgbClr val="1A2E33"/>
                          </a:solidFill>
                          <a:latin typeface="Arial" pitchFamily="34" charset="0"/>
                          <a:ea typeface="Arial" pitchFamily="34" charset="-122"/>
                          <a:cs typeface="Arial" pitchFamily="34" charset="-120"/>
                        </a:rPr>
                        <a:t>25.1</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E8F4F2"/>
                    </a:solidFill>
                  </a:tcPr>
                </a:tc>
              </a:tr>
              <a:tr h="274320">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Covers 90% of simulated outcomes</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36.1</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274320">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Covers 95% of simulated outcomes</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52.7</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bl>
          </a:graphicData>
        </a:graphic>
      </p:graphicFrame>
      <p:sp>
        <p:nvSpPr>
          <p:cNvPr id="5" name="Shape 2"/>
          <p:cNvSpPr/>
          <p:nvPr/>
        </p:nvSpPr>
        <p:spPr>
          <a:xfrm>
            <a:off x="6236208" y="1325880"/>
            <a:ext cx="5358384" cy="2331720"/>
          </a:xfrm>
          <a:prstGeom prst="roundRect">
            <a:avLst>
              <a:gd name="adj" fmla="val 2353"/>
            </a:avLst>
          </a:prstGeom>
          <a:solidFill>
            <a:srgbClr val="FDF3E3"/>
          </a:solidFill>
          <a:ln w="12700">
            <a:solidFill>
              <a:srgbClr val="E8A33D"/>
            </a:solidFill>
            <a:prstDash val="solid"/>
          </a:ln>
        </p:spPr>
      </p:sp>
      <p:sp>
        <p:nvSpPr>
          <p:cNvPr id="6" name="Text 3"/>
          <p:cNvSpPr/>
          <p:nvPr/>
        </p:nvSpPr>
        <p:spPr>
          <a:xfrm>
            <a:off x="6510528" y="1481328"/>
            <a:ext cx="4809744" cy="274320"/>
          </a:xfrm>
          <a:prstGeom prst="rect">
            <a:avLst/>
          </a:prstGeom>
          <a:noFill/>
          <a:ln/>
        </p:spPr>
        <p:txBody>
          <a:bodyPr wrap="square" rtlCol="0" anchor="ctr"/>
          <a:lstStyle/>
          <a:p>
            <a:pPr indent="0" marL="0">
              <a:buNone/>
            </a:pPr>
            <a:r>
              <a:rPr lang="en-US" sz="1300" b="1" dirty="0">
                <a:solidFill>
                  <a:srgbClr val="8A5A12"/>
                </a:solidFill>
                <a:latin typeface="Arial" pitchFamily="34" charset="0"/>
                <a:ea typeface="Arial" pitchFamily="34" charset="-122"/>
                <a:cs typeface="Arial" pitchFamily="34" charset="-120"/>
              </a:rPr>
              <a:t>Recommendation: a Rs 25 Cr committed standby</a:t>
            </a:r>
            <a:endParaRPr lang="en-US" sz="1300" dirty="0"/>
          </a:p>
        </p:txBody>
      </p:sp>
      <p:sp>
        <p:nvSpPr>
          <p:cNvPr id="7" name="Text 4"/>
          <p:cNvSpPr/>
          <p:nvPr/>
        </p:nvSpPr>
        <p:spPr>
          <a:xfrm>
            <a:off x="6510528" y="1810512"/>
            <a:ext cx="4809744" cy="1737360"/>
          </a:xfrm>
          <a:prstGeom prst="rect">
            <a:avLst/>
          </a:prstGeom>
          <a:noFill/>
          <a:ln/>
        </p:spPr>
        <p:txBody>
          <a:bodyPr wrap="square" rtlCol="0" anchor="ctr"/>
          <a:lstStyle/>
          <a:p>
            <a:pPr indent="0" marL="0">
              <a:lnSpc>
                <a:spcPct val="112000"/>
              </a:lnSpc>
              <a:spcAft>
                <a:spcPts val="900"/>
              </a:spcAft>
              <a:buNone/>
            </a:pPr>
            <a:r>
              <a:rPr lang="en-US" sz="1050" dirty="0">
                <a:solidFill>
                  <a:srgbClr val="6B4A10"/>
                </a:solidFill>
                <a:latin typeface="Arial" pitchFamily="34" charset="0"/>
                <a:ea typeface="Arial" pitchFamily="34" charset="-122"/>
                <a:cs typeface="Arial" pitchFamily="34" charset="-120"/>
              </a:rPr>
              <a:t>That is materially more than the Rs 17.80 Cr the base case indicates. The gap between the two is the honest price of the uncertainty in this project.</a:t>
            </a:r>
            <a:endParaRPr lang="en-US" sz="1050" dirty="0"/>
          </a:p>
          <a:p>
            <a:pPr indent="0" marL="0">
              <a:lnSpc>
                <a:spcPct val="112000"/>
              </a:lnSpc>
              <a:spcAft>
                <a:spcPts val="900"/>
              </a:spcAft>
              <a:buNone/>
            </a:pPr>
            <a:r>
              <a:rPr lang="en-US" sz="1050" dirty="0">
                <a:solidFill>
                  <a:srgbClr val="6B4A10"/>
                </a:solidFill>
                <a:latin typeface="Arial" pitchFamily="34" charset="0"/>
                <a:ea typeface="Arial" pitchFamily="34" charset="-122"/>
                <a:cs typeface="Arial" pitchFamily="34" charset="-120"/>
              </a:rPr>
              <a:t>It should be documented as an unconditional, irrevocable, subordinated promoter undertaking with a non-withdrawal covenant — and evidenced by liquid net worth, not by a letter of intent. A contingency facility that depends on willingness at the moment of stress is not a contingency facility.</a:t>
            </a:r>
            <a:endParaRPr lang="en-US" sz="1050" dirty="0"/>
          </a:p>
          <a:p>
            <a:pPr indent="0" marL="0">
              <a:lnSpc>
                <a:spcPct val="112000"/>
              </a:lnSpc>
              <a:buNone/>
            </a:pPr>
            <a:r>
              <a:rPr lang="en-US" sz="1050" dirty="0">
                <a:solidFill>
                  <a:srgbClr val="6B4A10"/>
                </a:solidFill>
                <a:latin typeface="Arial" pitchFamily="34" charset="0"/>
                <a:ea typeface="Arial" pitchFamily="34" charset="-122"/>
                <a:cs typeface="Arial" pitchFamily="34" charset="-120"/>
              </a:rPr>
              <a:t>If the promoter cannot credibly commit it, that is not a reason to abandon the project. It is a decisive argument for institutional equity.</a:t>
            </a:r>
            <a:endParaRPr lang="en-US" sz="1050" dirty="0"/>
          </a:p>
        </p:txBody>
      </p:sp>
      <p:sp>
        <p:nvSpPr>
          <p:cNvPr id="8" name="Text 5"/>
          <p:cNvSpPr/>
          <p:nvPr/>
        </p:nvSpPr>
        <p:spPr>
          <a:xfrm>
            <a:off x="566928" y="3886200"/>
            <a:ext cx="11027664" cy="274320"/>
          </a:xfrm>
          <a:prstGeom prst="rect">
            <a:avLst/>
          </a:prstGeom>
          <a:noFill/>
          <a:ln/>
        </p:spPr>
        <p:txBody>
          <a:bodyPr wrap="square" rtlCol="0" anchor="ctr"/>
          <a:lstStyle/>
          <a:p>
            <a:pPr indent="0" marL="0">
              <a:buNone/>
            </a:pPr>
            <a:r>
              <a:rPr lang="en-US" sz="1300" b="1" dirty="0">
                <a:solidFill>
                  <a:srgbClr val="128C8A"/>
                </a:solidFill>
                <a:latin typeface="Arial" pitchFamily="34" charset="0"/>
                <a:ea typeface="Arial" pitchFamily="34" charset="-122"/>
                <a:cs typeface="Arial" pitchFamily="34" charset="-120"/>
              </a:rPr>
              <a:t>The institutional equity alternative — 60:40 gearing</a:t>
            </a:r>
            <a:endParaRPr lang="en-US" sz="1300" dirty="0"/>
          </a:p>
        </p:txBody>
      </p:sp>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566928" y="4224528"/>
          <a:ext cx="4937760" cy="914400"/>
        </p:xfrm>
        <a:graphic>
          <a:graphicData uri="http://schemas.openxmlformats.org/drawingml/2006/table">
            <a:tbl>
              <a:tblPr/>
              <a:tblGrid>
                <a:gridCol w="2651760"/>
                <a:gridCol w="1051560"/>
                <a:gridCol w="1234440"/>
              </a:tblGrid>
              <a:tr h="265176">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Source</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Rs Cr</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Ownership</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r>
              <a:tr h="265176">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Promoter — land in kind at cost</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11.00</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265176">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Promoter — cash</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22.04</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r h="265176">
                <a:tc>
                  <a:txBody>
                    <a:bodyPr/>
                    <a:lstStyle/>
                    <a:p>
                      <a:pPr algn="l" indent="0" marL="0">
                        <a:buNone/>
                      </a:pPr>
                      <a:r>
                        <a:rPr lang="en-US" sz="1000" b="1" dirty="0">
                          <a:solidFill>
                            <a:srgbClr val="1A2E33"/>
                          </a:solidFill>
                          <a:latin typeface="Arial" pitchFamily="34" charset="0"/>
                          <a:ea typeface="Arial" pitchFamily="34" charset="-122"/>
                          <a:cs typeface="Arial" pitchFamily="34" charset="-120"/>
                        </a:rPr>
                        <a:t>Promoter total</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A2E33"/>
                          </a:solidFill>
                          <a:latin typeface="Arial" pitchFamily="34" charset="0"/>
                          <a:ea typeface="Arial" pitchFamily="34" charset="-122"/>
                          <a:cs typeface="Arial" pitchFamily="34" charset="-120"/>
                        </a:rPr>
                        <a:t>33.04</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A2E33"/>
                          </a:solidFill>
                          <a:latin typeface="Arial" pitchFamily="34" charset="0"/>
                          <a:ea typeface="Arial" pitchFamily="34" charset="-122"/>
                          <a:cs typeface="Arial" pitchFamily="34" charset="-120"/>
                        </a:rPr>
                        <a:t>56.5%</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265176">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Institutional investor</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25.44</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43.5%</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bl>
          </a:graphicData>
        </a:graphic>
      </p:graphicFrame>
      <p:graphicFrame>
        <p:nvGraphicFramePr>
          <p:cNvPr id="49" name="Table 2"/>
          <p:cNvGraphicFramePr>
            <a:graphicFrameLocks noGrp="1"/>
          </p:cNvGraphicFramePr>
          <p:nvPr>
            <p:extLst>
              <p:ext uri="{D42A27DB-BD31-4B8C-83A1-F6EECF244321}">
                <p14:modId xmlns:p14="http://schemas.microsoft.com/office/powerpoint/2010/main" val="1579011935"/>
              </p:ext>
            </p:extLst>
          </p:nvPr>
        </p:nvGraphicFramePr>
        <p:xfrm>
          <a:off x="5779008" y="4224528"/>
          <a:ext cx="5760720" cy="914400"/>
        </p:xfrm>
        <a:graphic>
          <a:graphicData uri="http://schemas.openxmlformats.org/drawingml/2006/table">
            <a:tbl>
              <a:tblPr/>
              <a:tblGrid>
                <a:gridCol w="2286000"/>
                <a:gridCol w="1554480"/>
                <a:gridCol w="822960"/>
                <a:gridCol w="1097280"/>
              </a:tblGrid>
              <a:tr h="265176">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Exit</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Equity value (Rs Cr)</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MOIC</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Investor IRR</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r>
              <a:tr h="265176">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Year 5 at 13x (7y)</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275.3</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4.7x</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24.8%</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265176">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Year 7 at 13x (9y)</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408.1</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7.0x</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24.1%</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r h="265176">
                <a:tc>
                  <a:txBody>
                    <a:bodyPr/>
                    <a:lstStyle/>
                    <a:p>
                      <a:pPr algn="l" indent="0" marL="0">
                        <a:buNone/>
                      </a:pPr>
                      <a:r>
                        <a:rPr lang="en-US" sz="1000" dirty="0">
                          <a:solidFill>
                            <a:srgbClr val="1A2E33"/>
                          </a:solidFill>
                          <a:latin typeface="Arial" pitchFamily="34" charset="0"/>
                          <a:ea typeface="Arial" pitchFamily="34" charset="-122"/>
                          <a:cs typeface="Arial" pitchFamily="34" charset="-120"/>
                        </a:rPr>
                        <a:t>Year 7 at 15x (9y)</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472.6</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8.1x</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33"/>
                          </a:solidFill>
                          <a:latin typeface="Arial" pitchFamily="34" charset="0"/>
                          <a:ea typeface="Arial" pitchFamily="34" charset="-122"/>
                          <a:cs typeface="Arial" pitchFamily="34" charset="-120"/>
                        </a:rPr>
                        <a:t>26.1%</a:t>
                      </a:r>
                      <a:endParaRPr lang="en-US" sz="100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bl>
          </a:graphicData>
        </a:graphic>
      </p:graphicFrame>
      <p:sp>
        <p:nvSpPr>
          <p:cNvPr id="11" name="Text 6"/>
          <p:cNvSpPr/>
          <p:nvPr/>
        </p:nvSpPr>
        <p:spPr>
          <a:xfrm>
            <a:off x="566928" y="5486400"/>
            <a:ext cx="11027664" cy="566928"/>
          </a:xfrm>
          <a:prstGeom prst="rect">
            <a:avLst/>
          </a:prstGeom>
          <a:noFill/>
          <a:ln/>
        </p:spPr>
        <p:txBody>
          <a:bodyPr wrap="square" rtlCol="0" anchor="ctr"/>
          <a:lstStyle/>
          <a:p>
            <a:pPr indent="0" marL="0">
              <a:lnSpc>
                <a:spcPct val="108000"/>
              </a:lnSpc>
              <a:buNone/>
            </a:pPr>
            <a:r>
              <a:rPr lang="en-US" sz="1000" i="1" dirty="0">
                <a:solidFill>
                  <a:srgbClr val="6B7F84"/>
                </a:solidFill>
                <a:latin typeface="Arial" pitchFamily="34" charset="0"/>
                <a:ea typeface="Arial" pitchFamily="34" charset="-122"/>
                <a:cs typeface="Arial" pitchFamily="34" charset="-120"/>
              </a:rPr>
              <a:t>A 21–28% gross IRR over a 7–9 year hold clears most India growth-equity hurdles, though only just at the low end. Shares are issued at cost: there is no step-up before the asset exists. A defensible alternative is to close the debt now and raise institutional equity in Year 3–4 once occupancy is proven, at a genuine premium.</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37744"/>
          </a:xfrm>
          <a:prstGeom prst="rect">
            <a:avLst/>
          </a:prstGeom>
          <a:noFill/>
          <a:ln/>
        </p:spPr>
        <p:txBody>
          <a:bodyPr wrap="square" rtlCol="0" anchor="ctr"/>
          <a:lstStyle/>
          <a:p>
            <a:pPr indent="0" marL="0">
              <a:buNone/>
            </a:pPr>
            <a:r>
              <a:rPr lang="en-US" sz="1050" b="1" spc="140" kern="0" dirty="0">
                <a:solidFill>
                  <a:srgbClr val="128C8A"/>
                </a:solidFill>
                <a:latin typeface="Arial" pitchFamily="34" charset="0"/>
                <a:ea typeface="Arial" pitchFamily="34" charset="-122"/>
                <a:cs typeface="Arial" pitchFamily="34" charset="-120"/>
              </a:rPr>
              <a:t>RISK REGISTER</a:t>
            </a:r>
            <a:endParaRPr lang="en-US" sz="1050" dirty="0"/>
          </a:p>
        </p:txBody>
      </p:sp>
      <p:sp>
        <p:nvSpPr>
          <p:cNvPr id="3" name="Text 1"/>
          <p:cNvSpPr/>
          <p:nvPr/>
        </p:nvSpPr>
        <p:spPr>
          <a:xfrm>
            <a:off x="566928" y="530352"/>
            <a:ext cx="11027664" cy="566928"/>
          </a:xfrm>
          <a:prstGeom prst="rect">
            <a:avLst/>
          </a:prstGeom>
          <a:noFill/>
          <a:ln/>
        </p:spPr>
        <p:txBody>
          <a:bodyPr wrap="square" rtlCol="0" anchor="ctr"/>
          <a:lstStyle/>
          <a:p>
            <a:pPr indent="0" marL="0">
              <a:buNone/>
            </a:pPr>
            <a:r>
              <a:rPr lang="en-US" sz="2700" b="1" dirty="0">
                <a:solidFill>
                  <a:srgbClr val="0E3B43"/>
                </a:solidFill>
                <a:latin typeface="Cambria" pitchFamily="34" charset="0"/>
                <a:ea typeface="Cambria" pitchFamily="34" charset="-122"/>
                <a:cs typeface="Cambria" pitchFamily="34" charset="-120"/>
              </a:rPr>
              <a:t>Risks, ranked honestly</a:t>
            </a:r>
            <a:endParaRPr lang="en-US" sz="27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11027664" cy="914400"/>
        </p:xfrm>
        <a:graphic>
          <a:graphicData uri="http://schemas.openxmlformats.org/drawingml/2006/table">
            <a:tbl>
              <a:tblPr/>
              <a:tblGrid>
                <a:gridCol w="3200400"/>
                <a:gridCol w="1051560"/>
                <a:gridCol w="914400"/>
                <a:gridCol w="5861304"/>
              </a:tblGrid>
              <a:tr h="402336">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Risk</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Likelihood</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Impact</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Mitigation</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0E3B43"/>
                    </a:solidFill>
                  </a:tcPr>
                </a:tc>
              </a:tr>
              <a:tr h="402336">
                <a:tc>
                  <a:txBody>
                    <a:bodyPr/>
                    <a:lstStyle/>
                    <a:p>
                      <a:pPr algn="l" indent="0" marL="0">
                        <a:buNone/>
                      </a:pPr>
                      <a:r>
                        <a:rPr lang="en-US" sz="950" dirty="0">
                          <a:solidFill>
                            <a:srgbClr val="1A2E33"/>
                          </a:solidFill>
                          <a:latin typeface="Arial" pitchFamily="34" charset="0"/>
                          <a:ea typeface="Arial" pitchFamily="34" charset="-122"/>
                          <a:cs typeface="Arial" pitchFamily="34" charset="-120"/>
                        </a:rPr>
                        <a:t>Slow occupancy ramp — the largest single exposure</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Medium</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0392B"/>
                          </a:solidFill>
                          <a:latin typeface="Arial" pitchFamily="34" charset="0"/>
                          <a:ea typeface="Arial" pitchFamily="34" charset="-122"/>
                          <a:cs typeface="Arial" pitchFamily="34" charset="-120"/>
                        </a:rPr>
                        <a:t>Very high</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Anchor consultants committed before closure; empanelment filed at earliest admissible date; board occupancy triggers</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402336">
                <a:tc>
                  <a:txBody>
                    <a:bodyPr/>
                    <a:lstStyle/>
                    <a:p>
                      <a:pPr algn="l" indent="0" marL="0">
                        <a:buNone/>
                      </a:pPr>
                      <a:r>
                        <a:rPr lang="en-US" sz="950" dirty="0">
                          <a:solidFill>
                            <a:srgbClr val="1A2E33"/>
                          </a:solidFill>
                          <a:latin typeface="Arial" pitchFamily="34" charset="0"/>
                          <a:ea typeface="Arial" pitchFamily="34" charset="-122"/>
                          <a:cs typeface="Arial" pitchFamily="34" charset="-120"/>
                        </a:rPr>
                        <a:t>Failure to recruit or retain anchor consultants</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Medium</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b="1" dirty="0">
                          <a:solidFill>
                            <a:srgbClr val="C0392B"/>
                          </a:solidFill>
                          <a:latin typeface="Arial" pitchFamily="34" charset="0"/>
                          <a:ea typeface="Arial" pitchFamily="34" charset="-122"/>
                          <a:cs typeface="Arial" pitchFamily="34" charset="-120"/>
                        </a:rPr>
                        <a:t>Very high</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Hybrid retainer-plus-payout model; multi-year agreements; succession cover per specialty</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r h="402336">
                <a:tc>
                  <a:txBody>
                    <a:bodyPr/>
                    <a:lstStyle/>
                    <a:p>
                      <a:pPr algn="l" indent="0" marL="0">
                        <a:buNone/>
                      </a:pPr>
                      <a:r>
                        <a:rPr lang="en-US" sz="950" dirty="0">
                          <a:solidFill>
                            <a:srgbClr val="1A2E33"/>
                          </a:solidFill>
                          <a:latin typeface="Arial" pitchFamily="34" charset="0"/>
                          <a:ea typeface="Arial" pitchFamily="34" charset="-122"/>
                          <a:cs typeface="Arial" pitchFamily="34" charset="-120"/>
                        </a:rPr>
                        <a:t>ARPOB below plan — adverse case mix or tariff pressure</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Medium</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C0392B"/>
                          </a:solidFill>
                          <a:latin typeface="Arial" pitchFamily="34" charset="0"/>
                          <a:ea typeface="Arial" pitchFamily="34" charset="-122"/>
                          <a:cs typeface="Arial" pitchFamily="34" charset="-120"/>
                        </a:rPr>
                        <a:t>High</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Cath lab and joint-replacement programmes prioritised; scheme share deliberately capped</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402336">
                <a:tc>
                  <a:txBody>
                    <a:bodyPr/>
                    <a:lstStyle/>
                    <a:p>
                      <a:pPr algn="l" indent="0" marL="0">
                        <a:buNone/>
                      </a:pPr>
                      <a:r>
                        <a:rPr lang="en-US" sz="950" dirty="0">
                          <a:solidFill>
                            <a:srgbClr val="1A2E33"/>
                          </a:solidFill>
                          <a:latin typeface="Arial" pitchFamily="34" charset="0"/>
                          <a:ea typeface="Arial" pitchFamily="34" charset="-122"/>
                          <a:cs typeface="Arial" pitchFamily="34" charset="-120"/>
                        </a:rPr>
                        <a:t>Delay in payer empanelment</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b="1" dirty="0">
                          <a:solidFill>
                            <a:srgbClr val="C0392B"/>
                          </a:solidFill>
                          <a:latin typeface="Arial" pitchFamily="34" charset="0"/>
                          <a:ea typeface="Arial" pitchFamily="34" charset="-122"/>
                          <a:cs typeface="Arial" pitchFamily="34" charset="-120"/>
                        </a:rPr>
                        <a:t>High</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dirty="0">
                          <a:solidFill>
                            <a:srgbClr val="C0392B"/>
                          </a:solidFill>
                          <a:latin typeface="Arial" pitchFamily="34" charset="0"/>
                          <a:ea typeface="Arial" pitchFamily="34" charset="-122"/>
                          <a:cs typeface="Arial" pitchFamily="34" charset="-120"/>
                        </a:rPr>
                        <a:t>High</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Applications prepared during construction; NABH entry level pursued from Year 1</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r h="402336">
                <a:tc>
                  <a:txBody>
                    <a:bodyPr/>
                    <a:lstStyle/>
                    <a:p>
                      <a:pPr algn="l" indent="0" marL="0">
                        <a:buNone/>
                      </a:pPr>
                      <a:r>
                        <a:rPr lang="en-US" sz="950" dirty="0">
                          <a:solidFill>
                            <a:srgbClr val="1A2E33"/>
                          </a:solidFill>
                          <a:latin typeface="Arial" pitchFamily="34" charset="0"/>
                          <a:ea typeface="Arial" pitchFamily="34" charset="-122"/>
                          <a:cs typeface="Arial" pitchFamily="34" charset="-120"/>
                        </a:rPr>
                        <a:t>Working capital stretch from scheme receivables</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0392B"/>
                          </a:solidFill>
                          <a:latin typeface="Arial" pitchFamily="34" charset="0"/>
                          <a:ea typeface="Arial" pitchFamily="34" charset="-122"/>
                          <a:cs typeface="Arial" pitchFamily="34" charset="-120"/>
                        </a:rPr>
                        <a:t>High</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Medium</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Rs 9 Cr cash credit; dedicated claims function; 90-day realisation target</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402336">
                <a:tc>
                  <a:txBody>
                    <a:bodyPr/>
                    <a:lstStyle/>
                    <a:p>
                      <a:pPr algn="l" indent="0" marL="0">
                        <a:buNone/>
                      </a:pPr>
                      <a:r>
                        <a:rPr lang="en-US" sz="950" dirty="0">
                          <a:solidFill>
                            <a:srgbClr val="1A2E33"/>
                          </a:solidFill>
                          <a:latin typeface="Arial" pitchFamily="34" charset="0"/>
                          <a:ea typeface="Arial" pitchFamily="34" charset="-122"/>
                          <a:cs typeface="Arial" pitchFamily="34" charset="-120"/>
                        </a:rPr>
                        <a:t>Construction delay and cost overrun</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Medium</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Medium</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4% contingency; fixed-price contract with liquidated damages; interiors advanced in imaging zones</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r h="402336">
                <a:tc>
                  <a:txBody>
                    <a:bodyPr/>
                    <a:lstStyle/>
                    <a:p>
                      <a:pPr algn="l" indent="0" marL="0">
                        <a:buNone/>
                      </a:pPr>
                      <a:r>
                        <a:rPr lang="en-US" sz="950" dirty="0">
                          <a:solidFill>
                            <a:srgbClr val="1A2E33"/>
                          </a:solidFill>
                          <a:latin typeface="Arial" pitchFamily="34" charset="0"/>
                          <a:ea typeface="Arial" pitchFamily="34" charset="-122"/>
                          <a:cs typeface="Arial" pitchFamily="34" charset="-120"/>
                        </a:rPr>
                        <a:t>Licensing delay — AERB, fire, Clinical Establishments</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Medium</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C0392B"/>
                          </a:solidFill>
                          <a:latin typeface="Arial" pitchFamily="34" charset="0"/>
                          <a:ea typeface="Arial" pitchFamily="34" charset="-122"/>
                          <a:cs typeface="Arial" pitchFamily="34" charset="-120"/>
                        </a:rPr>
                        <a:t>High</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Applications prepared during construction; dedicated liaison; sequencing built into the schedule</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r h="402336">
                <a:tc>
                  <a:txBody>
                    <a:bodyPr/>
                    <a:lstStyle/>
                    <a:p>
                      <a:pPr algn="l" indent="0" marL="0">
                        <a:buNone/>
                      </a:pPr>
                      <a:r>
                        <a:rPr lang="en-US" sz="950" dirty="0">
                          <a:solidFill>
                            <a:srgbClr val="1A2E33"/>
                          </a:solidFill>
                          <a:latin typeface="Arial" pitchFamily="34" charset="0"/>
                          <a:ea typeface="Arial" pitchFamily="34" charset="-122"/>
                          <a:cs typeface="Arial" pitchFamily="34" charset="-120"/>
                        </a:rPr>
                        <a:t>Competing tertiary facility entering the catchment</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Low–Med</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dirty="0">
                          <a:solidFill>
                            <a:srgbClr val="C0392B"/>
                          </a:solidFill>
                          <a:latin typeface="Arial" pitchFamily="34" charset="0"/>
                          <a:ea typeface="Arial" pitchFamily="34" charset="-122"/>
                          <a:cs typeface="Arial" pitchFamily="34" charset="-120"/>
                        </a:rPr>
                        <a:t>High</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First-mover advantage in interventional cardiology; referral relationships built early</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1F5F5"/>
                    </a:solidFill>
                  </a:tcPr>
                </a:tc>
              </a:tr>
              <a:tr h="402336">
                <a:tc>
                  <a:txBody>
                    <a:bodyPr/>
                    <a:lstStyle/>
                    <a:p>
                      <a:pPr algn="l" indent="0" marL="0">
                        <a:buNone/>
                      </a:pPr>
                      <a:r>
                        <a:rPr lang="en-US" sz="950" dirty="0">
                          <a:solidFill>
                            <a:srgbClr val="1A2E33"/>
                          </a:solidFill>
                          <a:latin typeface="Arial" pitchFamily="34" charset="0"/>
                          <a:ea typeface="Arial" pitchFamily="34" charset="-122"/>
                          <a:cs typeface="Arial" pitchFamily="34" charset="-120"/>
                        </a:rPr>
                        <a:t>Interest rate increase on a floating facility</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Medium</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86B4E"/>
                          </a:solidFill>
                          <a:latin typeface="Arial" pitchFamily="34" charset="0"/>
                          <a:ea typeface="Arial" pitchFamily="34" charset="-122"/>
                          <a:cs typeface="Arial" pitchFamily="34" charset="-120"/>
                        </a:rPr>
                        <a:t>Low</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33"/>
                          </a:solidFill>
                          <a:latin typeface="Arial" pitchFamily="34" charset="0"/>
                          <a:ea typeface="Arial" pitchFamily="34" charset="-122"/>
                          <a:cs typeface="Arial" pitchFamily="34" charset="-120"/>
                        </a:rPr>
                        <a:t>Tested to 12.5%; ranks eleventh of twelve drivers by impact on returns</a:t>
                      </a:r>
                      <a:endParaRPr lang="en-US" sz="950" dirty="0">
                        <a:latin typeface="Arial" charset="0"/>
                        <a:ea typeface="Arial" charset="0"/>
                        <a:cs typeface="Arial" charset="0"/>
                      </a:endParaRPr>
                    </a:p>
                  </a:txBody>
                  <a:tcPr marL="91440" marR="91440" marT="45720" marB="45720" anchor="ctr">
                    <a:lnL w="6350" cap="flat" cmpd="sng" algn="ctr">
                      <a:solidFill>
                        <a:srgbClr val="DCE5E6"/>
                      </a:solidFill>
                      <a:prstDash val="solid"/>
                      <a:round/>
                      <a:headEnd type="none" w="med" len="med"/>
                      <a:tailEnd type="none" w="med" len="med"/>
                    </a:lnL>
                    <a:lnR w="6350" cap="flat" cmpd="sng" algn="ctr">
                      <a:solidFill>
                        <a:srgbClr val="DCE5E6"/>
                      </a:solidFill>
                      <a:prstDash val="solid"/>
                      <a:round/>
                      <a:headEnd type="none" w="med" len="med"/>
                      <a:tailEnd type="none" w="med" len="med"/>
                    </a:lnR>
                    <a:lnT w="6350" cap="flat" cmpd="sng" algn="ctr">
                      <a:solidFill>
                        <a:srgbClr val="DCE5E6"/>
                      </a:solidFill>
                      <a:prstDash val="solid"/>
                      <a:round/>
                      <a:headEnd type="none" w="med" len="med"/>
                      <a:tailEnd type="none" w="med" len="med"/>
                    </a:lnT>
                    <a:lnB w="6350" cap="flat" cmpd="sng" algn="ctr">
                      <a:solidFill>
                        <a:srgbClr val="DCE5E6"/>
                      </a:solidFill>
                      <a:prstDash val="solid"/>
                      <a:round/>
                      <a:headEnd type="none" w="med" len="med"/>
                      <a:tailEnd type="none" w="med" len="med"/>
                    </a:lnB>
                    <a:solidFill>
                      <a:srgbClr val="FFFFFF"/>
                    </a:solidFill>
                  </a:tcPr>
                </a:tc>
              </a:tr>
            </a:tbl>
          </a:graphicData>
        </a:graphic>
      </p:graphicFrame>
      <p:sp>
        <p:nvSpPr>
          <p:cNvPr id="5" name="Text 2"/>
          <p:cNvSpPr/>
          <p:nvPr/>
        </p:nvSpPr>
        <p:spPr>
          <a:xfrm>
            <a:off x="566928" y="5349240"/>
            <a:ext cx="11027664" cy="640080"/>
          </a:xfrm>
          <a:prstGeom prst="rect">
            <a:avLst/>
          </a:prstGeom>
          <a:noFill/>
          <a:ln/>
        </p:spPr>
        <p:txBody>
          <a:bodyPr wrap="square" rtlCol="0" anchor="ctr"/>
          <a:lstStyle/>
          <a:p>
            <a:pPr indent="0" marL="0">
              <a:lnSpc>
                <a:spcPct val="110000"/>
              </a:lnSpc>
              <a:buNone/>
            </a:pPr>
            <a:r>
              <a:rPr lang="en-US" sz="1050" i="1" dirty="0">
                <a:solidFill>
                  <a:srgbClr val="6B7F84"/>
                </a:solidFill>
                <a:latin typeface="Arial" pitchFamily="34" charset="0"/>
                <a:ea typeface="Arial" pitchFamily="34" charset="-122"/>
                <a:cs typeface="Arial" pitchFamily="34" charset="-120"/>
              </a:rPr>
              <a:t>The pessimistic and stress scenarios return no meaningful IRR at all — the equity is not returned. That is a property of any highly fixed-cost, highly levered greenfield asset, and it is why the mitigations that matter here are structural: the moratorium, the subordinated support facility, the standby commitment and pre-agreed operating triggers.</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3B43"/>
        </a:solidFill>
      </p:bgPr>
    </p:bg>
    <p:spTree>
      <p:nvGrpSpPr>
        <p:cNvPr id="1" name=""/>
        <p:cNvGrpSpPr/>
        <p:nvPr/>
      </p:nvGrpSpPr>
      <p:grpSpPr>
        <a:xfrm>
          <a:off x="0" y="0"/>
          <a:ext cx="0" cy="0"/>
          <a:chOff x="0" y="0"/>
          <a:chExt cx="0" cy="0"/>
        </a:xfrm>
      </p:grpSpPr>
      <p:sp>
        <p:nvSpPr>
          <p:cNvPr id="2" name="Shape 0"/>
          <p:cNvSpPr/>
          <p:nvPr/>
        </p:nvSpPr>
        <p:spPr>
          <a:xfrm>
            <a:off x="9509760" y="4480560"/>
            <a:ext cx="3840480" cy="3840480"/>
          </a:xfrm>
          <a:prstGeom prst="ellipse">
            <a:avLst/>
          </a:prstGeom>
          <a:solidFill>
            <a:srgbClr val="124A54"/>
          </a:solidFill>
          <a:ln/>
        </p:spPr>
      </p:sp>
      <p:sp>
        <p:nvSpPr>
          <p:cNvPr id="3" name="Text 1"/>
          <p:cNvSpPr/>
          <p:nvPr/>
        </p:nvSpPr>
        <p:spPr>
          <a:xfrm>
            <a:off x="566928" y="566928"/>
            <a:ext cx="11027664" cy="274320"/>
          </a:xfrm>
          <a:prstGeom prst="rect">
            <a:avLst/>
          </a:prstGeom>
          <a:noFill/>
          <a:ln/>
        </p:spPr>
        <p:txBody>
          <a:bodyPr wrap="square" rtlCol="0" anchor="ctr"/>
          <a:lstStyle/>
          <a:p>
            <a:pPr indent="0" marL="0">
              <a:buNone/>
            </a:pPr>
            <a:r>
              <a:rPr lang="en-US" sz="1100" b="1" spc="200" kern="0" dirty="0">
                <a:solidFill>
                  <a:srgbClr val="E8A33D"/>
                </a:solidFill>
                <a:latin typeface="Arial" pitchFamily="34" charset="0"/>
                <a:ea typeface="Arial" pitchFamily="34" charset="-122"/>
                <a:cs typeface="Arial" pitchFamily="34" charset="-120"/>
              </a:rPr>
              <a:t>THE ASK</a:t>
            </a:r>
            <a:endParaRPr lang="en-US" sz="1100" dirty="0"/>
          </a:p>
        </p:txBody>
      </p:sp>
      <p:sp>
        <p:nvSpPr>
          <p:cNvPr id="4" name="Text 2"/>
          <p:cNvSpPr/>
          <p:nvPr/>
        </p:nvSpPr>
        <p:spPr>
          <a:xfrm>
            <a:off x="566928" y="896112"/>
            <a:ext cx="9601200" cy="54864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Recommend for sanction, on four conditions</a:t>
            </a:r>
            <a:endParaRPr lang="en-US" sz="3000" dirty="0"/>
          </a:p>
        </p:txBody>
      </p:sp>
      <p:sp>
        <p:nvSpPr>
          <p:cNvPr id="5" name="Shape 3"/>
          <p:cNvSpPr/>
          <p:nvPr/>
        </p:nvSpPr>
        <p:spPr>
          <a:xfrm>
            <a:off x="566928" y="1691640"/>
            <a:ext cx="420624" cy="420624"/>
          </a:xfrm>
          <a:prstGeom prst="ellipse">
            <a:avLst/>
          </a:prstGeom>
          <a:solidFill>
            <a:srgbClr val="E8A33D"/>
          </a:solidFill>
          <a:ln/>
        </p:spPr>
      </p:sp>
      <p:sp>
        <p:nvSpPr>
          <p:cNvPr id="6" name="Text 4"/>
          <p:cNvSpPr/>
          <p:nvPr/>
        </p:nvSpPr>
        <p:spPr>
          <a:xfrm>
            <a:off x="566928" y="1691640"/>
            <a:ext cx="420624" cy="420624"/>
          </a:xfrm>
          <a:prstGeom prst="rect">
            <a:avLst/>
          </a:prstGeom>
          <a:noFill/>
          <a:ln/>
        </p:spPr>
        <p:txBody>
          <a:bodyPr wrap="square" lIns="0" tIns="0" rIns="0" bIns="0" rtlCol="0" anchor="ctr"/>
          <a:lstStyle/>
          <a:p>
            <a:pPr algn="ctr" indent="0" marL="0">
              <a:buNone/>
            </a:pPr>
            <a:r>
              <a:rPr lang="en-US" sz="1400" b="1" dirty="0">
                <a:solidFill>
                  <a:srgbClr val="0E3B43"/>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170432" y="1664208"/>
            <a:ext cx="877824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Sanction Rs 77.54 Cr as a rupee term loan</a:t>
            </a:r>
            <a:endParaRPr lang="en-US" sz="1400" dirty="0"/>
          </a:p>
        </p:txBody>
      </p:sp>
      <p:sp>
        <p:nvSpPr>
          <p:cNvPr id="8" name="Text 6"/>
          <p:cNvSpPr/>
          <p:nvPr/>
        </p:nvSpPr>
        <p:spPr>
          <a:xfrm>
            <a:off x="1170432" y="1956816"/>
            <a:ext cx="8778240" cy="566928"/>
          </a:xfrm>
          <a:prstGeom prst="rect">
            <a:avLst/>
          </a:prstGeom>
          <a:noFill/>
          <a:ln/>
        </p:spPr>
        <p:txBody>
          <a:bodyPr wrap="square" lIns="0" tIns="0" rIns="0" bIns="0" rtlCol="0" anchor="ctr"/>
          <a:lstStyle/>
          <a:p>
            <a:pPr indent="0" marL="0">
              <a:lnSpc>
                <a:spcPct val="110000"/>
              </a:lnSpc>
              <a:buNone/>
            </a:pPr>
            <a:r>
              <a:rPr lang="en-US" sz="1100" dirty="0">
                <a:solidFill>
                  <a:srgbClr val="CFE3E5"/>
                </a:solidFill>
                <a:latin typeface="Arial" pitchFamily="34" charset="0"/>
                <a:ea typeface="Arial" pitchFamily="34" charset="-122"/>
                <a:cs typeface="Arial" pitchFamily="34" charset="-120"/>
              </a:rPr>
              <a:t>At 10.75%, with a 36-month principal moratorium from commissioning and 28 quarterly instalments thereafter. This single term is what makes the credit bankable.</a:t>
            </a:r>
            <a:endParaRPr lang="en-US" sz="1100" dirty="0"/>
          </a:p>
        </p:txBody>
      </p:sp>
      <p:sp>
        <p:nvSpPr>
          <p:cNvPr id="9" name="Shape 7"/>
          <p:cNvSpPr/>
          <p:nvPr/>
        </p:nvSpPr>
        <p:spPr>
          <a:xfrm>
            <a:off x="566928" y="2679192"/>
            <a:ext cx="420624" cy="420624"/>
          </a:xfrm>
          <a:prstGeom prst="ellipse">
            <a:avLst/>
          </a:prstGeom>
          <a:solidFill>
            <a:srgbClr val="E8A33D"/>
          </a:solidFill>
          <a:ln/>
        </p:spPr>
      </p:sp>
      <p:sp>
        <p:nvSpPr>
          <p:cNvPr id="10" name="Text 8"/>
          <p:cNvSpPr/>
          <p:nvPr/>
        </p:nvSpPr>
        <p:spPr>
          <a:xfrm>
            <a:off x="566928" y="2679192"/>
            <a:ext cx="420624" cy="420624"/>
          </a:xfrm>
          <a:prstGeom prst="rect">
            <a:avLst/>
          </a:prstGeom>
          <a:noFill/>
          <a:ln/>
        </p:spPr>
        <p:txBody>
          <a:bodyPr wrap="square" lIns="0" tIns="0" rIns="0" bIns="0" rtlCol="0" anchor="ctr"/>
          <a:lstStyle/>
          <a:p>
            <a:pPr algn="ctr" indent="0" marL="0">
              <a:buNone/>
            </a:pPr>
            <a:r>
              <a:rPr lang="en-US" sz="1400" b="1" dirty="0">
                <a:solidFill>
                  <a:srgbClr val="0E3B43"/>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170432" y="2651760"/>
            <a:ext cx="877824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Require a Rs 25 Cr committed standby facility</a:t>
            </a:r>
            <a:endParaRPr lang="en-US" sz="1400" dirty="0"/>
          </a:p>
        </p:txBody>
      </p:sp>
      <p:sp>
        <p:nvSpPr>
          <p:cNvPr id="12" name="Text 10"/>
          <p:cNvSpPr/>
          <p:nvPr/>
        </p:nvSpPr>
        <p:spPr>
          <a:xfrm>
            <a:off x="1170432" y="2944368"/>
            <a:ext cx="8778240" cy="566928"/>
          </a:xfrm>
          <a:prstGeom prst="rect">
            <a:avLst/>
          </a:prstGeom>
          <a:noFill/>
          <a:ln/>
        </p:spPr>
        <p:txBody>
          <a:bodyPr wrap="square" lIns="0" tIns="0" rIns="0" bIns="0" rtlCol="0" anchor="ctr"/>
          <a:lstStyle/>
          <a:p>
            <a:pPr indent="0" marL="0">
              <a:lnSpc>
                <a:spcPct val="110000"/>
              </a:lnSpc>
              <a:buNone/>
            </a:pPr>
            <a:r>
              <a:rPr lang="en-US" sz="1100" dirty="0">
                <a:solidFill>
                  <a:srgbClr val="CFE3E5"/>
                </a:solidFill>
                <a:latin typeface="Arial" pitchFamily="34" charset="0"/>
                <a:ea typeface="Arial" pitchFamily="34" charset="-122"/>
                <a:cs typeface="Arial" pitchFamily="34" charset="-120"/>
              </a:rPr>
              <a:t>Not the Rs 17.80 Cr the base case indicates. Subordinated, non-withdrawable, evidenced by liquid net worth, and a condition precedent.</a:t>
            </a:r>
            <a:endParaRPr lang="en-US" sz="1100" dirty="0"/>
          </a:p>
        </p:txBody>
      </p:sp>
      <p:sp>
        <p:nvSpPr>
          <p:cNvPr id="13" name="Shape 11"/>
          <p:cNvSpPr/>
          <p:nvPr/>
        </p:nvSpPr>
        <p:spPr>
          <a:xfrm>
            <a:off x="566928" y="3666744"/>
            <a:ext cx="420624" cy="420624"/>
          </a:xfrm>
          <a:prstGeom prst="ellipse">
            <a:avLst/>
          </a:prstGeom>
          <a:solidFill>
            <a:srgbClr val="E8A33D"/>
          </a:solidFill>
          <a:ln/>
        </p:spPr>
      </p:sp>
      <p:sp>
        <p:nvSpPr>
          <p:cNvPr id="14" name="Text 12"/>
          <p:cNvSpPr/>
          <p:nvPr/>
        </p:nvSpPr>
        <p:spPr>
          <a:xfrm>
            <a:off x="566928" y="3666744"/>
            <a:ext cx="420624" cy="420624"/>
          </a:xfrm>
          <a:prstGeom prst="rect">
            <a:avLst/>
          </a:prstGeom>
          <a:noFill/>
          <a:ln/>
        </p:spPr>
        <p:txBody>
          <a:bodyPr wrap="square" lIns="0" tIns="0" rIns="0" bIns="0" rtlCol="0" anchor="ctr"/>
          <a:lstStyle/>
          <a:p>
            <a:pPr algn="ctr" indent="0" marL="0">
              <a:buNone/>
            </a:pPr>
            <a:r>
              <a:rPr lang="en-US" sz="1400" b="1" dirty="0">
                <a:solidFill>
                  <a:srgbClr val="0E3B43"/>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170432" y="3639312"/>
            <a:ext cx="877824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Grant a covenant holiday on TOL/TNW until Year 5</a:t>
            </a:r>
            <a:endParaRPr lang="en-US" sz="1400" dirty="0"/>
          </a:p>
        </p:txBody>
      </p:sp>
      <p:sp>
        <p:nvSpPr>
          <p:cNvPr id="16" name="Text 14"/>
          <p:cNvSpPr/>
          <p:nvPr/>
        </p:nvSpPr>
        <p:spPr>
          <a:xfrm>
            <a:off x="1170432" y="3931920"/>
            <a:ext cx="8778240" cy="566928"/>
          </a:xfrm>
          <a:prstGeom prst="rect">
            <a:avLst/>
          </a:prstGeom>
          <a:noFill/>
          <a:ln/>
        </p:spPr>
        <p:txBody>
          <a:bodyPr wrap="square" lIns="0" tIns="0" rIns="0" bIns="0" rtlCol="0" anchor="ctr"/>
          <a:lstStyle/>
          <a:p>
            <a:pPr indent="0" marL="0">
              <a:lnSpc>
                <a:spcPct val="110000"/>
              </a:lnSpc>
              <a:buNone/>
            </a:pPr>
            <a:r>
              <a:rPr lang="en-US" sz="1100" dirty="0">
                <a:solidFill>
                  <a:srgbClr val="CFE3E5"/>
                </a:solidFill>
                <a:latin typeface="Arial" pitchFamily="34" charset="0"/>
                <a:ea typeface="Arial" pitchFamily="34" charset="-122"/>
                <a:cs typeface="Arial" pitchFamily="34" charset="-120"/>
              </a:rPr>
              <a:t>The ratio peaks at 4.45x in Year 3 because start-up losses erode net worth faster than the loan amortises. Every greenfield hospital does this. DSCR stays at 1.25x with no relief sought.</a:t>
            </a:r>
            <a:endParaRPr lang="en-US" sz="1100" dirty="0"/>
          </a:p>
        </p:txBody>
      </p:sp>
      <p:sp>
        <p:nvSpPr>
          <p:cNvPr id="17" name="Shape 15"/>
          <p:cNvSpPr/>
          <p:nvPr/>
        </p:nvSpPr>
        <p:spPr>
          <a:xfrm>
            <a:off x="566928" y="4654296"/>
            <a:ext cx="420624" cy="420624"/>
          </a:xfrm>
          <a:prstGeom prst="ellipse">
            <a:avLst/>
          </a:prstGeom>
          <a:solidFill>
            <a:srgbClr val="5FB8B3"/>
          </a:solidFill>
          <a:ln/>
        </p:spPr>
      </p:sp>
      <p:sp>
        <p:nvSpPr>
          <p:cNvPr id="18" name="Text 16"/>
          <p:cNvSpPr/>
          <p:nvPr/>
        </p:nvSpPr>
        <p:spPr>
          <a:xfrm>
            <a:off x="566928" y="4654296"/>
            <a:ext cx="420624" cy="420624"/>
          </a:xfrm>
          <a:prstGeom prst="rect">
            <a:avLst/>
          </a:prstGeom>
          <a:noFill/>
          <a:ln/>
        </p:spPr>
        <p:txBody>
          <a:bodyPr wrap="square" lIns="0" tIns="0" rIns="0" bIns="0" rtlCol="0" anchor="ctr"/>
          <a:lstStyle/>
          <a:p>
            <a:pPr algn="ctr" indent="0" marL="0">
              <a:buNone/>
            </a:pPr>
            <a:r>
              <a:rPr lang="en-US" sz="1400" b="1" dirty="0">
                <a:solidFill>
                  <a:srgbClr val="0E3B43"/>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1170432" y="4626864"/>
            <a:ext cx="877824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Consider 65:35 rather than 70:30</a:t>
            </a:r>
            <a:endParaRPr lang="en-US" sz="1400" dirty="0"/>
          </a:p>
        </p:txBody>
      </p:sp>
      <p:sp>
        <p:nvSpPr>
          <p:cNvPr id="20" name="Text 18"/>
          <p:cNvSpPr/>
          <p:nvPr/>
        </p:nvSpPr>
        <p:spPr>
          <a:xfrm>
            <a:off x="1170432" y="4919472"/>
            <a:ext cx="8778240" cy="566928"/>
          </a:xfrm>
          <a:prstGeom prst="rect">
            <a:avLst/>
          </a:prstGeom>
          <a:noFill/>
          <a:ln/>
        </p:spPr>
        <p:txBody>
          <a:bodyPr wrap="square" lIns="0" tIns="0" rIns="0" bIns="0" rtlCol="0" anchor="ctr"/>
          <a:lstStyle/>
          <a:p>
            <a:pPr indent="0" marL="0">
              <a:lnSpc>
                <a:spcPct val="110000"/>
              </a:lnSpc>
              <a:buNone/>
            </a:pPr>
            <a:r>
              <a:rPr lang="en-US" sz="1100" dirty="0">
                <a:solidFill>
                  <a:srgbClr val="CFE3E5"/>
                </a:solidFill>
                <a:latin typeface="Arial" pitchFamily="34" charset="0"/>
                <a:ea typeface="Arial" pitchFamily="34" charset="-122"/>
                <a:cs typeface="Arial" pitchFamily="34" charset="-120"/>
              </a:rPr>
              <a:t>It costs the promoter roughly 0.1pp of equity IRR and cuts the probability of technical default from 28% to 21%.</a:t>
            </a:r>
            <a:endParaRPr lang="en-US" sz="1100" dirty="0"/>
          </a:p>
        </p:txBody>
      </p:sp>
      <p:sp>
        <p:nvSpPr>
          <p:cNvPr id="21" name="Text 19"/>
          <p:cNvSpPr/>
          <p:nvPr/>
        </p:nvSpPr>
        <p:spPr>
          <a:xfrm>
            <a:off x="566928" y="5760720"/>
            <a:ext cx="10241280" cy="566928"/>
          </a:xfrm>
          <a:prstGeom prst="rect">
            <a:avLst/>
          </a:prstGeom>
          <a:noFill/>
          <a:ln/>
        </p:spPr>
        <p:txBody>
          <a:bodyPr wrap="square" rtlCol="0" anchor="ctr"/>
          <a:lstStyle/>
          <a:p>
            <a:pPr indent="0" marL="0">
              <a:lnSpc>
                <a:spcPct val="110000"/>
              </a:lnSpc>
              <a:buNone/>
            </a:pPr>
            <a:r>
              <a:rPr lang="en-US" sz="1100" i="1" dirty="0">
                <a:solidFill>
                  <a:srgbClr val="5FB8B3"/>
                </a:solidFill>
                <a:latin typeface="Arial" pitchFamily="34" charset="0"/>
                <a:ea typeface="Arial" pitchFamily="34" charset="-122"/>
                <a:cs typeface="Arial" pitchFamily="34" charset="-120"/>
              </a:rPr>
              <a:t>Plus, before capital is committed: independent primary market research; written commitments from anchor consultants in interventional cardiology, orthopaedics, obstetrics and critical care; and appointment of the CEO and Medical Director by month 12.</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37744"/>
          </a:xfrm>
          <a:prstGeom prst="rect">
            <a:avLst/>
          </a:prstGeom>
          <a:noFill/>
          <a:ln/>
        </p:spPr>
        <p:txBody>
          <a:bodyPr wrap="square" rtlCol="0" anchor="ctr"/>
          <a:lstStyle/>
          <a:p>
            <a:pPr indent="0" marL="0">
              <a:buNone/>
            </a:pPr>
            <a:r>
              <a:rPr lang="en-US" sz="1050" b="1" spc="140" kern="0" dirty="0">
                <a:solidFill>
                  <a:srgbClr val="128C8A"/>
                </a:solidFill>
                <a:latin typeface="Arial" pitchFamily="34" charset="0"/>
                <a:ea typeface="Arial" pitchFamily="34" charset="-122"/>
                <a:cs typeface="Arial" pitchFamily="34" charset="-120"/>
              </a:rPr>
              <a:t>IMPORTANT</a:t>
            </a:r>
            <a:endParaRPr lang="en-US" sz="1050" dirty="0"/>
          </a:p>
        </p:txBody>
      </p:sp>
      <p:sp>
        <p:nvSpPr>
          <p:cNvPr id="3" name="Text 1"/>
          <p:cNvSpPr/>
          <p:nvPr/>
        </p:nvSpPr>
        <p:spPr>
          <a:xfrm>
            <a:off x="566928" y="530352"/>
            <a:ext cx="11027664" cy="566928"/>
          </a:xfrm>
          <a:prstGeom prst="rect">
            <a:avLst/>
          </a:prstGeom>
          <a:noFill/>
          <a:ln/>
        </p:spPr>
        <p:txBody>
          <a:bodyPr wrap="square" rtlCol="0" anchor="ctr"/>
          <a:lstStyle/>
          <a:p>
            <a:pPr indent="0" marL="0">
              <a:buNone/>
            </a:pPr>
            <a:r>
              <a:rPr lang="en-US" sz="2700" b="1" dirty="0">
                <a:solidFill>
                  <a:srgbClr val="0E3B43"/>
                </a:solidFill>
                <a:latin typeface="Cambria" pitchFamily="34" charset="0"/>
                <a:ea typeface="Cambria" pitchFamily="34" charset="-122"/>
                <a:cs typeface="Cambria" pitchFamily="34" charset="-120"/>
              </a:rPr>
              <a:t>Basis of preparation and limitations</a:t>
            </a:r>
            <a:endParaRPr lang="en-US" sz="2700" dirty="0"/>
          </a:p>
        </p:txBody>
      </p:sp>
      <p:sp>
        <p:nvSpPr>
          <p:cNvPr id="4" name="Text 2"/>
          <p:cNvSpPr/>
          <p:nvPr/>
        </p:nvSpPr>
        <p:spPr>
          <a:xfrm>
            <a:off x="566928" y="1371600"/>
            <a:ext cx="11027664" cy="3840480"/>
          </a:xfrm>
          <a:prstGeom prst="rect">
            <a:avLst/>
          </a:prstGeom>
          <a:noFill/>
          <a:ln/>
        </p:spPr>
        <p:txBody>
          <a:bodyPr wrap="square" rtlCol="0" anchor="ctr"/>
          <a:lstStyle/>
          <a:p>
            <a:pPr marL="342900" indent="-342900">
              <a:lnSpc>
                <a:spcPct val="116000"/>
              </a:lnSpc>
              <a:spcAft>
                <a:spcPts val="1200"/>
              </a:spcAft>
              <a:buSzPct val="100000"/>
              <a:buChar char="•"/>
            </a:pPr>
            <a:r>
              <a:rPr lang="en-US" sz="1200" dirty="0">
                <a:solidFill>
                  <a:srgbClr val="1A2E33"/>
                </a:solidFill>
                <a:latin typeface="Arial" pitchFamily="34" charset="0"/>
                <a:ea typeface="Arial" pitchFamily="34" charset="-122"/>
                <a:cs typeface="Arial" pitchFamily="34" charset="-120"/>
              </a:rPr>
              <a:t>Fungi Labs is a fictitious entity. This deck and the accompanying model are an illustrative case study prepared for teaching purposes. Nothing here is an offer, a financing proposal, or investment, credit, legal or tax advice, and no decision should be based on it.</a:t>
            </a:r>
            <a:endParaRPr lang="en-US" sz="1200" dirty="0"/>
          </a:p>
          <a:p>
            <a:pPr marL="342900" indent="-342900">
              <a:lnSpc>
                <a:spcPct val="116000"/>
              </a:lnSpc>
              <a:spcAft>
                <a:spcPts val="1200"/>
              </a:spcAft>
              <a:buSzPct val="100000"/>
              <a:buChar char="•"/>
            </a:pPr>
            <a:r>
              <a:rPr lang="en-US" sz="1200" dirty="0">
                <a:solidFill>
                  <a:srgbClr val="1A2E33"/>
                </a:solidFill>
                <a:latin typeface="Arial" pitchFamily="34" charset="0"/>
                <a:ea typeface="Arial" pitchFamily="34" charset="-122"/>
                <a:cs typeface="Arial" pitchFamily="34" charset="-120"/>
              </a:rPr>
              <a:t>Sector benchmarks for occupancy, ARPOB growth and operating margin are drawn from published ICRA research on the Indian hospital industry. Catchment demography, competitor positions, cost rates, manpower norms and clinical assumptions are reasoned estimates constructed for the case study — not primary research, not verified against site data, and not reviewed by a clinician.</a:t>
            </a:r>
            <a:endParaRPr lang="en-US" sz="1200" dirty="0"/>
          </a:p>
          <a:p>
            <a:pPr marL="342900" indent="-342900">
              <a:lnSpc>
                <a:spcPct val="116000"/>
              </a:lnSpc>
              <a:spcAft>
                <a:spcPts val="1200"/>
              </a:spcAft>
              <a:buSzPct val="100000"/>
              <a:buChar char="•"/>
            </a:pPr>
            <a:r>
              <a:rPr lang="en-US" sz="1200" dirty="0">
                <a:solidFill>
                  <a:srgbClr val="1A2E33"/>
                </a:solidFill>
                <a:latin typeface="Arial" pitchFamily="34" charset="0"/>
                <a:ea typeface="Arial" pitchFamily="34" charset="-122"/>
                <a:cs typeface="Arial" pitchFamily="34" charset="-120"/>
              </a:rPr>
              <a:t>Every figure in this deck is generated directly from the accompanying financial model, so the two cannot disagree. That guarantees internal consistency; it does not make the underlying assumptions true.</a:t>
            </a:r>
            <a:endParaRPr lang="en-US" sz="1200" dirty="0"/>
          </a:p>
          <a:p>
            <a:pPr marL="342900" indent="-342900">
              <a:lnSpc>
                <a:spcPct val="116000"/>
              </a:lnSpc>
              <a:spcAft>
                <a:spcPts val="1200"/>
              </a:spcAft>
              <a:buSzPct val="100000"/>
              <a:buChar char="•"/>
            </a:pPr>
            <a:r>
              <a:rPr lang="en-US" sz="1200" dirty="0">
                <a:solidFill>
                  <a:srgbClr val="1A2E33"/>
                </a:solidFill>
                <a:latin typeface="Arial" pitchFamily="34" charset="0"/>
                <a:ea typeface="Arial" pitchFamily="34" charset="-122"/>
                <a:cs typeface="Arial" pitchFamily="34" charset="-120"/>
              </a:rPr>
              <a:t>The Monte Carlo distributions are judgemental rather than fitted to observed data on comparable greenfield hospitals, because no such public dataset exists at this granularity. Only one correlation is modelled, and bounded distributions exclude genuine catastrophe entirely. Treat the probabilities as ordinal, not precise.</a:t>
            </a:r>
            <a:endParaRPr lang="en-US" sz="1200" dirty="0"/>
          </a:p>
          <a:p>
            <a:pPr marL="342900" indent="-342900">
              <a:lnSpc>
                <a:spcPct val="116000"/>
              </a:lnSpc>
              <a:buSzPct val="100000"/>
              <a:buChar char="•"/>
            </a:pPr>
            <a:r>
              <a:rPr lang="en-US" sz="1200" dirty="0">
                <a:solidFill>
                  <a:srgbClr val="1A2E33"/>
                </a:solidFill>
                <a:latin typeface="Arial" pitchFamily="34" charset="0"/>
                <a:ea typeface="Arial" pitchFamily="34" charset="-122"/>
                <a:cs typeface="Arial" pitchFamily="34" charset="-120"/>
              </a:rPr>
              <a:t>The model excludes Phase 2 expansion, competitor response, a formal deferred tax schedule, and any variation in management execution quality — the last of which is, on sector evidence, among the most common causes of greenfield hospital underperformance.</a:t>
            </a:r>
            <a:endParaRPr lang="en-US" sz="1200" dirty="0"/>
          </a:p>
        </p:txBody>
      </p:sp>
      <p:sp>
        <p:nvSpPr>
          <p:cNvPr id="5" name="Shape 3"/>
          <p:cNvSpPr/>
          <p:nvPr/>
        </p:nvSpPr>
        <p:spPr>
          <a:xfrm>
            <a:off x="566928" y="5349240"/>
            <a:ext cx="11027664" cy="777240"/>
          </a:xfrm>
          <a:prstGeom prst="roundRect">
            <a:avLst>
              <a:gd name="adj" fmla="val 7059"/>
            </a:avLst>
          </a:prstGeom>
          <a:solidFill>
            <a:srgbClr val="F4F7F7"/>
          </a:solidFill>
          <a:ln w="12700">
            <a:solidFill>
              <a:srgbClr val="DDE6E7"/>
            </a:solidFill>
            <a:prstDash val="solid"/>
          </a:ln>
        </p:spPr>
      </p:sp>
      <p:sp>
        <p:nvSpPr>
          <p:cNvPr id="6" name="Text 4"/>
          <p:cNvSpPr/>
          <p:nvPr/>
        </p:nvSpPr>
        <p:spPr>
          <a:xfrm>
            <a:off x="841248" y="5532120"/>
            <a:ext cx="10479024" cy="457200"/>
          </a:xfrm>
          <a:prstGeom prst="rect">
            <a:avLst/>
          </a:prstGeom>
          <a:noFill/>
          <a:ln/>
        </p:spPr>
        <p:txBody>
          <a:bodyPr wrap="square" rtlCol="0" anchor="ctr"/>
          <a:lstStyle/>
          <a:p>
            <a:pPr algn="ctr" indent="0" marL="0">
              <a:buNone/>
            </a:pPr>
            <a:r>
              <a:rPr lang="en-US" sz="1100" b="1" dirty="0">
                <a:solidFill>
                  <a:srgbClr val="0E3B43"/>
                </a:solidFill>
                <a:latin typeface="Arial" pitchFamily="34" charset="0"/>
                <a:ea typeface="Arial" pitchFamily="34" charset="-122"/>
                <a:cs typeface="Arial" pitchFamily="34" charset="-120"/>
              </a:rPr>
              <a:t>Accompanying documents: Feasibility Study · Detailed Project Report · Viability &amp; Bankability Report · Learning Companion · Master financial model workbook (27 sheets, live formulas)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Fungi Labs Multi-Speciality Hospital — Investment Case</dc:title>
  <dc:subject>PptxGenJS Presentation</dc:subject>
  <dc:creator>Fungi Labs Hospital Project</dc:creator>
  <cp:lastModifiedBy>Fungi Labs Hospital Project</cp:lastModifiedBy>
  <cp:revision>1</cp:revision>
  <dcterms:created xsi:type="dcterms:W3CDTF">2026-08-08T17:52:58Z</dcterms:created>
  <dcterms:modified xsi:type="dcterms:W3CDTF">2026-08-08T17:52:58Z</dcterms:modified>
</cp:coreProperties>
</file>